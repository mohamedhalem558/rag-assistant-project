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37"/>
  </p:notesMasterIdLst>
  <p:sldIdLst>
    <p:sldId id="256" r:id="rId2"/>
    <p:sldId id="258" r:id="rId3"/>
    <p:sldId id="262" r:id="rId4"/>
    <p:sldId id="260" r:id="rId5"/>
    <p:sldId id="261" r:id="rId6"/>
    <p:sldId id="263" r:id="rId7"/>
    <p:sldId id="264" r:id="rId8"/>
    <p:sldId id="265" r:id="rId9"/>
    <p:sldId id="286" r:id="rId10"/>
    <p:sldId id="366" r:id="rId11"/>
    <p:sldId id="360" r:id="rId12"/>
    <p:sldId id="361" r:id="rId13"/>
    <p:sldId id="266" r:id="rId14"/>
    <p:sldId id="368" r:id="rId15"/>
    <p:sldId id="369" r:id="rId16"/>
    <p:sldId id="269" r:id="rId17"/>
    <p:sldId id="270" r:id="rId18"/>
    <p:sldId id="271" r:id="rId19"/>
    <p:sldId id="267" r:id="rId20"/>
    <p:sldId id="268" r:id="rId21"/>
    <p:sldId id="272" r:id="rId22"/>
    <p:sldId id="274" r:id="rId23"/>
    <p:sldId id="273" r:id="rId24"/>
    <p:sldId id="275" r:id="rId25"/>
    <p:sldId id="276" r:id="rId26"/>
    <p:sldId id="277" r:id="rId27"/>
    <p:sldId id="278" r:id="rId28"/>
    <p:sldId id="365" r:id="rId29"/>
    <p:sldId id="280" r:id="rId30"/>
    <p:sldId id="367" r:id="rId31"/>
    <p:sldId id="281" r:id="rId32"/>
    <p:sldId id="362" r:id="rId33"/>
    <p:sldId id="287" r:id="rId34"/>
    <p:sldId id="283" r:id="rId35"/>
    <p:sldId id="282"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5000" autoAdjust="0"/>
    <p:restoredTop sz="94660"/>
  </p:normalViewPr>
  <p:slideViewPr>
    <p:cSldViewPr snapToGrid="0">
      <p:cViewPr>
        <p:scale>
          <a:sx n="47" d="100"/>
          <a:sy n="47" d="100"/>
        </p:scale>
        <p:origin x="1536" y="534"/>
      </p:cViewPr>
      <p:guideLst/>
    </p:cSldViewPr>
  </p:slideViewPr>
  <p:notesTextViewPr>
    <p:cViewPr>
      <p:scale>
        <a:sx n="3" d="2"/>
        <a:sy n="3" d="2"/>
      </p:scale>
      <p:origin x="0" y="0"/>
    </p:cViewPr>
  </p:notesTextViewPr>
  <p:sorterViewPr>
    <p:cViewPr>
      <p:scale>
        <a:sx n="71" d="100"/>
        <a:sy n="71" d="100"/>
      </p:scale>
      <p:origin x="0" y="-229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37C1A4-F9C3-4DFA-8D08-167D578482B7}" type="datetimeFigureOut">
              <a:rPr lang="en-US" smtClean="0"/>
              <a:t>5/11/2024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161262-5825-4A3E-AAC5-B2A6FD724D61}" type="slidenum">
              <a:rPr lang="en-US" smtClean="0"/>
              <a:t>‹#›</a:t>
            </a:fld>
            <a:endParaRPr lang="en-US"/>
          </a:p>
        </p:txBody>
      </p:sp>
    </p:spTree>
    <p:extLst>
      <p:ext uri="{BB962C8B-B14F-4D97-AF65-F5344CB8AC3E}">
        <p14:creationId xmlns:p14="http://schemas.microsoft.com/office/powerpoint/2010/main" val="2580529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C8C6D3F-37E3-4171-9DDD-F3896977338F}" type="slidenum">
              <a:rPr lang="en-US" altLang="en-US"/>
              <a:pPr/>
              <a:t>16</a:t>
            </a:fld>
            <a:endParaRPr lang="en-US" altLang="en-US"/>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097065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0B5690F-A738-4489-AEDC-1BEFA663AA4B}" type="slidenum">
              <a:rPr lang="en-US" altLang="en-US"/>
              <a:pPr/>
              <a:t>17</a:t>
            </a:fld>
            <a:endParaRPr lang="en-US" altLang="en-US"/>
          </a:p>
        </p:txBody>
      </p:sp>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270697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D301579-1114-4543-90AB-299BB31B0341}" type="slidenum">
              <a:rPr lang="en-US" altLang="en-US"/>
              <a:pPr/>
              <a:t>18</a:t>
            </a:fld>
            <a:endParaRPr lang="en-US" altLang="en-US" dirty="0"/>
          </a:p>
        </p:txBody>
      </p:sp>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0971353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540CEA-8569-4269-856B-E7CEF2E89C8F}" type="datetimeFigureOut">
              <a:rPr lang="en-US" smtClean="0"/>
              <a:t>5/11/2024</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F4C68CE9-720F-454B-B119-3CF5E8AE7467}" type="slidenum">
              <a:rPr lang="en-US" smtClean="0"/>
              <a:t>‹#›</a:t>
            </a:fld>
            <a:endParaRPr lang="en-US"/>
          </a:p>
        </p:txBody>
      </p:sp>
    </p:spTree>
    <p:extLst>
      <p:ext uri="{BB962C8B-B14F-4D97-AF65-F5344CB8AC3E}">
        <p14:creationId xmlns:p14="http://schemas.microsoft.com/office/powerpoint/2010/main" val="3885084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540CEA-8569-4269-856B-E7CEF2E89C8F}" type="datetimeFigureOut">
              <a:rPr lang="en-US" smtClean="0"/>
              <a:t>5/11/2024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C68CE9-720F-454B-B119-3CF5E8AE7467}" type="slidenum">
              <a:rPr lang="en-US" smtClean="0"/>
              <a:t>‹#›</a:t>
            </a:fld>
            <a:endParaRPr lang="en-US"/>
          </a:p>
        </p:txBody>
      </p:sp>
    </p:spTree>
    <p:extLst>
      <p:ext uri="{BB962C8B-B14F-4D97-AF65-F5344CB8AC3E}">
        <p14:creationId xmlns:p14="http://schemas.microsoft.com/office/powerpoint/2010/main" val="1375269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540CEA-8569-4269-856B-E7CEF2E89C8F}" type="datetimeFigureOut">
              <a:rPr lang="en-US" smtClean="0"/>
              <a:t>5/11/2024</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F4C68CE9-720F-454B-B119-3CF5E8AE7467}" type="slidenum">
              <a:rPr lang="en-US" smtClean="0"/>
              <a:t>‹#›</a:t>
            </a:fld>
            <a:endParaRPr lang="en-US"/>
          </a:p>
        </p:txBody>
      </p:sp>
    </p:spTree>
    <p:extLst>
      <p:ext uri="{BB962C8B-B14F-4D97-AF65-F5344CB8AC3E}">
        <p14:creationId xmlns:p14="http://schemas.microsoft.com/office/powerpoint/2010/main" val="4120607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540CEA-8569-4269-856B-E7CEF2E89C8F}" type="datetimeFigureOut">
              <a:rPr lang="en-US" smtClean="0"/>
              <a:t>5/11/2024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C68CE9-720F-454B-B119-3CF5E8AE7467}" type="slidenum">
              <a:rPr lang="en-US" smtClean="0"/>
              <a:t>‹#›</a:t>
            </a:fld>
            <a:endParaRPr lang="en-US"/>
          </a:p>
        </p:txBody>
      </p:sp>
    </p:spTree>
    <p:extLst>
      <p:ext uri="{BB962C8B-B14F-4D97-AF65-F5344CB8AC3E}">
        <p14:creationId xmlns:p14="http://schemas.microsoft.com/office/powerpoint/2010/main" val="4173506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540CEA-8569-4269-856B-E7CEF2E89C8F}" type="datetimeFigureOut">
              <a:rPr lang="en-US" smtClean="0"/>
              <a:t>5/11/2024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C68CE9-720F-454B-B119-3CF5E8AE7467}" type="slidenum">
              <a:rPr lang="en-US" smtClean="0"/>
              <a:t>‹#›</a:t>
            </a:fld>
            <a:endParaRPr lang="en-US"/>
          </a:p>
        </p:txBody>
      </p:sp>
    </p:spTree>
    <p:extLst>
      <p:ext uri="{BB962C8B-B14F-4D97-AF65-F5344CB8AC3E}">
        <p14:creationId xmlns:p14="http://schemas.microsoft.com/office/powerpoint/2010/main" val="2483960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Date Placeholder 2"/>
          <p:cNvSpPr>
            <a:spLocks noGrp="1"/>
          </p:cNvSpPr>
          <p:nvPr>
            <p:ph type="dt" sz="half" idx="10"/>
          </p:nvPr>
        </p:nvSpPr>
        <p:spPr/>
        <p:txBody>
          <a:bodyPr/>
          <a:lstStyle/>
          <a:p>
            <a:fld id="{48540CEA-8569-4269-856B-E7CEF2E89C8F}" type="datetimeFigureOut">
              <a:rPr lang="en-US" smtClean="0"/>
              <a:t>5/11/2024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C68CE9-720F-454B-B119-3CF5E8AE7467}" type="slidenum">
              <a:rPr lang="en-US" smtClean="0"/>
              <a:t>‹#›</a:t>
            </a:fld>
            <a:endParaRPr lang="en-US"/>
          </a:p>
        </p:txBody>
      </p:sp>
    </p:spTree>
    <p:extLst>
      <p:ext uri="{BB962C8B-B14F-4D97-AF65-F5344CB8AC3E}">
        <p14:creationId xmlns:p14="http://schemas.microsoft.com/office/powerpoint/2010/main" val="812416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540CEA-8569-4269-856B-E7CEF2E89C8F}" type="datetimeFigureOut">
              <a:rPr lang="en-US" smtClean="0"/>
              <a:t>5/11/2024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C68CE9-720F-454B-B119-3CF5E8AE7467}" type="slidenum">
              <a:rPr lang="en-US" smtClean="0"/>
              <a:t>‹#›</a:t>
            </a:fld>
            <a:endParaRPr lang="en-US"/>
          </a:p>
        </p:txBody>
      </p:sp>
    </p:spTree>
    <p:extLst>
      <p:ext uri="{BB962C8B-B14F-4D97-AF65-F5344CB8AC3E}">
        <p14:creationId xmlns:p14="http://schemas.microsoft.com/office/powerpoint/2010/main" val="1641168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540CEA-8569-4269-856B-E7CEF2E89C8F}" type="datetimeFigureOut">
              <a:rPr lang="en-US" smtClean="0"/>
              <a:t>5/11/2024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C68CE9-720F-454B-B119-3CF5E8AE7467}" type="slidenum">
              <a:rPr lang="en-US" smtClean="0"/>
              <a:t>‹#›</a:t>
            </a:fld>
            <a:endParaRPr lang="en-US"/>
          </a:p>
        </p:txBody>
      </p:sp>
    </p:spTree>
    <p:extLst>
      <p:ext uri="{BB962C8B-B14F-4D97-AF65-F5344CB8AC3E}">
        <p14:creationId xmlns:p14="http://schemas.microsoft.com/office/powerpoint/2010/main" val="2197174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540CEA-8569-4269-856B-E7CEF2E89C8F}" type="datetimeFigureOut">
              <a:rPr lang="en-US" smtClean="0"/>
              <a:t>5/11/2024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C68CE9-720F-454B-B119-3CF5E8AE7467}" type="slidenum">
              <a:rPr lang="en-US" smtClean="0"/>
              <a:t>‹#›</a:t>
            </a:fld>
            <a:endParaRPr lang="en-US"/>
          </a:p>
        </p:txBody>
      </p:sp>
    </p:spTree>
    <p:extLst>
      <p:ext uri="{BB962C8B-B14F-4D97-AF65-F5344CB8AC3E}">
        <p14:creationId xmlns:p14="http://schemas.microsoft.com/office/powerpoint/2010/main" val="4234293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540CEA-8569-4269-856B-E7CEF2E89C8F}" type="datetimeFigureOut">
              <a:rPr lang="en-US" smtClean="0"/>
              <a:t>5/11/2024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C68CE9-720F-454B-B119-3CF5E8AE7467}" type="slidenum">
              <a:rPr lang="en-US" smtClean="0"/>
              <a:t>‹#›</a:t>
            </a:fld>
            <a:endParaRPr lang="en-US"/>
          </a:p>
        </p:txBody>
      </p:sp>
    </p:spTree>
    <p:extLst>
      <p:ext uri="{BB962C8B-B14F-4D97-AF65-F5344CB8AC3E}">
        <p14:creationId xmlns:p14="http://schemas.microsoft.com/office/powerpoint/2010/main" val="2368616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540CEA-8569-4269-856B-E7CEF2E89C8F}" type="datetimeFigureOut">
              <a:rPr lang="en-US" smtClean="0"/>
              <a:t>5/11/2024</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F4C68CE9-720F-454B-B119-3CF5E8AE7467}" type="slidenum">
              <a:rPr lang="en-US" smtClean="0"/>
              <a:t>‹#›</a:t>
            </a:fld>
            <a:endParaRPr lang="en-US"/>
          </a:p>
        </p:txBody>
      </p:sp>
    </p:spTree>
    <p:extLst>
      <p:ext uri="{BB962C8B-B14F-4D97-AF65-F5344CB8AC3E}">
        <p14:creationId xmlns:p14="http://schemas.microsoft.com/office/powerpoint/2010/main" val="434326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540CEA-8569-4269-856B-E7CEF2E89C8F}" type="datetimeFigureOut">
              <a:rPr lang="en-US" smtClean="0"/>
              <a:t>5/11/2024</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F4C68CE9-720F-454B-B119-3CF5E8AE7467}"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679471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540CEA-8569-4269-856B-E7CEF2E89C8F}" type="datetimeFigureOut">
              <a:rPr lang="en-US" smtClean="0"/>
              <a:t>5/11/2024</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F4C68CE9-720F-454B-B119-3CF5E8AE7467}" type="slidenum">
              <a:rPr lang="en-US" smtClean="0"/>
              <a:t>‹#›</a:t>
            </a:fld>
            <a:endParaRPr lang="en-US"/>
          </a:p>
        </p:txBody>
      </p:sp>
    </p:spTree>
    <p:extLst>
      <p:ext uri="{BB962C8B-B14F-4D97-AF65-F5344CB8AC3E}">
        <p14:creationId xmlns:p14="http://schemas.microsoft.com/office/powerpoint/2010/main" val="36037487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540CEA-8569-4269-856B-E7CEF2E89C8F}" type="datetimeFigureOut">
              <a:rPr lang="en-US" smtClean="0"/>
              <a:t>5/11/2024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C68CE9-720F-454B-B119-3CF5E8AE7467}" type="slidenum">
              <a:rPr lang="en-US" smtClean="0"/>
              <a:t>‹#›</a:t>
            </a:fld>
            <a:endParaRPr lang="en-US"/>
          </a:p>
        </p:txBody>
      </p:sp>
    </p:spTree>
    <p:extLst>
      <p:ext uri="{BB962C8B-B14F-4D97-AF65-F5344CB8AC3E}">
        <p14:creationId xmlns:p14="http://schemas.microsoft.com/office/powerpoint/2010/main" val="30990169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540CEA-8569-4269-856B-E7CEF2E89C8F}" type="datetimeFigureOut">
              <a:rPr lang="en-US" smtClean="0"/>
              <a:t>5/11/2024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C68CE9-720F-454B-B119-3CF5E8AE7467}" type="slidenum">
              <a:rPr lang="en-US" smtClean="0"/>
              <a:t>‹#›</a:t>
            </a:fld>
            <a:endParaRPr lang="en-US"/>
          </a:p>
        </p:txBody>
      </p:sp>
    </p:spTree>
    <p:extLst>
      <p:ext uri="{BB962C8B-B14F-4D97-AF65-F5344CB8AC3E}">
        <p14:creationId xmlns:p14="http://schemas.microsoft.com/office/powerpoint/2010/main" val="7998712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540CEA-8569-4269-856B-E7CEF2E89C8F}" type="datetimeFigureOut">
              <a:rPr lang="en-US" smtClean="0"/>
              <a:t>5/11/2024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C68CE9-720F-454B-B119-3CF5E8AE7467}" type="slidenum">
              <a:rPr lang="en-US" smtClean="0"/>
              <a:t>‹#›</a:t>
            </a:fld>
            <a:endParaRPr lang="en-US"/>
          </a:p>
        </p:txBody>
      </p:sp>
    </p:spTree>
    <p:extLst>
      <p:ext uri="{BB962C8B-B14F-4D97-AF65-F5344CB8AC3E}">
        <p14:creationId xmlns:p14="http://schemas.microsoft.com/office/powerpoint/2010/main" val="29175776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540CEA-8569-4269-856B-E7CEF2E89C8F}" type="datetimeFigureOut">
              <a:rPr lang="en-US" smtClean="0"/>
              <a:t>5/11/2024</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F4C68CE9-720F-454B-B119-3CF5E8AE7467}" type="slidenum">
              <a:rPr lang="en-US" smtClean="0"/>
              <a:t>‹#›</a:t>
            </a:fld>
            <a:endParaRPr lang="en-US"/>
          </a:p>
        </p:txBody>
      </p:sp>
    </p:spTree>
    <p:extLst>
      <p:ext uri="{BB962C8B-B14F-4D97-AF65-F5344CB8AC3E}">
        <p14:creationId xmlns:p14="http://schemas.microsoft.com/office/powerpoint/2010/main" val="32808342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540CEA-8569-4269-856B-E7CEF2E89C8F}" type="datetimeFigureOut">
              <a:rPr lang="en-US" smtClean="0"/>
              <a:t>5/11/2024</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4C68CE9-720F-454B-B119-3CF5E8AE7467}" type="slidenum">
              <a:rPr lang="en-US" smtClean="0"/>
              <a:t>‹#›</a:t>
            </a:fld>
            <a:endParaRPr lang="en-US"/>
          </a:p>
        </p:txBody>
      </p:sp>
    </p:spTree>
    <p:extLst>
      <p:ext uri="{BB962C8B-B14F-4D97-AF65-F5344CB8AC3E}">
        <p14:creationId xmlns:p14="http://schemas.microsoft.com/office/powerpoint/2010/main" val="3835218178"/>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Machine%20Learning%20Software%20Tools%20In%202024.docx"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softwaretestinghelp.com/image-processing-using-python/"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Decision%20Tree%20%20Case%20Study%20.doc"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Neural%20network%20tutorial_%20The%20back-propagation%20algorithm%20(Part%202).mp4" TargetMode="External"/><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hyperlink" Target="videoplaybackpropagation%20part%201.mp4"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www.upgrad.com/blog/types-of-neural-networks/" TargetMode="External"/><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hyperlink" Target="Neural%20Networks%20Fundamentals.docx" TargetMode="Externa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Support%20Vector%20Machines%20(SVMs)_%20A%20friendly%20introduction.mp4"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476051"/>
            <a:ext cx="9448800" cy="1825096"/>
          </a:xfrm>
        </p:spPr>
        <p:txBody>
          <a:bodyPr/>
          <a:lstStyle/>
          <a:p>
            <a:pPr algn="ctr"/>
            <a:r>
              <a:rPr lang="en-US" b="1" dirty="0">
                <a:solidFill>
                  <a:srgbClr val="FF0000"/>
                </a:solidFill>
                <a:latin typeface="Times New Roman" panose="02020603050405020304" pitchFamily="18" charset="0"/>
                <a:cs typeface="Times New Roman" panose="02020603050405020304" pitchFamily="18" charset="0"/>
              </a:rPr>
              <a:t>Lecture 5</a:t>
            </a:r>
            <a:r>
              <a:rPr lang="en-US" dirty="0">
                <a:solidFill>
                  <a:srgbClr val="FF0000"/>
                </a:solidFill>
                <a:latin typeface="Times New Roman" panose="02020603050405020304" pitchFamily="18" charset="0"/>
                <a:cs typeface="Times New Roman" panose="02020603050405020304" pitchFamily="18" charset="0"/>
              </a:rPr>
              <a:t> </a:t>
            </a:r>
          </a:p>
        </p:txBody>
      </p:sp>
      <p:sp>
        <p:nvSpPr>
          <p:cNvPr id="3" name="Subtitle 2"/>
          <p:cNvSpPr>
            <a:spLocks noGrp="1"/>
          </p:cNvSpPr>
          <p:nvPr>
            <p:ph type="subTitle" idx="1"/>
          </p:nvPr>
        </p:nvSpPr>
        <p:spPr>
          <a:xfrm>
            <a:off x="1371600" y="3632201"/>
            <a:ext cx="9448800" cy="1131528"/>
          </a:xfrm>
        </p:spPr>
        <p:txBody>
          <a:bodyPr>
            <a:noAutofit/>
          </a:bodyPr>
          <a:lstStyle/>
          <a:p>
            <a:pPr algn="ctr"/>
            <a:r>
              <a:rPr lang="en-US" sz="6600" b="1" dirty="0">
                <a:solidFill>
                  <a:srgbClr val="FFC000"/>
                </a:solidFill>
                <a:latin typeface="Times New Roman" panose="02020603050405020304" pitchFamily="18" charset="0"/>
                <a:cs typeface="Times New Roman" panose="02020603050405020304" pitchFamily="18" charset="0"/>
              </a:rPr>
              <a:t>Learning</a:t>
            </a:r>
          </a:p>
        </p:txBody>
      </p:sp>
    </p:spTree>
    <p:extLst>
      <p:ext uri="{BB962C8B-B14F-4D97-AF65-F5344CB8AC3E}">
        <p14:creationId xmlns:p14="http://schemas.microsoft.com/office/powerpoint/2010/main" val="1661796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8245" y="0"/>
            <a:ext cx="8610600" cy="1293028"/>
          </a:xfrm>
        </p:spPr>
        <p:txBody>
          <a:bodyPr>
            <a:normAutofit/>
          </a:bodyPr>
          <a:lstStyle/>
          <a:p>
            <a:pPr algn="ctr"/>
            <a:r>
              <a:rPr lang="en-US" sz="5400" b="1" dirty="0">
                <a:solidFill>
                  <a:srgbClr val="FFC000"/>
                </a:solidFill>
              </a:rPr>
              <a:t>Contents</a:t>
            </a:r>
          </a:p>
        </p:txBody>
      </p:sp>
      <p:sp>
        <p:nvSpPr>
          <p:cNvPr id="4" name="Rectangle 1"/>
          <p:cNvSpPr>
            <a:spLocks noGrp="1" noChangeArrowheads="1"/>
          </p:cNvSpPr>
          <p:nvPr>
            <p:ph idx="1"/>
          </p:nvPr>
        </p:nvSpPr>
        <p:spPr bwMode="auto">
          <a:xfrm>
            <a:off x="1176184" y="1088370"/>
            <a:ext cx="9394722"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5664200" algn="r"/>
              </a:tabLst>
              <a:defRPr>
                <a:solidFill>
                  <a:schemeClr val="tx1"/>
                </a:solidFill>
                <a:latin typeface="Arial" panose="020B0604020202020204" pitchFamily="34" charset="0"/>
              </a:defRPr>
            </a:lvl1pPr>
            <a:lvl2pPr eaLnBrk="0" fontAlgn="base" hangingPunct="0">
              <a:spcBef>
                <a:spcPct val="0"/>
              </a:spcBef>
              <a:spcAft>
                <a:spcPct val="0"/>
              </a:spcAft>
              <a:tabLst>
                <a:tab pos="5664200" algn="r"/>
              </a:tabLst>
              <a:defRPr>
                <a:solidFill>
                  <a:schemeClr val="tx1"/>
                </a:solidFill>
                <a:latin typeface="Arial" panose="020B0604020202020204" pitchFamily="34" charset="0"/>
              </a:defRPr>
            </a:lvl2pPr>
            <a:lvl3pPr eaLnBrk="0" fontAlgn="base" hangingPunct="0">
              <a:spcBef>
                <a:spcPct val="0"/>
              </a:spcBef>
              <a:spcAft>
                <a:spcPct val="0"/>
              </a:spcAft>
              <a:tabLst>
                <a:tab pos="5664200" algn="r"/>
              </a:tabLst>
              <a:defRPr>
                <a:solidFill>
                  <a:schemeClr val="tx1"/>
                </a:solidFill>
                <a:latin typeface="Arial" panose="020B0604020202020204" pitchFamily="34" charset="0"/>
              </a:defRPr>
            </a:lvl3pPr>
            <a:lvl4pPr eaLnBrk="0" fontAlgn="base" hangingPunct="0">
              <a:spcBef>
                <a:spcPct val="0"/>
              </a:spcBef>
              <a:spcAft>
                <a:spcPct val="0"/>
              </a:spcAft>
              <a:tabLst>
                <a:tab pos="5664200" algn="r"/>
              </a:tabLst>
              <a:defRPr>
                <a:solidFill>
                  <a:schemeClr val="tx1"/>
                </a:solidFill>
                <a:latin typeface="Arial" panose="020B0604020202020204" pitchFamily="34" charset="0"/>
              </a:defRPr>
            </a:lvl4pPr>
            <a:lvl5pPr eaLnBrk="0" fontAlgn="base" hangingPunct="0">
              <a:spcBef>
                <a:spcPct val="0"/>
              </a:spcBef>
              <a:spcAft>
                <a:spcPct val="0"/>
              </a:spcAft>
              <a:tabLst>
                <a:tab pos="5664200" algn="r"/>
              </a:tabLst>
              <a:defRPr>
                <a:solidFill>
                  <a:schemeClr val="tx1"/>
                </a:solidFill>
                <a:latin typeface="Arial" panose="020B0604020202020204" pitchFamily="34" charset="0"/>
              </a:defRPr>
            </a:lvl5pPr>
            <a:lvl6pPr eaLnBrk="0" fontAlgn="base" hangingPunct="0">
              <a:spcBef>
                <a:spcPct val="0"/>
              </a:spcBef>
              <a:spcAft>
                <a:spcPct val="0"/>
              </a:spcAft>
              <a:tabLst>
                <a:tab pos="5664200" algn="r"/>
              </a:tabLst>
              <a:defRPr>
                <a:solidFill>
                  <a:schemeClr val="tx1"/>
                </a:solidFill>
                <a:latin typeface="Arial" panose="020B0604020202020204" pitchFamily="34" charset="0"/>
              </a:defRPr>
            </a:lvl6pPr>
            <a:lvl7pPr eaLnBrk="0" fontAlgn="base" hangingPunct="0">
              <a:spcBef>
                <a:spcPct val="0"/>
              </a:spcBef>
              <a:spcAft>
                <a:spcPct val="0"/>
              </a:spcAft>
              <a:tabLst>
                <a:tab pos="5664200" algn="r"/>
              </a:tabLst>
              <a:defRPr>
                <a:solidFill>
                  <a:schemeClr val="tx1"/>
                </a:solidFill>
                <a:latin typeface="Arial" panose="020B0604020202020204" pitchFamily="34" charset="0"/>
              </a:defRPr>
            </a:lvl7pPr>
            <a:lvl8pPr eaLnBrk="0" fontAlgn="base" hangingPunct="0">
              <a:spcBef>
                <a:spcPct val="0"/>
              </a:spcBef>
              <a:spcAft>
                <a:spcPct val="0"/>
              </a:spcAft>
              <a:tabLst>
                <a:tab pos="5664200" algn="r"/>
              </a:tabLst>
              <a:defRPr>
                <a:solidFill>
                  <a:schemeClr val="tx1"/>
                </a:solidFill>
                <a:latin typeface="Arial" panose="020B0604020202020204" pitchFamily="34" charset="0"/>
              </a:defRPr>
            </a:lvl8pPr>
            <a:lvl9pPr eaLnBrk="0" fontAlgn="base" hangingPunct="0">
              <a:spcBef>
                <a:spcPct val="0"/>
              </a:spcBef>
              <a:spcAft>
                <a:spcPct val="0"/>
              </a:spcAft>
              <a:tabLst>
                <a:tab pos="5664200" algn="r"/>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None/>
              <a:tabLst>
                <a:tab pos="5664200" algn="r"/>
              </a:tabLst>
            </a:pPr>
            <a:r>
              <a:rPr kumimoji="0" lang="en-US" altLang="en-US" b="1" i="0" strike="noStrike" cap="none" normalizeH="0" baseline="0" dirty="0">
                <a:ln>
                  <a:noFill/>
                </a:ln>
                <a:effectLst/>
                <a:latin typeface="Times New Roman" panose="02020603050405020304" pitchFamily="18" charset="0"/>
                <a:ea typeface="Calibri" panose="020F0502020204030204" pitchFamily="34" charset="0"/>
              </a:rPr>
              <a:t>5.1 Introduction</a:t>
            </a:r>
            <a:endParaRPr kumimoji="0" lang="en-US" altLang="en-US" b="0" i="0"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None/>
              <a:tabLst>
                <a:tab pos="5664200" algn="r"/>
              </a:tabLst>
            </a:pPr>
            <a:r>
              <a:rPr lang="en-US" altLang="en-US" b="1" dirty="0">
                <a:latin typeface="Times New Roman" panose="02020603050405020304" pitchFamily="18" charset="0"/>
                <a:ea typeface="Calibri" panose="020F0502020204030204" pitchFamily="34" charset="0"/>
              </a:rPr>
              <a:t>    </a:t>
            </a:r>
            <a:r>
              <a:rPr kumimoji="0" lang="en-US" altLang="en-US" b="1" i="0" strike="noStrike" cap="none" normalizeH="0" baseline="0" dirty="0">
                <a:ln>
                  <a:noFill/>
                </a:ln>
                <a:effectLst/>
                <a:latin typeface="Times New Roman" panose="02020603050405020304" pitchFamily="18" charset="0"/>
                <a:ea typeface="Calibri" panose="020F0502020204030204" pitchFamily="34" charset="0"/>
              </a:rPr>
              <a:t>       5.1.1 Factors affecting learning</a:t>
            </a:r>
            <a:endParaRPr kumimoji="0" lang="en-US" altLang="en-US" b="0" i="0"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None/>
              <a:tabLst>
                <a:tab pos="5664200" algn="r"/>
              </a:tabLst>
            </a:pPr>
            <a:r>
              <a:rPr kumimoji="0" lang="en-US" altLang="en-US" b="1" i="0" strike="noStrike" cap="none" normalizeH="0" baseline="0" dirty="0">
                <a:ln>
                  <a:noFill/>
                </a:ln>
                <a:effectLst/>
                <a:latin typeface="Times New Roman" panose="02020603050405020304" pitchFamily="18" charset="0"/>
                <a:ea typeface="Calibri" panose="020F0502020204030204" pitchFamily="34" charset="0"/>
              </a:rPr>
              <a:t>5.2 </a:t>
            </a:r>
            <a:r>
              <a:rPr kumimoji="0" lang="en-US" altLang="en-US" b="1" i="0" strike="noStrike" cap="none" normalizeH="0" baseline="0" dirty="0">
                <a:ln>
                  <a:noFill/>
                </a:ln>
                <a:solidFill>
                  <a:srgbClr val="FF0000"/>
                </a:solidFill>
                <a:effectLst/>
                <a:latin typeface="Times New Roman" panose="02020603050405020304" pitchFamily="18" charset="0"/>
                <a:ea typeface="Calibri" panose="020F0502020204030204" pitchFamily="34" charset="0"/>
              </a:rPr>
              <a:t>Machine Learning ( ML )</a:t>
            </a:r>
          </a:p>
          <a:p>
            <a:pPr marL="0" marR="0" lvl="0" indent="0" algn="l" defTabSz="914400" rtl="0" eaLnBrk="0" fontAlgn="base" latinLnBrk="0" hangingPunct="0">
              <a:lnSpc>
                <a:spcPct val="100000"/>
              </a:lnSpc>
              <a:spcBef>
                <a:spcPct val="0"/>
              </a:spcBef>
              <a:spcAft>
                <a:spcPct val="0"/>
              </a:spcAft>
              <a:buClrTx/>
              <a:buSzTx/>
              <a:buNone/>
              <a:tabLst>
                <a:tab pos="5664200" algn="r"/>
              </a:tabLst>
            </a:pPr>
            <a:r>
              <a:rPr kumimoji="0" lang="en-US" altLang="en-US" b="1" i="0" strike="noStrike" cap="none" normalizeH="0" baseline="0" dirty="0">
                <a:ln>
                  <a:noFill/>
                </a:ln>
                <a:effectLst/>
                <a:latin typeface="Times New Roman" panose="02020603050405020304" pitchFamily="18" charset="0"/>
                <a:ea typeface="Calibri" panose="020F0502020204030204" pitchFamily="34" charset="0"/>
              </a:rPr>
              <a:t>5.3 </a:t>
            </a:r>
            <a:r>
              <a:rPr kumimoji="0" lang="en-US" altLang="en-US" b="1" i="0" strike="noStrike" cap="none" normalizeH="0" baseline="0" dirty="0">
                <a:ln>
                  <a:noFill/>
                </a:ln>
                <a:solidFill>
                  <a:srgbClr val="FF0000"/>
                </a:solidFill>
                <a:effectLst/>
                <a:latin typeface="Times New Roman" panose="02020603050405020304" pitchFamily="18" charset="0"/>
                <a:ea typeface="Calibri" panose="020F0502020204030204" pitchFamily="34" charset="0"/>
              </a:rPr>
              <a:t>Decision Trees ( DT )</a:t>
            </a:r>
            <a:endParaRPr kumimoji="0" lang="en-US" altLang="en-US" b="0" i="0" strike="noStrike" cap="none" normalizeH="0" baseline="0" dirty="0">
              <a:ln>
                <a:noFill/>
              </a:ln>
              <a:solidFill>
                <a:srgbClr val="FF0000"/>
              </a:solidFill>
              <a:effectLst/>
            </a:endParaRPr>
          </a:p>
          <a:p>
            <a:pPr marL="0" marR="0" lvl="0" indent="0" algn="l" defTabSz="914400" rtl="0" eaLnBrk="0" fontAlgn="base" latinLnBrk="0" hangingPunct="0">
              <a:lnSpc>
                <a:spcPct val="100000"/>
              </a:lnSpc>
              <a:spcBef>
                <a:spcPct val="0"/>
              </a:spcBef>
              <a:spcAft>
                <a:spcPct val="0"/>
              </a:spcAft>
              <a:buClrTx/>
              <a:buSzTx/>
              <a:buNone/>
              <a:tabLst>
                <a:tab pos="5664200" algn="r"/>
              </a:tabLst>
            </a:pPr>
            <a:r>
              <a:rPr kumimoji="0" lang="en-US" altLang="en-US" b="1" i="0" strike="noStrike" cap="none" normalizeH="0" baseline="0" dirty="0">
                <a:ln>
                  <a:noFill/>
                </a:ln>
                <a:effectLst/>
                <a:latin typeface="Times New Roman" panose="02020603050405020304" pitchFamily="18" charset="0"/>
                <a:ea typeface="Calibri" panose="020F0502020204030204" pitchFamily="34" charset="0"/>
              </a:rPr>
              <a:t>         5.3.1 The decision tree representation</a:t>
            </a:r>
            <a:endParaRPr kumimoji="0" lang="en-US" altLang="en-US" b="0" i="0"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None/>
              <a:tabLst>
                <a:tab pos="5664200" algn="r"/>
              </a:tabLst>
            </a:pPr>
            <a:r>
              <a:rPr kumimoji="0" lang="en-US" altLang="en-US" b="1" i="0" strike="noStrike" cap="none" normalizeH="0" baseline="0" dirty="0">
                <a:ln>
                  <a:noFill/>
                </a:ln>
                <a:effectLst/>
                <a:latin typeface="Times New Roman" panose="02020603050405020304" pitchFamily="18" charset="0"/>
                <a:ea typeface="Calibri" panose="020F0502020204030204" pitchFamily="34" charset="0"/>
              </a:rPr>
              <a:t>         5.3.2 Expressiveness of decision trees</a:t>
            </a:r>
            <a:endParaRPr kumimoji="0" lang="en-US" altLang="en-US" b="0" i="0"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None/>
              <a:tabLst>
                <a:tab pos="5664200" algn="r"/>
              </a:tabLst>
            </a:pPr>
            <a:r>
              <a:rPr kumimoji="0" lang="en-US" altLang="en-US" b="1" i="0" strike="noStrike" cap="none" normalizeH="0" baseline="0" dirty="0">
                <a:ln>
                  <a:noFill/>
                </a:ln>
                <a:effectLst/>
                <a:latin typeface="Times New Roman" panose="02020603050405020304" pitchFamily="18" charset="0"/>
                <a:ea typeface="Calibri" panose="020F0502020204030204" pitchFamily="34" charset="0"/>
              </a:rPr>
              <a:t>         5.3.3 Making decision trees from examples</a:t>
            </a:r>
            <a:endParaRPr kumimoji="0" lang="en-US" altLang="en-US" b="0" i="0"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None/>
              <a:tabLst>
                <a:tab pos="5664200" algn="r"/>
              </a:tabLst>
            </a:pPr>
            <a:r>
              <a:rPr kumimoji="0" lang="en-US" altLang="en-US" b="1" i="0" strike="noStrike" cap="none" normalizeH="0" baseline="0" dirty="0">
                <a:ln>
                  <a:noFill/>
                </a:ln>
                <a:effectLst/>
                <a:latin typeface="Times New Roman" panose="02020603050405020304" pitchFamily="18" charset="0"/>
                <a:ea typeface="Calibri" panose="020F0502020204030204" pitchFamily="34" charset="0"/>
              </a:rPr>
              <a:t>5.4 </a:t>
            </a:r>
            <a:r>
              <a:rPr kumimoji="0" lang="en-US" altLang="en-US" b="1" i="0" strike="noStrike" cap="none" normalizeH="0" baseline="0" dirty="0">
                <a:ln>
                  <a:noFill/>
                </a:ln>
                <a:solidFill>
                  <a:srgbClr val="FF0000"/>
                </a:solidFill>
                <a:effectLst/>
                <a:latin typeface="Times New Roman" panose="02020603050405020304" pitchFamily="18" charset="0"/>
                <a:ea typeface="Calibri" panose="020F0502020204030204" pitchFamily="34" charset="0"/>
              </a:rPr>
              <a:t>Artificial</a:t>
            </a:r>
            <a:r>
              <a:rPr kumimoji="0" lang="en-US" altLang="en-US" b="1" i="0" strike="noStrike" cap="none" normalizeH="0" baseline="0" dirty="0">
                <a:ln>
                  <a:noFill/>
                </a:ln>
                <a:effectLst/>
                <a:latin typeface="Times New Roman" panose="02020603050405020304" pitchFamily="18" charset="0"/>
                <a:ea typeface="Calibri" panose="020F0502020204030204" pitchFamily="34" charset="0"/>
              </a:rPr>
              <a:t> </a:t>
            </a:r>
            <a:r>
              <a:rPr kumimoji="0" lang="en-US" altLang="en-US" b="1" i="0" strike="noStrike" cap="none" normalizeH="0" baseline="0" dirty="0">
                <a:ln>
                  <a:noFill/>
                </a:ln>
                <a:solidFill>
                  <a:srgbClr val="FF0000"/>
                </a:solidFill>
                <a:effectLst/>
                <a:latin typeface="Times New Roman" panose="02020603050405020304" pitchFamily="18" charset="0"/>
                <a:ea typeface="Calibri" panose="020F0502020204030204" pitchFamily="34" charset="0"/>
              </a:rPr>
              <a:t>Neural Networks ( ANN )</a:t>
            </a:r>
            <a:endParaRPr kumimoji="0" lang="en-US" altLang="en-US" b="0" i="0" strike="noStrike" cap="none" normalizeH="0" baseline="0" dirty="0">
              <a:ln>
                <a:noFill/>
              </a:ln>
              <a:solidFill>
                <a:srgbClr val="FF0000"/>
              </a:solidFill>
              <a:effectLst/>
            </a:endParaRPr>
          </a:p>
          <a:p>
            <a:pPr marL="0" marR="0" lvl="0" indent="0" algn="l" defTabSz="914400" rtl="0" eaLnBrk="0" fontAlgn="base" latinLnBrk="0" hangingPunct="0">
              <a:lnSpc>
                <a:spcPct val="100000"/>
              </a:lnSpc>
              <a:spcBef>
                <a:spcPct val="0"/>
              </a:spcBef>
              <a:spcAft>
                <a:spcPct val="0"/>
              </a:spcAft>
              <a:buClrTx/>
              <a:buSzTx/>
              <a:buNone/>
              <a:tabLst>
                <a:tab pos="5664200" algn="r"/>
              </a:tabLst>
            </a:pPr>
            <a:r>
              <a:rPr kumimoji="0" lang="en-US" altLang="en-US" b="1" i="0" strike="noStrike" cap="none" normalizeH="0" baseline="0" dirty="0">
                <a:ln>
                  <a:noFill/>
                </a:ln>
                <a:effectLst/>
                <a:latin typeface="Times New Roman" panose="02020603050405020304" pitchFamily="18" charset="0"/>
                <a:ea typeface="Calibri" panose="020F0502020204030204" pitchFamily="34" charset="0"/>
              </a:rPr>
              <a:t>         5.4.1 Neural network structures</a:t>
            </a:r>
            <a:endParaRPr kumimoji="0" lang="en-US" altLang="en-US" b="0" i="0"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None/>
              <a:tabLst>
                <a:tab pos="5664200" algn="r"/>
              </a:tabLst>
            </a:pPr>
            <a:r>
              <a:rPr kumimoji="0" lang="en-US" altLang="en-US" b="1" i="0" strike="noStrike" cap="none" normalizeH="0" baseline="0" dirty="0">
                <a:ln>
                  <a:noFill/>
                </a:ln>
                <a:effectLst/>
                <a:latin typeface="Times New Roman" panose="02020603050405020304" pitchFamily="18" charset="0"/>
                <a:ea typeface="Calibri" panose="020F0502020204030204" pitchFamily="34" charset="0"/>
              </a:rPr>
              <a:t>         5.4.2 Single-layer feed-forward neural networks (perceptrons)</a:t>
            </a:r>
            <a:endParaRPr kumimoji="0" lang="en-US" altLang="en-US" b="0" i="0"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None/>
              <a:tabLst>
                <a:tab pos="5664200" algn="r"/>
              </a:tabLst>
            </a:pPr>
            <a:r>
              <a:rPr kumimoji="0" lang="en-US" altLang="en-US" b="1" i="0" strike="noStrike" cap="none" normalizeH="0" baseline="0" dirty="0">
                <a:ln>
                  <a:noFill/>
                </a:ln>
                <a:effectLst/>
                <a:latin typeface="Times New Roman" panose="02020603050405020304" pitchFamily="18" charset="0"/>
                <a:ea typeface="Calibri" panose="020F0502020204030204" pitchFamily="34" charset="0"/>
              </a:rPr>
              <a:t>         5.4.3 Multilayer feed-forward neural networks</a:t>
            </a:r>
            <a:endParaRPr kumimoji="0" lang="en-US" altLang="en-US" b="0" i="0"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None/>
              <a:tabLst>
                <a:tab pos="5664200" algn="r"/>
              </a:tabLst>
            </a:pPr>
            <a:r>
              <a:rPr kumimoji="0" lang="en-US" altLang="en-US" b="1" i="0" strike="noStrike" cap="none" normalizeH="0" baseline="0" dirty="0">
                <a:ln>
                  <a:noFill/>
                </a:ln>
                <a:effectLst/>
                <a:latin typeface="Times New Roman" panose="02020603050405020304" pitchFamily="18" charset="0"/>
                <a:ea typeface="Calibri" panose="020F0502020204030204" pitchFamily="34" charset="0"/>
              </a:rPr>
              <a:t>         5.4.4 Learning in multilayer networks</a:t>
            </a:r>
            <a:endParaRPr kumimoji="0" lang="en-US" altLang="en-US" b="0" i="0"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None/>
              <a:tabLst>
                <a:tab pos="5664200" algn="r"/>
              </a:tabLst>
            </a:pPr>
            <a:r>
              <a:rPr kumimoji="0" lang="en-US" altLang="en-US" b="1" i="0" strike="noStrike" cap="none" normalizeH="0" baseline="0" dirty="0">
                <a:ln>
                  <a:noFill/>
                </a:ln>
                <a:effectLst/>
                <a:latin typeface="Times New Roman" panose="02020603050405020304" pitchFamily="18" charset="0"/>
                <a:ea typeface="Calibri" panose="020F0502020204030204" pitchFamily="34" charset="0"/>
              </a:rPr>
              <a:t>5.5 </a:t>
            </a:r>
            <a:r>
              <a:rPr kumimoji="0" lang="en-US" altLang="en-US" b="1" i="0" strike="noStrike" cap="none" normalizeH="0" baseline="0" dirty="0">
                <a:ln>
                  <a:noFill/>
                </a:ln>
                <a:solidFill>
                  <a:srgbClr val="FF0000"/>
                </a:solidFill>
                <a:effectLst/>
                <a:latin typeface="Times New Roman" panose="02020603050405020304" pitchFamily="18" charset="0"/>
                <a:ea typeface="Calibri" panose="020F0502020204030204" pitchFamily="34" charset="0"/>
              </a:rPr>
              <a:t>Support Vector Machines ( SVM )</a:t>
            </a:r>
            <a:endParaRPr kumimoji="0" lang="en-US" altLang="en-US" b="0" i="0" strike="noStrike" cap="none" normalizeH="0" baseline="0" dirty="0">
              <a:ln>
                <a:noFill/>
              </a:ln>
              <a:solidFill>
                <a:srgbClr val="FF0000"/>
              </a:solidFill>
              <a:effectLst/>
            </a:endParaRPr>
          </a:p>
          <a:p>
            <a:pPr marL="0" marR="0" lvl="0" indent="0" algn="l" defTabSz="914400" rtl="0" eaLnBrk="0" fontAlgn="base" latinLnBrk="0" hangingPunct="0">
              <a:lnSpc>
                <a:spcPct val="100000"/>
              </a:lnSpc>
              <a:spcBef>
                <a:spcPct val="0"/>
              </a:spcBef>
              <a:spcAft>
                <a:spcPct val="0"/>
              </a:spcAft>
              <a:buClrTx/>
              <a:buSzTx/>
              <a:buNone/>
              <a:tabLst>
                <a:tab pos="5664200" algn="r"/>
              </a:tabLst>
            </a:pPr>
            <a:r>
              <a:rPr kumimoji="0" lang="en-US" altLang="en-US" b="1" i="0" strike="noStrike" cap="none" normalizeH="0" baseline="0" dirty="0">
                <a:ln>
                  <a:noFill/>
                </a:ln>
                <a:effectLst/>
                <a:latin typeface="Times New Roman" panose="02020603050405020304" pitchFamily="18" charset="0"/>
                <a:ea typeface="Calibri" panose="020F0502020204030204" pitchFamily="34" charset="0"/>
              </a:rPr>
              <a:t>5.6 </a:t>
            </a:r>
            <a:r>
              <a:rPr kumimoji="0" lang="en-US" altLang="en-US" b="1" i="0" strike="noStrike" cap="none" normalizeH="0" baseline="0" dirty="0">
                <a:ln>
                  <a:noFill/>
                </a:ln>
                <a:solidFill>
                  <a:srgbClr val="FF0000"/>
                </a:solidFill>
                <a:effectLst/>
                <a:latin typeface="Times New Roman" panose="02020603050405020304" pitchFamily="18" charset="0"/>
                <a:ea typeface="Calibri" panose="020F0502020204030204" pitchFamily="34" charset="0"/>
              </a:rPr>
              <a:t>Deep Learning ( DL )</a:t>
            </a:r>
            <a:endParaRPr kumimoji="0" lang="en-US" altLang="en-US" b="0" i="0" strike="noStrike" cap="none" normalizeH="0" baseline="0" dirty="0">
              <a:ln>
                <a:noFill/>
              </a:ln>
              <a:solidFill>
                <a:srgbClr val="FF0000"/>
              </a:solidFill>
              <a:effectLst/>
            </a:endParaRPr>
          </a:p>
          <a:p>
            <a:pPr marL="0" marR="0" lvl="0" indent="0" algn="l" defTabSz="914400" rtl="0" eaLnBrk="0" fontAlgn="base" latinLnBrk="0" hangingPunct="0">
              <a:lnSpc>
                <a:spcPct val="100000"/>
              </a:lnSpc>
              <a:spcBef>
                <a:spcPct val="0"/>
              </a:spcBef>
              <a:spcAft>
                <a:spcPct val="0"/>
              </a:spcAft>
              <a:buClrTx/>
              <a:buSzTx/>
              <a:buNone/>
              <a:tabLst>
                <a:tab pos="5664200" algn="r"/>
              </a:tabLst>
            </a:pPr>
            <a:r>
              <a:rPr kumimoji="0" lang="en-US" altLang="en-US" b="1" i="0" strike="noStrike" cap="none" normalizeH="0" baseline="0" dirty="0">
                <a:ln>
                  <a:noFill/>
                </a:ln>
                <a:effectLst/>
                <a:latin typeface="Times New Roman" panose="02020603050405020304" pitchFamily="18" charset="0"/>
                <a:ea typeface="Calibri" panose="020F0502020204030204" pitchFamily="34" charset="0"/>
              </a:rPr>
              <a:t>         5.6.1 Deep Learning &amp; Natural Language Processing</a:t>
            </a:r>
          </a:p>
          <a:p>
            <a:pPr marL="0" marR="0" lvl="0" indent="0" algn="l" defTabSz="914400" rtl="0" eaLnBrk="0" fontAlgn="base" latinLnBrk="0" hangingPunct="0">
              <a:lnSpc>
                <a:spcPct val="100000"/>
              </a:lnSpc>
              <a:spcBef>
                <a:spcPct val="0"/>
              </a:spcBef>
              <a:spcAft>
                <a:spcPct val="0"/>
              </a:spcAft>
              <a:buClrTx/>
              <a:buSzTx/>
              <a:buNone/>
              <a:tabLst>
                <a:tab pos="5664200" algn="r"/>
              </a:tabLst>
            </a:pPr>
            <a:r>
              <a:rPr kumimoji="0" lang="en-US" altLang="en-US" b="1" i="0" strike="noStrike" cap="none" normalizeH="0" baseline="0" dirty="0">
                <a:ln>
                  <a:noFill/>
                </a:ln>
                <a:effectLst/>
                <a:latin typeface="Times New Roman" panose="02020603050405020304" pitchFamily="18" charset="0"/>
                <a:ea typeface="Calibri" panose="020F0502020204030204" pitchFamily="34" charset="0"/>
              </a:rPr>
              <a:t>         5.6.2 Deep Learning &amp; Commercial activity</a:t>
            </a:r>
            <a:r>
              <a:rPr kumimoji="0" lang="en-US" altLang="en-US" b="0" i="0" strike="noStrike" cap="none" normalizeH="0" baseline="0" dirty="0">
                <a:ln>
                  <a:noFill/>
                </a:ln>
                <a:effectLst/>
              </a:rPr>
              <a:t> </a:t>
            </a:r>
          </a:p>
        </p:txBody>
      </p:sp>
    </p:spTree>
    <p:extLst>
      <p:ext uri="{BB962C8B-B14F-4D97-AF65-F5344CB8AC3E}">
        <p14:creationId xmlns:p14="http://schemas.microsoft.com/office/powerpoint/2010/main" val="2494560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610600" cy="1293028"/>
          </a:xfrm>
        </p:spPr>
        <p:txBody>
          <a:bodyPr>
            <a:normAutofit/>
          </a:bodyPr>
          <a:lstStyle/>
          <a:p>
            <a:pPr algn="ctr"/>
            <a:r>
              <a:rPr lang="en-US" sz="4800" b="1" dirty="0">
                <a:solidFill>
                  <a:srgbClr val="00B0F0"/>
                </a:solidFill>
              </a:rPr>
              <a:t>5.1</a:t>
            </a:r>
            <a:r>
              <a:rPr lang="en-US" sz="4800" b="1" dirty="0">
                <a:solidFill>
                  <a:srgbClr val="FFC000"/>
                </a:solidFill>
              </a:rPr>
              <a:t> INTRODUCTION</a:t>
            </a:r>
            <a:endParaRPr lang="en-US" sz="4800" dirty="0"/>
          </a:p>
        </p:txBody>
      </p:sp>
      <p:sp>
        <p:nvSpPr>
          <p:cNvPr id="3" name="Content Placeholder 2"/>
          <p:cNvSpPr>
            <a:spLocks noGrp="1"/>
          </p:cNvSpPr>
          <p:nvPr>
            <p:ph idx="1"/>
          </p:nvPr>
        </p:nvSpPr>
        <p:spPr>
          <a:xfrm>
            <a:off x="545690" y="1187246"/>
            <a:ext cx="11466201" cy="5490645"/>
          </a:xfrm>
        </p:spPr>
        <p:txBody>
          <a:bodyPr>
            <a:noAutofit/>
          </a:bodyPr>
          <a:lstStyle/>
          <a:p>
            <a:r>
              <a:rPr lang="en-US" sz="3600" dirty="0"/>
              <a:t>Learning is the </a:t>
            </a:r>
            <a:r>
              <a:rPr lang="en-US" sz="3600" b="1" dirty="0">
                <a:solidFill>
                  <a:srgbClr val="FF0000"/>
                </a:solidFill>
              </a:rPr>
              <a:t>process of acquiring </a:t>
            </a:r>
            <a:r>
              <a:rPr lang="en-US" sz="3600" u="sng" dirty="0"/>
              <a:t>new</a:t>
            </a:r>
            <a:r>
              <a:rPr lang="en-US" sz="3600" dirty="0">
                <a:solidFill>
                  <a:srgbClr val="00B0F0"/>
                </a:solidFill>
              </a:rPr>
              <a:t> understanding, knowledge, behaviors, skills, values, attitudes, and preferences</a:t>
            </a:r>
            <a:r>
              <a:rPr lang="en-US" sz="3600" dirty="0"/>
              <a:t>. </a:t>
            </a:r>
          </a:p>
          <a:p>
            <a:r>
              <a:rPr lang="en-US" sz="3600" dirty="0"/>
              <a:t>The ability to learn is possessed by </a:t>
            </a:r>
            <a:r>
              <a:rPr lang="en-US" sz="3600" dirty="0">
                <a:solidFill>
                  <a:srgbClr val="FFC000"/>
                </a:solidFill>
              </a:rPr>
              <a:t>humans, animals, and some machines</a:t>
            </a:r>
            <a:r>
              <a:rPr lang="en-US" sz="3600" dirty="0"/>
              <a:t>; there is also evidence for some kind of learning in certain </a:t>
            </a:r>
            <a:r>
              <a:rPr lang="en-US" sz="3600" dirty="0">
                <a:solidFill>
                  <a:srgbClr val="FFC000"/>
                </a:solidFill>
              </a:rPr>
              <a:t>plants</a:t>
            </a:r>
            <a:r>
              <a:rPr lang="en-US" sz="3600" dirty="0"/>
              <a:t>. </a:t>
            </a:r>
          </a:p>
          <a:p>
            <a:r>
              <a:rPr lang="en-US" sz="3600" dirty="0"/>
              <a:t>Some learning is immediate, brought by </a:t>
            </a:r>
            <a:r>
              <a:rPr lang="en-US" sz="3600" b="1" dirty="0">
                <a:solidFill>
                  <a:srgbClr val="FF0000"/>
                </a:solidFill>
              </a:rPr>
              <a:t>a single event </a:t>
            </a:r>
            <a:r>
              <a:rPr lang="en-US" sz="3600" dirty="0"/>
              <a:t>(e.g. being burned by a hot stove), but much skill and knowledge accumulate from </a:t>
            </a:r>
            <a:r>
              <a:rPr lang="en-US" sz="3600" b="1" dirty="0">
                <a:solidFill>
                  <a:srgbClr val="FF0000"/>
                </a:solidFill>
              </a:rPr>
              <a:t>repeated experiences</a:t>
            </a:r>
            <a:r>
              <a:rPr lang="en-US" sz="3600" dirty="0"/>
              <a:t>. </a:t>
            </a:r>
          </a:p>
          <a:p>
            <a:r>
              <a:rPr lang="en-US" sz="3600" dirty="0"/>
              <a:t>The changes made by learning </a:t>
            </a:r>
            <a:r>
              <a:rPr lang="en-US" sz="3600" dirty="0">
                <a:solidFill>
                  <a:srgbClr val="00B0F0"/>
                </a:solidFill>
              </a:rPr>
              <a:t>often last a lifetime</a:t>
            </a:r>
            <a:r>
              <a:rPr lang="en-US" sz="3600" dirty="0"/>
              <a:t>, </a:t>
            </a:r>
          </a:p>
        </p:txBody>
      </p:sp>
    </p:spTree>
    <p:extLst>
      <p:ext uri="{BB962C8B-B14F-4D97-AF65-F5344CB8AC3E}">
        <p14:creationId xmlns:p14="http://schemas.microsoft.com/office/powerpoint/2010/main" val="1986976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0700" y="-128580"/>
            <a:ext cx="8610600" cy="1293028"/>
          </a:xfrm>
        </p:spPr>
        <p:txBody>
          <a:bodyPr/>
          <a:lstStyle/>
          <a:p>
            <a:pPr algn="ctr"/>
            <a:r>
              <a:rPr lang="en-US" b="1" dirty="0">
                <a:solidFill>
                  <a:srgbClr val="FFC000"/>
                </a:solidFill>
              </a:rPr>
              <a:t>Ai </a:t>
            </a:r>
            <a:r>
              <a:rPr lang="en-US" b="1" cap="none" dirty="0">
                <a:solidFill>
                  <a:srgbClr val="FFC000"/>
                </a:solidFill>
              </a:rPr>
              <a:t>&amp;</a:t>
            </a:r>
            <a:r>
              <a:rPr lang="en-US" b="1" dirty="0">
                <a:solidFill>
                  <a:srgbClr val="FFC000"/>
                </a:solidFill>
              </a:rPr>
              <a:t> Learning</a:t>
            </a:r>
          </a:p>
        </p:txBody>
      </p:sp>
      <p:pic>
        <p:nvPicPr>
          <p:cNvPr id="4" name="Picture 2" descr="https://qph.fs.quoracdn.net/main-qimg-25dea0f9c2a53243a69196e44c5349ae-c"/>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321438" y="1346175"/>
            <a:ext cx="7211446" cy="5408585"/>
          </a:xfrm>
          <a:prstGeom prst="rect">
            <a:avLst/>
          </a:prstGeom>
          <a:noFill/>
        </p:spPr>
      </p:pic>
      <p:cxnSp>
        <p:nvCxnSpPr>
          <p:cNvPr id="5" name="Straight Connector 4"/>
          <p:cNvCxnSpPr/>
          <p:nvPr/>
        </p:nvCxnSpPr>
        <p:spPr>
          <a:xfrm>
            <a:off x="5545394" y="2610465"/>
            <a:ext cx="0" cy="914400"/>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Flowchart: Connector 5"/>
          <p:cNvSpPr/>
          <p:nvPr/>
        </p:nvSpPr>
        <p:spPr>
          <a:xfrm>
            <a:off x="6637283" y="1956705"/>
            <a:ext cx="457200" cy="4572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7" name="Flowchart: Connector 6"/>
          <p:cNvSpPr/>
          <p:nvPr/>
        </p:nvSpPr>
        <p:spPr>
          <a:xfrm>
            <a:off x="2659117" y="3709219"/>
            <a:ext cx="457200" cy="4572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8" name="Flowchart: Connector 7"/>
          <p:cNvSpPr/>
          <p:nvPr/>
        </p:nvSpPr>
        <p:spPr>
          <a:xfrm>
            <a:off x="4104290" y="4523771"/>
            <a:ext cx="457200" cy="4572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9" name="Flowchart: Connector 8"/>
          <p:cNvSpPr/>
          <p:nvPr/>
        </p:nvSpPr>
        <p:spPr>
          <a:xfrm>
            <a:off x="6205384" y="4499190"/>
            <a:ext cx="457200" cy="4572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0" name="Flowchart: Connector 9"/>
          <p:cNvSpPr/>
          <p:nvPr/>
        </p:nvSpPr>
        <p:spPr>
          <a:xfrm>
            <a:off x="8350469" y="4499190"/>
            <a:ext cx="457200" cy="4572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Tree>
    <p:extLst>
      <p:ext uri="{BB962C8B-B14F-4D97-AF65-F5344CB8AC3E}">
        <p14:creationId xmlns:p14="http://schemas.microsoft.com/office/powerpoint/2010/main" val="3231945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9690" y="-309716"/>
            <a:ext cx="8610600" cy="1293028"/>
          </a:xfrm>
        </p:spPr>
        <p:txBody>
          <a:bodyPr/>
          <a:lstStyle/>
          <a:p>
            <a:pPr algn="ctr"/>
            <a:r>
              <a:rPr lang="en-US" b="1" cap="none" dirty="0">
                <a:solidFill>
                  <a:srgbClr val="00B0F0"/>
                </a:solidFill>
              </a:rPr>
              <a:t>Factors</a:t>
            </a:r>
            <a:r>
              <a:rPr lang="en-US" b="1" cap="none" dirty="0">
                <a:solidFill>
                  <a:srgbClr val="FFC000"/>
                </a:solidFill>
              </a:rPr>
              <a:t> Affecting Learning</a:t>
            </a:r>
          </a:p>
        </p:txBody>
      </p:sp>
      <p:sp>
        <p:nvSpPr>
          <p:cNvPr id="3" name="Content Placeholder 2"/>
          <p:cNvSpPr>
            <a:spLocks noGrp="1"/>
          </p:cNvSpPr>
          <p:nvPr>
            <p:ph idx="1"/>
          </p:nvPr>
        </p:nvSpPr>
        <p:spPr>
          <a:xfrm>
            <a:off x="902109" y="754744"/>
            <a:ext cx="3307034" cy="5786221"/>
          </a:xfrm>
        </p:spPr>
        <p:txBody>
          <a:bodyPr>
            <a:noAutofit/>
          </a:bodyPr>
          <a:lstStyle/>
          <a:p>
            <a:r>
              <a:rPr lang="en-US" sz="2400" b="1" dirty="0">
                <a:solidFill>
                  <a:srgbClr val="00B0F0"/>
                </a:solidFill>
              </a:rPr>
              <a:t>External</a:t>
            </a:r>
            <a:r>
              <a:rPr lang="en-US" sz="2400" b="1" dirty="0">
                <a:solidFill>
                  <a:srgbClr val="FFC000"/>
                </a:solidFill>
              </a:rPr>
              <a:t> factors:</a:t>
            </a:r>
          </a:p>
          <a:p>
            <a:pPr marL="457200" lvl="0" indent="-176213">
              <a:buFont typeface="+mj-lt"/>
              <a:buAutoNum type="arabicPeriod"/>
            </a:pPr>
            <a:r>
              <a:rPr lang="en-US" sz="1400" dirty="0"/>
              <a:t>Inheritance</a:t>
            </a:r>
          </a:p>
          <a:p>
            <a:pPr marL="457200" lvl="0" indent="-176213">
              <a:buFont typeface="+mj-lt"/>
              <a:buAutoNum type="arabicPeriod"/>
            </a:pPr>
            <a:r>
              <a:rPr lang="en-US" sz="1400" dirty="0"/>
              <a:t>Status of students</a:t>
            </a:r>
          </a:p>
          <a:p>
            <a:pPr marL="457200" lvl="0" indent="-176213">
              <a:buFont typeface="+mj-lt"/>
              <a:buAutoNum type="arabicPeriod"/>
            </a:pPr>
            <a:r>
              <a:rPr lang="en-US" sz="1400" dirty="0"/>
              <a:t>Physical environment </a:t>
            </a:r>
          </a:p>
          <a:p>
            <a:r>
              <a:rPr lang="en-US" sz="2400" b="1" dirty="0">
                <a:solidFill>
                  <a:srgbClr val="00B0F0"/>
                </a:solidFill>
              </a:rPr>
              <a:t>Internal</a:t>
            </a:r>
            <a:r>
              <a:rPr lang="en-US" sz="2400" b="1" dirty="0">
                <a:solidFill>
                  <a:srgbClr val="FFC000"/>
                </a:solidFill>
              </a:rPr>
              <a:t> factors:</a:t>
            </a:r>
          </a:p>
          <a:p>
            <a:pPr marL="457200" lvl="0" indent="-176213">
              <a:buFont typeface="+mj-lt"/>
              <a:buAutoNum type="arabicPeriod"/>
            </a:pPr>
            <a:r>
              <a:rPr lang="en-US" sz="1400" dirty="0"/>
              <a:t>Goals or purposes</a:t>
            </a:r>
          </a:p>
          <a:p>
            <a:pPr marL="457200" lvl="0" indent="-176213">
              <a:buFont typeface="+mj-lt"/>
              <a:buAutoNum type="arabicPeriod"/>
            </a:pPr>
            <a:r>
              <a:rPr lang="en-US" sz="1400" dirty="0"/>
              <a:t>Motivational behavior</a:t>
            </a:r>
          </a:p>
          <a:p>
            <a:pPr marL="457200" lvl="0" indent="-176213">
              <a:buFont typeface="+mj-lt"/>
              <a:buAutoNum type="arabicPeriod"/>
            </a:pPr>
            <a:r>
              <a:rPr lang="en-US" sz="1400" dirty="0"/>
              <a:t>Interest</a:t>
            </a:r>
          </a:p>
          <a:p>
            <a:pPr marL="457200" lvl="0" indent="-176213">
              <a:buFont typeface="+mj-lt"/>
              <a:buAutoNum type="arabicPeriod"/>
            </a:pPr>
            <a:r>
              <a:rPr lang="en-US" sz="1400" dirty="0"/>
              <a:t>Attention </a:t>
            </a:r>
          </a:p>
          <a:p>
            <a:pPr marL="457200" lvl="0" indent="-176213">
              <a:buFont typeface="+mj-lt"/>
              <a:buAutoNum type="arabicPeriod"/>
            </a:pPr>
            <a:r>
              <a:rPr lang="en-US" sz="1400" dirty="0"/>
              <a:t>Drill or practice</a:t>
            </a:r>
          </a:p>
          <a:p>
            <a:pPr marL="457200" lvl="0" indent="-176213">
              <a:buFont typeface="+mj-lt"/>
              <a:buAutoNum type="arabicPeriod"/>
            </a:pPr>
            <a:r>
              <a:rPr lang="en-US" sz="1400" dirty="0"/>
              <a:t>Fatigue </a:t>
            </a:r>
          </a:p>
          <a:p>
            <a:pPr marL="457200" lvl="0" indent="-176213">
              <a:buFont typeface="+mj-lt"/>
              <a:buAutoNum type="arabicPeriod"/>
            </a:pPr>
            <a:r>
              <a:rPr lang="en-US" sz="1400" dirty="0"/>
              <a:t>Aptitude</a:t>
            </a:r>
            <a:r>
              <a:rPr lang="ar-EG" sz="1400" dirty="0"/>
              <a:t> </a:t>
            </a:r>
            <a:r>
              <a:rPr lang="ar-EG" sz="2000" b="1" dirty="0">
                <a:solidFill>
                  <a:srgbClr val="FFC000"/>
                </a:solidFill>
              </a:rPr>
              <a:t>موهبة</a:t>
            </a:r>
            <a:r>
              <a:rPr lang="ar-EG" sz="1400" dirty="0"/>
              <a:t>  </a:t>
            </a:r>
            <a:endParaRPr lang="en-US" sz="1400" dirty="0"/>
          </a:p>
          <a:p>
            <a:pPr marL="457200" lvl="0" indent="-176213">
              <a:buFont typeface="+mj-lt"/>
              <a:buAutoNum type="arabicPeriod"/>
            </a:pPr>
            <a:r>
              <a:rPr lang="en-US" sz="1400" dirty="0"/>
              <a:t>Attitude</a:t>
            </a:r>
            <a:r>
              <a:rPr lang="ar-EG" sz="2000" b="1" dirty="0">
                <a:solidFill>
                  <a:srgbClr val="FFC000"/>
                </a:solidFill>
              </a:rPr>
              <a:t>سلوك</a:t>
            </a:r>
            <a:r>
              <a:rPr lang="ar-EG" sz="1400" dirty="0"/>
              <a:t> </a:t>
            </a:r>
            <a:endParaRPr lang="en-US" sz="2000" b="1" dirty="0">
              <a:solidFill>
                <a:srgbClr val="FFC000"/>
              </a:solidFill>
            </a:endParaRPr>
          </a:p>
          <a:p>
            <a:pPr marL="457200" lvl="0" indent="-176213">
              <a:buFont typeface="+mj-lt"/>
              <a:buAutoNum type="arabicPeriod"/>
            </a:pPr>
            <a:r>
              <a:rPr lang="en-US" sz="1400" dirty="0"/>
              <a:t>Emotional conditions</a:t>
            </a:r>
          </a:p>
          <a:p>
            <a:pPr marL="457200" lvl="0" indent="-176213">
              <a:buFont typeface="+mj-lt"/>
              <a:buAutoNum type="arabicPeriod"/>
            </a:pPr>
            <a:r>
              <a:rPr lang="en-US" sz="1400" dirty="0"/>
              <a:t>Speed, Accuracy and retention</a:t>
            </a:r>
          </a:p>
          <a:p>
            <a:pPr marL="457200" lvl="0" indent="-176213">
              <a:buFont typeface="+mj-lt"/>
              <a:buAutoNum type="arabicPeriod"/>
            </a:pPr>
            <a:r>
              <a:rPr lang="en-US" sz="1400" dirty="0"/>
              <a:t>Learning activities</a:t>
            </a:r>
          </a:p>
          <a:p>
            <a:pPr marL="457200" lvl="0" indent="-176213">
              <a:buFont typeface="+mj-lt"/>
              <a:buAutoNum type="arabicPeriod"/>
            </a:pPr>
            <a:r>
              <a:rPr lang="en-US" sz="1400" dirty="0"/>
              <a:t>Testing </a:t>
            </a:r>
          </a:p>
          <a:p>
            <a:pPr marL="457200" lvl="0" indent="-176213">
              <a:buFont typeface="+mj-lt"/>
              <a:buAutoNum type="arabicPeriod"/>
            </a:pPr>
            <a:r>
              <a:rPr lang="en-US" sz="1400" dirty="0"/>
              <a:t>Guidance  </a:t>
            </a:r>
          </a:p>
          <a:p>
            <a:endParaRPr lang="en-US" sz="1400" dirty="0"/>
          </a:p>
        </p:txBody>
      </p:sp>
    </p:spTree>
    <p:extLst>
      <p:ext uri="{BB962C8B-B14F-4D97-AF65-F5344CB8AC3E}">
        <p14:creationId xmlns:p14="http://schemas.microsoft.com/office/powerpoint/2010/main" val="34554354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23598" y="346714"/>
            <a:ext cx="8610600" cy="1293028"/>
          </a:xfrm>
        </p:spPr>
        <p:txBody>
          <a:bodyPr>
            <a:noAutofit/>
          </a:bodyPr>
          <a:lstStyle/>
          <a:p>
            <a:pPr algn="ctr"/>
            <a:r>
              <a:rPr lang="en-US" altLang="en-US" sz="5400" b="1" cap="none" dirty="0">
                <a:solidFill>
                  <a:srgbClr val="FFC000"/>
                </a:solidFill>
                <a:ea typeface="Calibri" panose="020F0502020204030204" pitchFamily="34" charset="0"/>
              </a:rPr>
              <a:t>Forms of Learning</a:t>
            </a:r>
            <a:br>
              <a:rPr lang="en-US" altLang="en-US" sz="5400" b="1" cap="none" dirty="0">
                <a:solidFill>
                  <a:srgbClr val="FFC000"/>
                </a:solidFill>
              </a:rPr>
            </a:br>
            <a:endParaRPr lang="en-US" sz="5400" b="1" dirty="0">
              <a:solidFill>
                <a:srgbClr val="FFC000"/>
              </a:solidFill>
            </a:endParaRPr>
          </a:p>
        </p:txBody>
      </p:sp>
      <p:sp>
        <p:nvSpPr>
          <p:cNvPr id="3" name="Content Placeholder 2"/>
          <p:cNvSpPr>
            <a:spLocks noGrp="1"/>
          </p:cNvSpPr>
          <p:nvPr>
            <p:ph idx="1"/>
          </p:nvPr>
        </p:nvSpPr>
        <p:spPr>
          <a:xfrm>
            <a:off x="334380" y="1704965"/>
            <a:ext cx="11668433" cy="4159807"/>
          </a:xfrm>
        </p:spPr>
        <p:txBody>
          <a:bodyPr>
            <a:noAutofit/>
          </a:bodyPr>
          <a:lstStyle/>
          <a:p>
            <a:pPr marL="0" indent="0">
              <a:buNone/>
            </a:pPr>
            <a:r>
              <a:rPr lang="en-US" sz="3200" dirty="0"/>
              <a:t>Any component of an agent can </a:t>
            </a:r>
            <a:r>
              <a:rPr lang="en-US" sz="3200" dirty="0">
                <a:solidFill>
                  <a:srgbClr val="00B0F0"/>
                </a:solidFill>
              </a:rPr>
              <a:t>be improved by learning from data</a:t>
            </a:r>
            <a:r>
              <a:rPr lang="en-US" sz="3200" dirty="0"/>
              <a:t>. The improvements, and the techniques used to make them, depend on four major factors:</a:t>
            </a:r>
          </a:p>
          <a:p>
            <a:pPr marL="0" indent="0">
              <a:buNone/>
            </a:pPr>
            <a:endParaRPr lang="en-US" sz="1400" dirty="0"/>
          </a:p>
          <a:p>
            <a:pPr marL="750888" indent="-514350">
              <a:buClr>
                <a:srgbClr val="FF0000"/>
              </a:buClr>
              <a:buFont typeface="+mj-lt"/>
              <a:buAutoNum type="arabicPeriod"/>
            </a:pPr>
            <a:r>
              <a:rPr lang="en-US" sz="3200" b="1" dirty="0"/>
              <a:t>Which </a:t>
            </a:r>
            <a:r>
              <a:rPr lang="en-US" sz="3200" b="1" dirty="0">
                <a:solidFill>
                  <a:srgbClr val="FFC000"/>
                </a:solidFill>
              </a:rPr>
              <a:t>component is to be improved</a:t>
            </a:r>
            <a:r>
              <a:rPr lang="en-US" sz="3200" b="1" dirty="0"/>
              <a:t>?	( </a:t>
            </a:r>
            <a:r>
              <a:rPr lang="en-US" sz="3200" b="1" dirty="0">
                <a:solidFill>
                  <a:srgbClr val="FF0000"/>
                </a:solidFill>
              </a:rPr>
              <a:t>see next slide </a:t>
            </a:r>
            <a:r>
              <a:rPr lang="en-US" sz="3200" b="1" dirty="0"/>
              <a:t>)</a:t>
            </a:r>
          </a:p>
          <a:p>
            <a:pPr marL="750888" indent="-514350">
              <a:buClr>
                <a:srgbClr val="FF0000"/>
              </a:buClr>
              <a:buFont typeface="+mj-lt"/>
              <a:buAutoNum type="arabicPeriod"/>
            </a:pPr>
            <a:r>
              <a:rPr lang="en-US" sz="3200" b="1" dirty="0"/>
              <a:t>What </a:t>
            </a:r>
            <a:r>
              <a:rPr lang="en-US" sz="3200" b="1" dirty="0">
                <a:solidFill>
                  <a:srgbClr val="FFC000"/>
                </a:solidFill>
              </a:rPr>
              <a:t>prior knowledge </a:t>
            </a:r>
            <a:r>
              <a:rPr lang="en-US" sz="3200" b="1" dirty="0"/>
              <a:t>the agent already has?</a:t>
            </a:r>
          </a:p>
          <a:p>
            <a:pPr marL="750888" indent="-514350">
              <a:buClr>
                <a:srgbClr val="FF0000"/>
              </a:buClr>
              <a:buFont typeface="+mj-lt"/>
              <a:buAutoNum type="arabicPeriod"/>
            </a:pPr>
            <a:r>
              <a:rPr lang="en-US" sz="3200" b="1" dirty="0"/>
              <a:t>What </a:t>
            </a:r>
            <a:r>
              <a:rPr lang="en-US" sz="3200" b="1" dirty="0">
                <a:solidFill>
                  <a:srgbClr val="FFC000"/>
                </a:solidFill>
              </a:rPr>
              <a:t>representation</a:t>
            </a:r>
            <a:r>
              <a:rPr lang="en-US" sz="3200" b="1" dirty="0"/>
              <a:t> is used for the data and the component?</a:t>
            </a:r>
          </a:p>
          <a:p>
            <a:pPr marL="750888" indent="-514350">
              <a:buClr>
                <a:srgbClr val="FF0000"/>
              </a:buClr>
              <a:buFont typeface="+mj-lt"/>
              <a:buAutoNum type="arabicPeriod"/>
            </a:pPr>
            <a:r>
              <a:rPr lang="en-US" sz="3200" b="1" dirty="0"/>
              <a:t>What </a:t>
            </a:r>
            <a:r>
              <a:rPr lang="en-US" sz="3200" b="1" dirty="0">
                <a:solidFill>
                  <a:srgbClr val="FFC000"/>
                </a:solidFill>
              </a:rPr>
              <a:t>feedback is available </a:t>
            </a:r>
            <a:r>
              <a:rPr lang="en-US" sz="3200" b="1" dirty="0"/>
              <a:t>to learn from? ( </a:t>
            </a:r>
            <a:r>
              <a:rPr lang="en-US" sz="3200" b="1" dirty="0">
                <a:solidFill>
                  <a:srgbClr val="FF0000"/>
                </a:solidFill>
              </a:rPr>
              <a:t>see  slide 8</a:t>
            </a:r>
            <a:r>
              <a:rPr lang="en-US" sz="3200" b="1" dirty="0"/>
              <a:t>)</a:t>
            </a:r>
          </a:p>
          <a:p>
            <a:pPr marL="236538" indent="0">
              <a:buClr>
                <a:srgbClr val="FF0000"/>
              </a:buClr>
              <a:buNone/>
            </a:pPr>
            <a:r>
              <a:rPr lang="en-US" sz="3200" b="1" dirty="0"/>
              <a:t> </a:t>
            </a:r>
          </a:p>
          <a:p>
            <a:endParaRPr lang="en-US" sz="3200" dirty="0"/>
          </a:p>
        </p:txBody>
      </p:sp>
    </p:spTree>
    <p:extLst>
      <p:ext uri="{BB962C8B-B14F-4D97-AF65-F5344CB8AC3E}">
        <p14:creationId xmlns:p14="http://schemas.microsoft.com/office/powerpoint/2010/main" val="69912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5546" y="-130699"/>
            <a:ext cx="8610600" cy="1293028"/>
          </a:xfrm>
        </p:spPr>
        <p:txBody>
          <a:bodyPr/>
          <a:lstStyle/>
          <a:p>
            <a:pPr algn="ctr"/>
            <a:r>
              <a:rPr lang="en-US" b="1" cap="none" dirty="0">
                <a:solidFill>
                  <a:srgbClr val="FFC000"/>
                </a:solidFill>
              </a:rPr>
              <a:t>Components To Be Learned</a:t>
            </a:r>
            <a:endParaRPr lang="en-US" dirty="0"/>
          </a:p>
        </p:txBody>
      </p:sp>
      <p:sp>
        <p:nvSpPr>
          <p:cNvPr id="3" name="Content Placeholder 2"/>
          <p:cNvSpPr>
            <a:spLocks noGrp="1"/>
          </p:cNvSpPr>
          <p:nvPr>
            <p:ph idx="1"/>
          </p:nvPr>
        </p:nvSpPr>
        <p:spPr>
          <a:xfrm>
            <a:off x="422031" y="1482213"/>
            <a:ext cx="10937631" cy="4859972"/>
          </a:xfrm>
        </p:spPr>
        <p:txBody>
          <a:bodyPr>
            <a:noAutofit/>
          </a:bodyPr>
          <a:lstStyle/>
          <a:p>
            <a:pPr marL="0" indent="0">
              <a:buNone/>
            </a:pPr>
            <a:r>
              <a:rPr lang="en-US" sz="3600" b="1" u="sng" dirty="0">
                <a:solidFill>
                  <a:srgbClr val="FFC000"/>
                </a:solidFill>
              </a:rPr>
              <a:t>The components of these agents include:</a:t>
            </a:r>
          </a:p>
          <a:p>
            <a:pPr marL="855663" indent="-398463">
              <a:buNone/>
            </a:pPr>
            <a:r>
              <a:rPr lang="en-US" sz="2800" b="1" dirty="0"/>
              <a:t>1. A direct </a:t>
            </a:r>
            <a:r>
              <a:rPr lang="en-US" sz="2800" b="1" dirty="0">
                <a:solidFill>
                  <a:srgbClr val="00B0F0"/>
                </a:solidFill>
              </a:rPr>
              <a:t>mapping</a:t>
            </a:r>
            <a:r>
              <a:rPr lang="en-US" sz="2800" b="1" dirty="0"/>
              <a:t> from conditions on the </a:t>
            </a:r>
            <a:r>
              <a:rPr lang="en-US" sz="2800" b="1" dirty="0">
                <a:solidFill>
                  <a:srgbClr val="00B0F0"/>
                </a:solidFill>
              </a:rPr>
              <a:t>current state </a:t>
            </a:r>
            <a:r>
              <a:rPr lang="en-US" sz="2800" b="1" dirty="0"/>
              <a:t>to </a:t>
            </a:r>
            <a:r>
              <a:rPr lang="en-US" sz="2800" b="1" dirty="0">
                <a:solidFill>
                  <a:srgbClr val="00B0F0"/>
                </a:solidFill>
              </a:rPr>
              <a:t>actions</a:t>
            </a:r>
            <a:r>
              <a:rPr lang="en-US" sz="2800" b="1" dirty="0"/>
              <a:t>.</a:t>
            </a:r>
          </a:p>
          <a:p>
            <a:pPr marL="855663" indent="-398463">
              <a:buNone/>
            </a:pPr>
            <a:r>
              <a:rPr lang="en-US" sz="2800" b="1" dirty="0"/>
              <a:t>2. A means to infer </a:t>
            </a:r>
            <a:r>
              <a:rPr lang="ar-EG" sz="2800" b="1" dirty="0">
                <a:solidFill>
                  <a:srgbClr val="FF0000"/>
                </a:solidFill>
              </a:rPr>
              <a:t>يستخلص\يستنبط</a:t>
            </a:r>
            <a:r>
              <a:rPr lang="en-US" sz="2800" b="1" dirty="0"/>
              <a:t> relevant properties of the world from the percept sequence.</a:t>
            </a:r>
          </a:p>
          <a:p>
            <a:pPr marL="855663" indent="-398463">
              <a:buNone/>
            </a:pPr>
            <a:r>
              <a:rPr lang="en-US" sz="2800" b="1" dirty="0"/>
              <a:t>3. Information about the way the </a:t>
            </a:r>
            <a:r>
              <a:rPr lang="en-US" sz="2800" b="1" dirty="0">
                <a:solidFill>
                  <a:srgbClr val="FF0000"/>
                </a:solidFill>
              </a:rPr>
              <a:t>world evolves </a:t>
            </a:r>
            <a:r>
              <a:rPr lang="en-US" sz="2800" b="1" dirty="0"/>
              <a:t>and about the </a:t>
            </a:r>
            <a:r>
              <a:rPr lang="en-US" sz="2800" b="1" dirty="0">
                <a:solidFill>
                  <a:srgbClr val="FF0000"/>
                </a:solidFill>
              </a:rPr>
              <a:t>results</a:t>
            </a:r>
            <a:r>
              <a:rPr lang="en-US" sz="2800" b="1" dirty="0"/>
              <a:t> of possible actions the agent can take.</a:t>
            </a:r>
          </a:p>
          <a:p>
            <a:pPr marL="855663" indent="-398463">
              <a:buNone/>
            </a:pPr>
            <a:r>
              <a:rPr lang="en-US" sz="2800" b="1" dirty="0"/>
              <a:t>4. </a:t>
            </a:r>
            <a:r>
              <a:rPr lang="en-US" sz="2800" b="1" dirty="0">
                <a:solidFill>
                  <a:srgbClr val="FF0000"/>
                </a:solidFill>
              </a:rPr>
              <a:t>Utility information </a:t>
            </a:r>
            <a:r>
              <a:rPr lang="en-US" sz="2800" b="1" dirty="0"/>
              <a:t>indicating the desirability of world states.</a:t>
            </a:r>
          </a:p>
          <a:p>
            <a:pPr marL="855663" indent="-398463">
              <a:buNone/>
            </a:pPr>
            <a:r>
              <a:rPr lang="en-US" sz="2800" b="1" dirty="0"/>
              <a:t>5. </a:t>
            </a:r>
            <a:r>
              <a:rPr lang="en-US" sz="2800" b="1" dirty="0">
                <a:solidFill>
                  <a:srgbClr val="FF0000"/>
                </a:solidFill>
              </a:rPr>
              <a:t>Action-value information </a:t>
            </a:r>
            <a:r>
              <a:rPr lang="en-US" sz="2800" b="1" dirty="0"/>
              <a:t>indicating the desirability of actions.</a:t>
            </a:r>
          </a:p>
          <a:p>
            <a:pPr marL="855663" indent="-398463">
              <a:buNone/>
            </a:pPr>
            <a:r>
              <a:rPr lang="en-US" sz="2800" b="1" dirty="0"/>
              <a:t>6. </a:t>
            </a:r>
            <a:r>
              <a:rPr lang="en-US" sz="2800" b="1" dirty="0">
                <a:solidFill>
                  <a:srgbClr val="FF0000"/>
                </a:solidFill>
              </a:rPr>
              <a:t>Goals</a:t>
            </a:r>
            <a:r>
              <a:rPr lang="en-US" sz="2800" b="1" dirty="0"/>
              <a:t> that describe classes of states whose achievement maximizes the agent’s utility.</a:t>
            </a:r>
          </a:p>
        </p:txBody>
      </p:sp>
    </p:spTree>
    <p:extLst>
      <p:ext uri="{BB962C8B-B14F-4D97-AF65-F5344CB8AC3E}">
        <p14:creationId xmlns:p14="http://schemas.microsoft.com/office/powerpoint/2010/main" val="575348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200" y="130629"/>
            <a:ext cx="11328400" cy="1132774"/>
          </a:xfrm>
        </p:spPr>
        <p:txBody>
          <a:bodyPr>
            <a:normAutofit fontScale="90000"/>
          </a:bodyPr>
          <a:lstStyle/>
          <a:p>
            <a:pPr algn="ctr"/>
            <a:r>
              <a:rPr lang="en-US" b="1" cap="none" dirty="0">
                <a:solidFill>
                  <a:srgbClr val="00B0F0"/>
                </a:solidFill>
              </a:rPr>
              <a:t> 5.2 Machine Learning</a:t>
            </a:r>
            <a:br>
              <a:rPr lang="en-US" b="1" cap="none" dirty="0">
                <a:solidFill>
                  <a:srgbClr val="00B0F0"/>
                </a:solidFill>
              </a:rPr>
            </a:br>
            <a:r>
              <a:rPr lang="en-US" b="1" cap="none" dirty="0">
                <a:solidFill>
                  <a:srgbClr val="FFC000"/>
                </a:solidFill>
              </a:rPr>
              <a:t>(Feedback To Learn From )</a:t>
            </a:r>
            <a:br>
              <a:rPr lang="en-US" dirty="0">
                <a:solidFill>
                  <a:srgbClr val="FFC000"/>
                </a:solidFill>
              </a:rPr>
            </a:br>
            <a:endParaRPr lang="en-US" dirty="0">
              <a:solidFill>
                <a:srgbClr val="FFC000"/>
              </a:solidFill>
            </a:endParaRPr>
          </a:p>
        </p:txBody>
      </p:sp>
      <p:sp>
        <p:nvSpPr>
          <p:cNvPr id="3" name="Content Placeholder 2"/>
          <p:cNvSpPr>
            <a:spLocks noGrp="1"/>
          </p:cNvSpPr>
          <p:nvPr>
            <p:ph idx="1"/>
          </p:nvPr>
        </p:nvSpPr>
        <p:spPr>
          <a:xfrm>
            <a:off x="152400" y="1060202"/>
            <a:ext cx="11887200" cy="4202397"/>
          </a:xfrm>
        </p:spPr>
        <p:txBody>
          <a:bodyPr>
            <a:noAutofit/>
          </a:bodyPr>
          <a:lstStyle/>
          <a:p>
            <a:pPr marL="401638" lvl="0" indent="-401638">
              <a:buFont typeface="+mj-lt"/>
              <a:buAutoNum type="arabicPeriod"/>
            </a:pPr>
            <a:r>
              <a:rPr lang="en-US" sz="2400" b="1" dirty="0">
                <a:solidFill>
                  <a:srgbClr val="00B0F0"/>
                </a:solidFill>
              </a:rPr>
              <a:t>In unsupervised learning </a:t>
            </a:r>
            <a:r>
              <a:rPr lang="ar-EG" sz="2400" b="1" dirty="0">
                <a:solidFill>
                  <a:srgbClr val="00B0F0"/>
                </a:solidFill>
              </a:rPr>
              <a:t> </a:t>
            </a:r>
            <a:r>
              <a:rPr lang="en-US" sz="2400" b="1" dirty="0">
                <a:solidFill>
                  <a:srgbClr val="00B0F0"/>
                </a:solidFill>
              </a:rPr>
              <a:t> </a:t>
            </a:r>
            <a:r>
              <a:rPr lang="ar-EG" sz="2400" b="1" dirty="0">
                <a:solidFill>
                  <a:srgbClr val="00B0F0"/>
                </a:solidFill>
              </a:rPr>
              <a:t> </a:t>
            </a:r>
            <a:r>
              <a:rPr lang="ar-EG" sz="2400" b="1" dirty="0">
                <a:solidFill>
                  <a:srgbClr val="FFC000"/>
                </a:solidFill>
              </a:rPr>
              <a:t>بدون اشراف وانما بالملاحظة</a:t>
            </a:r>
            <a:r>
              <a:rPr lang="en-US" sz="2400" dirty="0"/>
              <a:t>the agent learns </a:t>
            </a:r>
            <a:r>
              <a:rPr lang="en-US" sz="2400" dirty="0">
                <a:solidFill>
                  <a:srgbClr val="FF0000"/>
                </a:solidFill>
              </a:rPr>
              <a:t>patterns in the input </a:t>
            </a:r>
            <a:r>
              <a:rPr lang="en-US" sz="2400" dirty="0"/>
              <a:t>even though </a:t>
            </a:r>
            <a:r>
              <a:rPr lang="en-US" sz="2400" b="1" u="sng" dirty="0">
                <a:solidFill>
                  <a:srgbClr val="FF0000"/>
                </a:solidFill>
              </a:rPr>
              <a:t>no explicit feedback is supplied</a:t>
            </a:r>
            <a:r>
              <a:rPr lang="en-US" sz="2400" dirty="0"/>
              <a:t>.  The most common unsupervised learning task is </a:t>
            </a:r>
            <a:r>
              <a:rPr lang="en-US" sz="2400" b="1" u="sng" dirty="0">
                <a:solidFill>
                  <a:srgbClr val="FF0000"/>
                </a:solidFill>
              </a:rPr>
              <a:t>clustering</a:t>
            </a:r>
            <a:r>
              <a:rPr lang="en-US" sz="2400" u="sng" dirty="0">
                <a:solidFill>
                  <a:srgbClr val="FF0000"/>
                </a:solidFill>
              </a:rPr>
              <a:t>: </a:t>
            </a:r>
            <a:r>
              <a:rPr lang="en-US" sz="2400" dirty="0"/>
              <a:t>detecting potentially useful clusters of input examples. </a:t>
            </a:r>
          </a:p>
          <a:p>
            <a:pPr marL="236538" lvl="0" indent="0">
              <a:buNone/>
            </a:pPr>
            <a:r>
              <a:rPr lang="en-US" sz="2400" b="1" dirty="0">
                <a:solidFill>
                  <a:srgbClr val="FFC000"/>
                </a:solidFill>
              </a:rPr>
              <a:t>   For example</a:t>
            </a:r>
            <a:r>
              <a:rPr lang="en-US" sz="2400" dirty="0"/>
              <a:t>, a taxi agent might gradually develop a concept of “good traffic days” and “bad traffic days” without ever being given labeled examples of each by a teacher.</a:t>
            </a:r>
          </a:p>
          <a:p>
            <a:pPr marL="236538" lvl="0" indent="0">
              <a:buNone/>
            </a:pPr>
            <a:endParaRPr lang="en-US" sz="800" dirty="0"/>
          </a:p>
          <a:p>
            <a:pPr marL="401638" lvl="0" indent="-401638">
              <a:buFont typeface="+mj-lt"/>
              <a:buAutoNum type="arabicPeriod" startAt="2"/>
            </a:pPr>
            <a:r>
              <a:rPr lang="en-US" sz="2400" dirty="0">
                <a:solidFill>
                  <a:srgbClr val="00B0F0"/>
                </a:solidFill>
              </a:rPr>
              <a:t>In </a:t>
            </a:r>
            <a:r>
              <a:rPr lang="en-US" sz="2400" b="1" dirty="0">
                <a:solidFill>
                  <a:srgbClr val="00B0F0"/>
                </a:solidFill>
              </a:rPr>
              <a:t>reinforcement learning</a:t>
            </a:r>
            <a:r>
              <a:rPr lang="ar-EG" sz="2400" b="1" dirty="0">
                <a:solidFill>
                  <a:srgbClr val="00B0F0"/>
                </a:solidFill>
              </a:rPr>
              <a:t> </a:t>
            </a:r>
            <a:r>
              <a:rPr lang="ar-EG" sz="2400" b="1" dirty="0">
                <a:solidFill>
                  <a:srgbClr val="FFC000"/>
                </a:solidFill>
              </a:rPr>
              <a:t>تعزيز\تقوية</a:t>
            </a:r>
            <a:r>
              <a:rPr lang="ar-EG" sz="2400" b="1" dirty="0">
                <a:solidFill>
                  <a:srgbClr val="00B0F0"/>
                </a:solidFill>
              </a:rPr>
              <a:t> </a:t>
            </a:r>
            <a:r>
              <a:rPr lang="en-US" sz="2400" dirty="0">
                <a:solidFill>
                  <a:srgbClr val="00B0F0"/>
                </a:solidFill>
              </a:rPr>
              <a:t> </a:t>
            </a:r>
            <a:r>
              <a:rPr lang="en-US" sz="2400" dirty="0"/>
              <a:t>the agent learns from a </a:t>
            </a:r>
            <a:r>
              <a:rPr lang="en-US" sz="2400" dirty="0">
                <a:solidFill>
                  <a:srgbClr val="FF0000"/>
                </a:solidFill>
              </a:rPr>
              <a:t>series of reinforcements—rewards or punishments</a:t>
            </a:r>
            <a:r>
              <a:rPr lang="ar-EG" sz="2400" dirty="0">
                <a:solidFill>
                  <a:srgbClr val="FF0000"/>
                </a:solidFill>
              </a:rPr>
              <a:t> </a:t>
            </a:r>
            <a:r>
              <a:rPr lang="en-US" sz="2400" dirty="0"/>
              <a:t>used for improving or increasing efficiency</a:t>
            </a:r>
            <a:r>
              <a:rPr lang="ar-EG" sz="2800" b="1" dirty="0">
                <a:solidFill>
                  <a:srgbClr val="00B0F0"/>
                </a:solidFill>
              </a:rPr>
              <a:t> </a:t>
            </a:r>
            <a:r>
              <a:rPr lang="ar-EG" sz="2400" b="1" dirty="0">
                <a:solidFill>
                  <a:srgbClr val="00B0F0"/>
                </a:solidFill>
              </a:rPr>
              <a:t>من خلال الجوائز او العقاب</a:t>
            </a:r>
          </a:p>
          <a:p>
            <a:pPr marL="0" lvl="0" indent="0">
              <a:buNone/>
            </a:pPr>
            <a:r>
              <a:rPr lang="en-US" sz="2400" b="1" dirty="0">
                <a:solidFill>
                  <a:srgbClr val="00B0F0"/>
                </a:solidFill>
              </a:rPr>
              <a:t>     </a:t>
            </a:r>
            <a:r>
              <a:rPr lang="en-US" sz="2400" b="1" dirty="0">
                <a:solidFill>
                  <a:srgbClr val="FFC000"/>
                </a:solidFill>
              </a:rPr>
              <a:t>For example</a:t>
            </a:r>
            <a:r>
              <a:rPr lang="ar-EG" sz="2400" b="1" dirty="0">
                <a:solidFill>
                  <a:srgbClr val="FFC000"/>
                </a:solidFill>
              </a:rPr>
              <a:t>:</a:t>
            </a:r>
          </a:p>
          <a:p>
            <a:pPr marL="692150" lvl="0" indent="-457200">
              <a:buFont typeface="Wingdings" panose="05000000000000000000" pitchFamily="2" charset="2"/>
              <a:buChar char="Ø"/>
            </a:pPr>
            <a:r>
              <a:rPr lang="en-US" sz="2000" dirty="0"/>
              <a:t>the lack of a tip at the end of the journey gives the taxi agent an indication that it did something wrong. </a:t>
            </a:r>
            <a:endParaRPr lang="ar-EG" sz="2000" dirty="0"/>
          </a:p>
          <a:p>
            <a:pPr marL="234950" lvl="0" indent="0">
              <a:buNone/>
            </a:pPr>
            <a:r>
              <a:rPr lang="en-US" sz="2000" dirty="0"/>
              <a:t>       It is up to the agent to decide which of the actions prior to the reinforcement were most responsible for it.</a:t>
            </a:r>
          </a:p>
          <a:p>
            <a:pPr marL="396875" lvl="0" indent="-285750">
              <a:buFont typeface="Wingdings" panose="05000000000000000000" pitchFamily="2" charset="2"/>
              <a:buChar char="Ø"/>
            </a:pPr>
            <a:endParaRPr lang="en-US" sz="1800" dirty="0"/>
          </a:p>
          <a:p>
            <a:pPr marL="457200" indent="-457200">
              <a:buFont typeface="+mj-lt"/>
              <a:buAutoNum type="arabicPeriod" startAt="3"/>
            </a:pPr>
            <a:r>
              <a:rPr lang="en-US" sz="2400" dirty="0">
                <a:solidFill>
                  <a:srgbClr val="00B0F0"/>
                </a:solidFill>
              </a:rPr>
              <a:t>In </a:t>
            </a:r>
            <a:r>
              <a:rPr lang="en-US" sz="2400" b="1" dirty="0">
                <a:solidFill>
                  <a:srgbClr val="00B0F0"/>
                </a:solidFill>
              </a:rPr>
              <a:t>supervised learning</a:t>
            </a:r>
            <a:r>
              <a:rPr lang="ar-EG" sz="2400" b="1" dirty="0">
                <a:solidFill>
                  <a:srgbClr val="00B0F0"/>
                </a:solidFill>
              </a:rPr>
              <a:t> </a:t>
            </a:r>
            <a:r>
              <a:rPr lang="ar-EG" sz="2400" b="1" dirty="0">
                <a:solidFill>
                  <a:srgbClr val="FFC000"/>
                </a:solidFill>
              </a:rPr>
              <a:t>بإشراف من خلال امثلة</a:t>
            </a:r>
            <a:r>
              <a:rPr lang="ar-EG" sz="2400" b="1" dirty="0">
                <a:solidFill>
                  <a:srgbClr val="00B0F0"/>
                </a:solidFill>
              </a:rPr>
              <a:t> </a:t>
            </a:r>
            <a:r>
              <a:rPr lang="en-US" sz="2400" dirty="0">
                <a:solidFill>
                  <a:srgbClr val="00B0F0"/>
                </a:solidFill>
              </a:rPr>
              <a:t> </a:t>
            </a:r>
            <a:r>
              <a:rPr lang="en-US" sz="2400" dirty="0"/>
              <a:t>the agent observes some </a:t>
            </a:r>
            <a:r>
              <a:rPr lang="en-US" sz="2400" b="1" u="sng" dirty="0">
                <a:solidFill>
                  <a:srgbClr val="FFC000"/>
                </a:solidFill>
              </a:rPr>
              <a:t>example input–output pairs </a:t>
            </a:r>
            <a:r>
              <a:rPr lang="en-US" sz="2400" dirty="0"/>
              <a:t>and </a:t>
            </a:r>
            <a:r>
              <a:rPr lang="en-US" sz="2400" b="1" dirty="0">
                <a:solidFill>
                  <a:srgbClr val="FF0000"/>
                </a:solidFill>
              </a:rPr>
              <a:t>learns a function that maps from input to output</a:t>
            </a:r>
            <a:r>
              <a:rPr lang="en-US" sz="2400" dirty="0">
                <a:solidFill>
                  <a:srgbClr val="FF0000"/>
                </a:solidFill>
              </a:rPr>
              <a:t>. </a:t>
            </a:r>
          </a:p>
          <a:p>
            <a:pPr marL="0" indent="0">
              <a:buNone/>
            </a:pPr>
            <a:r>
              <a:rPr lang="en-US" sz="2400" b="1" dirty="0">
                <a:solidFill>
                  <a:srgbClr val="FF0000"/>
                </a:solidFill>
              </a:rPr>
              <a:t>      </a:t>
            </a:r>
            <a:r>
              <a:rPr lang="en-US" sz="2400" b="1" dirty="0">
                <a:solidFill>
                  <a:srgbClr val="FFC000"/>
                </a:solidFill>
              </a:rPr>
              <a:t>For example</a:t>
            </a:r>
            <a:r>
              <a:rPr lang="ar-EG" sz="2400" b="1" dirty="0">
                <a:solidFill>
                  <a:srgbClr val="FFC000"/>
                </a:solidFill>
              </a:rPr>
              <a:t>:</a:t>
            </a:r>
            <a:r>
              <a:rPr lang="en-US" sz="2400" b="1" dirty="0">
                <a:solidFill>
                  <a:srgbClr val="FFC000"/>
                </a:solidFill>
              </a:rPr>
              <a:t> </a:t>
            </a:r>
            <a:r>
              <a:rPr lang="en-US" dirty="0"/>
              <a:t>Spam detection</a:t>
            </a:r>
            <a:endParaRPr lang="ar-EG" sz="2400" b="1" dirty="0">
              <a:solidFill>
                <a:srgbClr val="FFC000"/>
              </a:solidFill>
            </a:endParaRPr>
          </a:p>
          <a:p>
            <a:pPr marL="457200" lvl="0" indent="-457200">
              <a:buFont typeface="+mj-lt"/>
              <a:buAutoNum type="arabicPeriod" startAt="3"/>
            </a:pPr>
            <a:endParaRPr lang="en-US" sz="2400" dirty="0">
              <a:solidFill>
                <a:srgbClr val="FF0000"/>
              </a:solidFill>
            </a:endParaRPr>
          </a:p>
          <a:p>
            <a:endParaRPr lang="en-US" sz="2400" dirty="0"/>
          </a:p>
        </p:txBody>
      </p:sp>
    </p:spTree>
    <p:extLst>
      <p:ext uri="{BB962C8B-B14F-4D97-AF65-F5344CB8AC3E}">
        <p14:creationId xmlns:p14="http://schemas.microsoft.com/office/powerpoint/2010/main" val="579791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A3D5C-0B9B-46FA-8FC5-19C924033F47}"/>
              </a:ext>
            </a:extLst>
          </p:cNvPr>
          <p:cNvSpPr>
            <a:spLocks noGrp="1"/>
          </p:cNvSpPr>
          <p:nvPr>
            <p:ph type="title"/>
          </p:nvPr>
        </p:nvSpPr>
        <p:spPr>
          <a:xfrm>
            <a:off x="295273" y="1865376"/>
            <a:ext cx="4715639" cy="2505456"/>
          </a:xfrm>
          <a:solidFill>
            <a:srgbClr val="FFC000"/>
          </a:solidFill>
        </p:spPr>
        <p:txBody>
          <a:bodyPr>
            <a:normAutofit/>
          </a:bodyPr>
          <a:lstStyle/>
          <a:p>
            <a:pPr algn="l"/>
            <a:r>
              <a:rPr lang="en-US" sz="1800" b="1" dirty="0">
                <a:solidFill>
                  <a:schemeClr val="bg1"/>
                </a:solidFill>
              </a:rPr>
              <a:t>Most Popular m/c learning </a:t>
            </a:r>
            <a:r>
              <a:rPr lang="en-US" sz="1800" b="1" dirty="0">
                <a:solidFill>
                  <a:srgbClr val="00B0F0"/>
                </a:solidFill>
              </a:rPr>
              <a:t>Tools</a:t>
            </a:r>
            <a:br>
              <a:rPr lang="en-US" sz="1800" b="1" dirty="0">
                <a:solidFill>
                  <a:srgbClr val="00B0F0"/>
                </a:solidFill>
              </a:rPr>
            </a:br>
            <a:br>
              <a:rPr lang="en-US" sz="1800" b="1" dirty="0">
                <a:solidFill>
                  <a:srgbClr val="00B0F0"/>
                </a:solidFill>
              </a:rPr>
            </a:br>
            <a:r>
              <a:rPr lang="en-US" sz="1800" b="1" dirty="0">
                <a:solidFill>
                  <a:srgbClr val="00B0F0"/>
                </a:solidFill>
              </a:rPr>
              <a:t>visit:</a:t>
            </a:r>
            <a:br>
              <a:rPr lang="en-US" sz="1800" b="1" dirty="0">
                <a:solidFill>
                  <a:srgbClr val="00B0F0"/>
                </a:solidFill>
              </a:rPr>
            </a:br>
            <a:br>
              <a:rPr lang="en-US" sz="1800" b="1" dirty="0">
                <a:solidFill>
                  <a:srgbClr val="00B0F0"/>
                </a:solidFill>
              </a:rPr>
            </a:br>
            <a:r>
              <a:rPr lang="en-US" sz="1800" b="1" dirty="0">
                <a:solidFill>
                  <a:srgbClr val="00B0F0"/>
                </a:solidFill>
              </a:rPr>
              <a:t> </a:t>
            </a:r>
            <a:r>
              <a:rPr lang="en-US" sz="1800" b="1" dirty="0">
                <a:solidFill>
                  <a:srgbClr val="00B0F0"/>
                </a:solidFill>
                <a:hlinkClick r:id="rId2" action="ppaction://hlinkfile"/>
              </a:rPr>
              <a:t>Machine Learning Software Tools In 2024.docx</a:t>
            </a:r>
            <a:endParaRPr lang="en-US" sz="1800" b="1" dirty="0">
              <a:solidFill>
                <a:srgbClr val="00B0F0"/>
              </a:solidFill>
            </a:endParaRPr>
          </a:p>
        </p:txBody>
      </p:sp>
      <p:pic>
        <p:nvPicPr>
          <p:cNvPr id="4" name="Content Placeholder 3">
            <a:extLst>
              <a:ext uri="{FF2B5EF4-FFF2-40B4-BE49-F238E27FC236}">
                <a16:creationId xmlns:a16="http://schemas.microsoft.com/office/drawing/2014/main" id="{71F3075F-3290-4EDE-9809-864797C57E76}"/>
              </a:ext>
            </a:extLst>
          </p:cNvPr>
          <p:cNvPicPr>
            <a:picLocks noGrp="1" noChangeAspect="1"/>
          </p:cNvPicPr>
          <p:nvPr>
            <p:ph idx="1"/>
          </p:nvPr>
        </p:nvPicPr>
        <p:blipFill>
          <a:blip r:embed="rId3"/>
          <a:stretch>
            <a:fillRect/>
          </a:stretch>
        </p:blipFill>
        <p:spPr>
          <a:xfrm>
            <a:off x="5152571" y="1056858"/>
            <a:ext cx="6744156" cy="4926525"/>
          </a:xfrm>
          <a:prstGeom prst="rect">
            <a:avLst/>
          </a:prstGeom>
        </p:spPr>
      </p:pic>
    </p:spTree>
    <p:extLst>
      <p:ext uri="{BB962C8B-B14F-4D97-AF65-F5344CB8AC3E}">
        <p14:creationId xmlns:p14="http://schemas.microsoft.com/office/powerpoint/2010/main" val="1985727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5DB77-6AC9-4CA4-840A-1DF6F40F39C1}"/>
              </a:ext>
            </a:extLst>
          </p:cNvPr>
          <p:cNvSpPr>
            <a:spLocks noGrp="1"/>
          </p:cNvSpPr>
          <p:nvPr>
            <p:ph type="title"/>
          </p:nvPr>
        </p:nvSpPr>
        <p:spPr>
          <a:xfrm>
            <a:off x="464457" y="299915"/>
            <a:ext cx="11041743" cy="1151513"/>
          </a:xfrm>
        </p:spPr>
        <p:txBody>
          <a:bodyPr>
            <a:normAutofit fontScale="90000"/>
          </a:bodyPr>
          <a:lstStyle/>
          <a:p>
            <a:pPr algn="ctr"/>
            <a:r>
              <a:rPr lang="en-US" b="1" dirty="0">
                <a:solidFill>
                  <a:srgbClr val="FFC000"/>
                </a:solidFill>
              </a:rPr>
              <a:t>Machine Learning Real </a:t>
            </a:r>
            <a:r>
              <a:rPr lang="en-US" b="1" dirty="0">
                <a:solidFill>
                  <a:srgbClr val="00B0F0"/>
                </a:solidFill>
              </a:rPr>
              <a:t>Examples</a:t>
            </a:r>
            <a:br>
              <a:rPr lang="en-US" dirty="0"/>
            </a:br>
            <a:endParaRPr lang="en-US" dirty="0"/>
          </a:p>
        </p:txBody>
      </p:sp>
      <p:sp>
        <p:nvSpPr>
          <p:cNvPr id="3" name="Content Placeholder 2">
            <a:extLst>
              <a:ext uri="{FF2B5EF4-FFF2-40B4-BE49-F238E27FC236}">
                <a16:creationId xmlns:a16="http://schemas.microsoft.com/office/drawing/2014/main" id="{153F28E7-634E-4C0C-8480-468349FF1D81}"/>
              </a:ext>
            </a:extLst>
          </p:cNvPr>
          <p:cNvSpPr>
            <a:spLocks noGrp="1"/>
          </p:cNvSpPr>
          <p:nvPr>
            <p:ph idx="1"/>
          </p:nvPr>
        </p:nvSpPr>
        <p:spPr>
          <a:xfrm>
            <a:off x="203200" y="1349828"/>
            <a:ext cx="11988800" cy="5106656"/>
          </a:xfrm>
        </p:spPr>
        <p:txBody>
          <a:bodyPr>
            <a:normAutofit/>
          </a:bodyPr>
          <a:lstStyle/>
          <a:p>
            <a:r>
              <a:rPr lang="en-US" sz="2400" b="1" u="sng" dirty="0">
                <a:solidFill>
                  <a:srgbClr val="FF0000"/>
                </a:solidFill>
              </a:rPr>
              <a:t>Example 1</a:t>
            </a:r>
            <a:endParaRPr lang="en-US" sz="2400" dirty="0">
              <a:solidFill>
                <a:srgbClr val="FF0000"/>
              </a:solidFill>
            </a:endParaRPr>
          </a:p>
          <a:p>
            <a:pPr marL="0" indent="0">
              <a:buNone/>
            </a:pPr>
            <a:r>
              <a:rPr lang="en-US" sz="2400" dirty="0"/>
              <a:t>If you have used </a:t>
            </a:r>
            <a:r>
              <a:rPr lang="en-US" sz="2400" dirty="0">
                <a:solidFill>
                  <a:srgbClr val="00B0F0"/>
                </a:solidFill>
              </a:rPr>
              <a:t>Netflix</a:t>
            </a:r>
            <a:r>
              <a:rPr lang="en-US" sz="2400" dirty="0"/>
              <a:t>, then you must know that it recommends you some movies or shows for watching based on what you have watched earlier. Machine Learning is used for this recommendation and to select the data which matches your choice. It uses the earlier data.</a:t>
            </a:r>
          </a:p>
          <a:p>
            <a:r>
              <a:rPr lang="en-US" sz="2400" b="1" u="sng" dirty="0">
                <a:solidFill>
                  <a:srgbClr val="FF0000"/>
                </a:solidFill>
              </a:rPr>
              <a:t>Example 2</a:t>
            </a:r>
            <a:endParaRPr lang="en-US" sz="2400" dirty="0">
              <a:solidFill>
                <a:srgbClr val="FF0000"/>
              </a:solidFill>
            </a:endParaRPr>
          </a:p>
          <a:p>
            <a:pPr marL="0" indent="0">
              <a:buNone/>
            </a:pPr>
            <a:r>
              <a:rPr lang="en-US" sz="2400" dirty="0"/>
              <a:t>The second example would be </a:t>
            </a:r>
            <a:r>
              <a:rPr lang="en-US" sz="2400" dirty="0">
                <a:solidFill>
                  <a:srgbClr val="00B0F0"/>
                </a:solidFill>
              </a:rPr>
              <a:t>Facebook</a:t>
            </a:r>
            <a:r>
              <a:rPr lang="en-US" sz="2400" dirty="0"/>
              <a:t>.</a:t>
            </a:r>
          </a:p>
          <a:p>
            <a:pPr marL="0" indent="0">
              <a:buNone/>
            </a:pPr>
            <a:r>
              <a:rPr lang="en-US" sz="2400" dirty="0"/>
              <a:t>When you upload a photo on Facebook, it can recognize a person in that photo and suggest you, mutual friends. ML is used for these predictions. It uses data like your friend-list, photos available etc. and it makes predictions based on that.</a:t>
            </a:r>
          </a:p>
          <a:p>
            <a:r>
              <a:rPr lang="en-US" sz="2400" b="1" u="sng" dirty="0">
                <a:solidFill>
                  <a:srgbClr val="FF0000"/>
                </a:solidFill>
              </a:rPr>
              <a:t>Example 3</a:t>
            </a:r>
            <a:endParaRPr lang="en-US" sz="2400" dirty="0">
              <a:solidFill>
                <a:srgbClr val="FF0000"/>
              </a:solidFill>
            </a:endParaRPr>
          </a:p>
          <a:p>
            <a:pPr marL="0" indent="0">
              <a:buNone/>
            </a:pPr>
            <a:r>
              <a:rPr lang="en-US" sz="2400" dirty="0"/>
              <a:t>The third example is Software, which shows how you will look </a:t>
            </a:r>
            <a:r>
              <a:rPr lang="en-US" sz="2400" dirty="0">
                <a:solidFill>
                  <a:srgbClr val="00B0F0"/>
                </a:solidFill>
              </a:rPr>
              <a:t>when you get older</a:t>
            </a:r>
            <a:r>
              <a:rPr lang="en-US" sz="2400" dirty="0"/>
              <a:t>. This </a:t>
            </a:r>
            <a:r>
              <a:rPr lang="en-US" sz="2400" u="sng" dirty="0">
                <a:hlinkClick r:id="rId2"/>
              </a:rPr>
              <a:t>image processing</a:t>
            </a:r>
            <a:r>
              <a:rPr lang="en-US" sz="2400" dirty="0"/>
              <a:t> also uses machine learning.</a:t>
            </a:r>
          </a:p>
          <a:p>
            <a:endParaRPr lang="en-US" sz="2400" dirty="0"/>
          </a:p>
        </p:txBody>
      </p:sp>
    </p:spTree>
    <p:extLst>
      <p:ext uri="{BB962C8B-B14F-4D97-AF65-F5344CB8AC3E}">
        <p14:creationId xmlns:p14="http://schemas.microsoft.com/office/powerpoint/2010/main" val="19398616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0459" y="193041"/>
            <a:ext cx="10511175" cy="1174495"/>
          </a:xfrm>
          <a:noFill/>
        </p:spPr>
        <p:style>
          <a:lnRef idx="0">
            <a:schemeClr val="accent4"/>
          </a:lnRef>
          <a:fillRef idx="3">
            <a:schemeClr val="accent4"/>
          </a:fillRef>
          <a:effectRef idx="3">
            <a:schemeClr val="accent4"/>
          </a:effectRef>
          <a:fontRef idx="minor">
            <a:schemeClr val="lt1"/>
          </a:fontRef>
        </p:style>
        <p:txBody>
          <a:bodyPr>
            <a:noAutofit/>
          </a:bodyPr>
          <a:lstStyle/>
          <a:p>
            <a:r>
              <a:rPr lang="en-US" sz="6000" b="1" cap="none" dirty="0">
                <a:solidFill>
                  <a:srgbClr val="FFC000"/>
                </a:solidFill>
                <a:ea typeface="Tahoma" panose="020B0604030504040204" pitchFamily="34" charset="0"/>
              </a:rPr>
              <a:t>Machine Learning Workflow</a:t>
            </a:r>
          </a:p>
        </p:txBody>
      </p:sp>
      <p:pic>
        <p:nvPicPr>
          <p:cNvPr id="6" name="Content Placeholder 5"/>
          <p:cNvPicPr>
            <a:picLocks noGrp="1" noChangeAspect="1"/>
          </p:cNvPicPr>
          <p:nvPr>
            <p:ph idx="1"/>
          </p:nvPr>
        </p:nvPicPr>
        <p:blipFill>
          <a:blip r:embed="rId2"/>
          <a:stretch>
            <a:fillRect/>
          </a:stretch>
        </p:blipFill>
        <p:spPr>
          <a:xfrm>
            <a:off x="2079523" y="1615752"/>
            <a:ext cx="8153048" cy="5049207"/>
          </a:xfrm>
          <a:prstGeom prst="rect">
            <a:avLst/>
          </a:prstGeom>
        </p:spPr>
      </p:pic>
    </p:spTree>
    <p:extLst>
      <p:ext uri="{BB962C8B-B14F-4D97-AF65-F5344CB8AC3E}">
        <p14:creationId xmlns:p14="http://schemas.microsoft.com/office/powerpoint/2010/main" val="2621439978"/>
      </p:ext>
    </p:extLst>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750" fill="hold"/>
                                        <p:tgtEl>
                                          <p:spTgt spid="6"/>
                                        </p:tgtEl>
                                        <p:attrNameLst>
                                          <p:attrName>ppt_w</p:attrName>
                                        </p:attrNameLst>
                                      </p:cBhvr>
                                      <p:tavLst>
                                        <p:tav tm="0">
                                          <p:val>
                                            <p:fltVal val="0"/>
                                          </p:val>
                                        </p:tav>
                                        <p:tav tm="100000">
                                          <p:val>
                                            <p:strVal val="#ppt_w"/>
                                          </p:val>
                                        </p:tav>
                                      </p:tavLst>
                                    </p:anim>
                                    <p:anim calcmode="lin" valueType="num">
                                      <p:cBhvr>
                                        <p:cTn id="8" dur="750" fill="hold"/>
                                        <p:tgtEl>
                                          <p:spTgt spid="6"/>
                                        </p:tgtEl>
                                        <p:attrNameLst>
                                          <p:attrName>ppt_h</p:attrName>
                                        </p:attrNameLst>
                                      </p:cBhvr>
                                      <p:tavLst>
                                        <p:tav tm="0">
                                          <p:val>
                                            <p:fltVal val="0"/>
                                          </p:val>
                                        </p:tav>
                                        <p:tav tm="100000">
                                          <p:val>
                                            <p:strVal val="#ppt_h"/>
                                          </p:val>
                                        </p:tav>
                                      </p:tavLst>
                                    </p:anim>
                                    <p:animEffect transition="in" filter="fade">
                                      <p:cBhvr>
                                        <p:cTn id="9" dur="7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108" y="-274777"/>
            <a:ext cx="10515600" cy="1325563"/>
          </a:xfrm>
          <a:noFill/>
        </p:spPr>
        <p:style>
          <a:lnRef idx="0">
            <a:schemeClr val="accent4"/>
          </a:lnRef>
          <a:fillRef idx="3">
            <a:schemeClr val="accent4"/>
          </a:fillRef>
          <a:effectRef idx="3">
            <a:schemeClr val="accent4"/>
          </a:effectRef>
          <a:fontRef idx="minor">
            <a:schemeClr val="lt1"/>
          </a:fontRef>
        </p:style>
        <p:txBody>
          <a:bodyPr vert="horz" lIns="91440" tIns="45720" rIns="91440" bIns="45720" rtlCol="0" anchor="ctr">
            <a:noAutofit/>
          </a:bodyPr>
          <a:lstStyle/>
          <a:p>
            <a:pPr algn="ctr"/>
            <a:r>
              <a:rPr lang="en-US" sz="4400" b="1" cap="none" dirty="0">
                <a:solidFill>
                  <a:srgbClr val="FFC000"/>
                </a:solidFill>
                <a:ea typeface="Tahoma" panose="020B0604030504040204" pitchFamily="34" charset="0"/>
              </a:rPr>
              <a:t>Machine Learning </a:t>
            </a:r>
            <a:r>
              <a:rPr lang="en-US" sz="4400" b="1" cap="none" dirty="0">
                <a:solidFill>
                  <a:srgbClr val="00B0F0"/>
                </a:solidFill>
                <a:ea typeface="Tahoma" panose="020B0604030504040204" pitchFamily="34" charset="0"/>
              </a:rPr>
              <a:t>Tasks</a:t>
            </a:r>
          </a:p>
        </p:txBody>
      </p:sp>
      <p:sp>
        <p:nvSpPr>
          <p:cNvPr id="3" name="Content Placeholder 2"/>
          <p:cNvSpPr>
            <a:spLocks noGrp="1"/>
          </p:cNvSpPr>
          <p:nvPr>
            <p:ph idx="1"/>
          </p:nvPr>
        </p:nvSpPr>
        <p:spPr>
          <a:xfrm>
            <a:off x="207686" y="1258602"/>
            <a:ext cx="11776627" cy="4671144"/>
          </a:xfrm>
        </p:spPr>
        <p:txBody>
          <a:bodyPr>
            <a:noAutofit/>
          </a:bodyPr>
          <a:lstStyle/>
          <a:p>
            <a:pPr marL="0" indent="0">
              <a:buNone/>
            </a:pPr>
            <a:endParaRPr lang="en-US" sz="100" b="1" dirty="0">
              <a:latin typeface="Tahoma" panose="020B0604030504040204" pitchFamily="34" charset="0"/>
              <a:ea typeface="Tahoma" panose="020B0604030504040204" pitchFamily="34" charset="0"/>
              <a:cs typeface="Tahoma" panose="020B0604030504040204" pitchFamily="34" charset="0"/>
            </a:endParaRPr>
          </a:p>
          <a:p>
            <a:pPr marL="396875" indent="-279400">
              <a:buNone/>
            </a:pPr>
            <a:r>
              <a:rPr lang="en-US" sz="2400" b="1" dirty="0">
                <a:solidFill>
                  <a:srgbClr val="0000FF"/>
                </a:solidFill>
              </a:rPr>
              <a:t>1</a:t>
            </a:r>
            <a:r>
              <a:rPr lang="en-US" sz="1800" b="1" dirty="0">
                <a:solidFill>
                  <a:srgbClr val="0000FF"/>
                </a:solidFill>
              </a:rPr>
              <a:t>. </a:t>
            </a:r>
            <a:r>
              <a:rPr lang="en-US" sz="2400" b="1" dirty="0">
                <a:solidFill>
                  <a:srgbClr val="0000FF"/>
                </a:solidFill>
              </a:rPr>
              <a:t>Classification</a:t>
            </a:r>
            <a:r>
              <a:rPr lang="en-US" sz="2400" dirty="0">
                <a:solidFill>
                  <a:srgbClr val="FF0000"/>
                </a:solidFill>
              </a:rPr>
              <a:t>: predict a class of an object </a:t>
            </a:r>
            <a:r>
              <a:rPr lang="en-US" sz="2400" dirty="0"/>
              <a:t>(cat/dog from an image, male/female from user’s web activity, spam/ham from an email contents, </a:t>
            </a:r>
            <a:r>
              <a:rPr lang="en-US" sz="2400" dirty="0" err="1"/>
              <a:t>etc</a:t>
            </a:r>
            <a:r>
              <a:rPr lang="en-US" sz="2400" dirty="0"/>
              <a:t>) </a:t>
            </a:r>
          </a:p>
          <a:p>
            <a:pPr marL="350838" indent="-233363">
              <a:buNone/>
            </a:pPr>
            <a:r>
              <a:rPr lang="en-US" sz="2400" b="1" dirty="0">
                <a:solidFill>
                  <a:srgbClr val="0000FF"/>
                </a:solidFill>
              </a:rPr>
              <a:t>2. Regression</a:t>
            </a:r>
            <a:r>
              <a:rPr lang="en-US" sz="2400" dirty="0">
                <a:solidFill>
                  <a:srgbClr val="0000FF"/>
                </a:solidFill>
              </a:rPr>
              <a:t>: </a:t>
            </a:r>
            <a:r>
              <a:rPr lang="en-US" sz="2400" dirty="0">
                <a:solidFill>
                  <a:srgbClr val="FF0000"/>
                </a:solidFill>
              </a:rPr>
              <a:t>predict a</a:t>
            </a:r>
            <a:r>
              <a:rPr lang="en-US" sz="2400" dirty="0"/>
              <a:t> </a:t>
            </a:r>
            <a:r>
              <a:rPr lang="en-US" sz="2400" dirty="0">
                <a:solidFill>
                  <a:srgbClr val="FF0000"/>
                </a:solidFill>
              </a:rPr>
              <a:t>continuous value for an object</a:t>
            </a:r>
            <a:r>
              <a:rPr lang="en-US" sz="2400" dirty="0"/>
              <a:t> (sales in the next month, price of a house with specific features, energy consumption for a household, </a:t>
            </a:r>
            <a:r>
              <a:rPr lang="en-US" sz="2400" dirty="0" err="1"/>
              <a:t>etc</a:t>
            </a:r>
            <a:r>
              <a:rPr lang="en-US" sz="2400" dirty="0"/>
              <a:t>) </a:t>
            </a:r>
          </a:p>
          <a:p>
            <a:pPr marL="350838">
              <a:buAutoNum type="arabicPeriod" startAt="3"/>
            </a:pPr>
            <a:r>
              <a:rPr lang="en-US" sz="2400" b="1" dirty="0">
                <a:solidFill>
                  <a:srgbClr val="0000FF"/>
                </a:solidFill>
              </a:rPr>
              <a:t>Clustering: </a:t>
            </a:r>
            <a:r>
              <a:rPr lang="en-US" sz="2400" dirty="0">
                <a:solidFill>
                  <a:srgbClr val="FF0000"/>
                </a:solidFill>
              </a:rPr>
              <a:t>group similar objects togethe</a:t>
            </a:r>
            <a:r>
              <a:rPr lang="en-US" sz="2400" dirty="0"/>
              <a:t>r (find user groups different by their behavior on the site, cluster customers into meaningful groups, </a:t>
            </a:r>
            <a:r>
              <a:rPr lang="en-US" sz="2400" dirty="0" err="1"/>
              <a:t>etc</a:t>
            </a:r>
            <a:r>
              <a:rPr lang="en-US" sz="2400" dirty="0"/>
              <a:t>).</a:t>
            </a:r>
          </a:p>
          <a:p>
            <a:pPr marL="396875" indent="-279400">
              <a:buAutoNum type="arabicPeriod" startAt="3"/>
            </a:pPr>
            <a:r>
              <a:rPr lang="en-US" sz="2400" b="1" dirty="0">
                <a:solidFill>
                  <a:srgbClr val="0000FF"/>
                </a:solidFill>
              </a:rPr>
              <a:t>Dimensionality reduction:</a:t>
            </a:r>
            <a:r>
              <a:rPr lang="en-US" sz="2400" dirty="0"/>
              <a:t> “compress” the data from a </a:t>
            </a:r>
            <a:r>
              <a:rPr lang="en-US" sz="2400" dirty="0">
                <a:solidFill>
                  <a:srgbClr val="FF0000"/>
                </a:solidFill>
              </a:rPr>
              <a:t>high-dimensional representation into a lower-dimensional </a:t>
            </a:r>
            <a:r>
              <a:rPr lang="en-US" sz="2400" dirty="0"/>
              <a:t>one (useful for visualization or as an internal transformation for other ML algorithms)</a:t>
            </a:r>
          </a:p>
          <a:p>
            <a:pPr marL="466725" indent="-466725">
              <a:buNone/>
            </a:pPr>
            <a:endParaRPr lang="en-US" sz="100" dirty="0"/>
          </a:p>
          <a:p>
            <a:pPr marL="457200" indent="-457200">
              <a:buNone/>
            </a:pPr>
            <a:r>
              <a:rPr lang="en-US" sz="2400" dirty="0"/>
              <a:t> </a:t>
            </a:r>
            <a:r>
              <a:rPr lang="en-US" sz="2400" b="1" dirty="0">
                <a:solidFill>
                  <a:srgbClr val="0000FF"/>
                </a:solidFill>
              </a:rPr>
              <a:t>5. Ranking: </a:t>
            </a:r>
            <a:r>
              <a:rPr lang="en-US" sz="2400" dirty="0">
                <a:solidFill>
                  <a:srgbClr val="FF0000"/>
                </a:solidFill>
              </a:rPr>
              <a:t>arrange a list of objects </a:t>
            </a:r>
            <a:r>
              <a:rPr lang="en-US" sz="2400" dirty="0"/>
              <a:t>to maximize some utility</a:t>
            </a:r>
          </a:p>
          <a:p>
            <a:pPr marL="457200" indent="-457200">
              <a:buNone/>
            </a:pPr>
            <a:endParaRPr lang="en-US" sz="100" dirty="0"/>
          </a:p>
          <a:p>
            <a:pPr marL="288925">
              <a:buNone/>
            </a:pPr>
            <a:r>
              <a:rPr lang="en-US" sz="2400" b="1" dirty="0">
                <a:solidFill>
                  <a:srgbClr val="0000FF"/>
                </a:solidFill>
              </a:rPr>
              <a:t>6. Recommendations: </a:t>
            </a:r>
            <a:r>
              <a:rPr lang="en-US" sz="2400" dirty="0">
                <a:solidFill>
                  <a:srgbClr val="FF0000"/>
                </a:solidFill>
              </a:rPr>
              <a:t>filter a small subset of objects </a:t>
            </a:r>
            <a:r>
              <a:rPr lang="en-US" sz="2400" dirty="0"/>
              <a:t>from a large collection </a:t>
            </a:r>
            <a:r>
              <a:rPr lang="en-US" sz="2400" dirty="0">
                <a:solidFill>
                  <a:srgbClr val="FF0000"/>
                </a:solidFill>
              </a:rPr>
              <a:t>and recommend them to </a:t>
            </a:r>
            <a:r>
              <a:rPr lang="en-US" sz="2400" dirty="0"/>
              <a:t>a user (</a:t>
            </a:r>
            <a:r>
              <a:rPr lang="ar-EG" sz="2400" dirty="0"/>
              <a:t> </a:t>
            </a:r>
            <a:r>
              <a:rPr lang="en-US" sz="2400" dirty="0"/>
              <a:t>e.g. </a:t>
            </a:r>
            <a:r>
              <a:rPr lang="en-US" sz="2400" b="1" dirty="0">
                <a:solidFill>
                  <a:srgbClr val="FFC000"/>
                </a:solidFill>
              </a:rPr>
              <a:t>Netflix</a:t>
            </a:r>
            <a:r>
              <a:rPr lang="en-US" sz="2400" dirty="0"/>
              <a:t> , increase sales and client loyalty, time spent on a service, cross-sale/up-sale, </a:t>
            </a:r>
            <a:r>
              <a:rPr lang="en-US" sz="2400" dirty="0" err="1"/>
              <a:t>etc</a:t>
            </a:r>
            <a:r>
              <a:rPr lang="en-US" sz="2400" dirty="0"/>
              <a:t>).</a:t>
            </a:r>
          </a:p>
          <a:p>
            <a:pPr marL="117475" indent="0">
              <a:buNone/>
            </a:pPr>
            <a:endParaRPr lang="en-US" sz="1800" dirty="0"/>
          </a:p>
        </p:txBody>
      </p:sp>
    </p:spTree>
    <p:extLst>
      <p:ext uri="{BB962C8B-B14F-4D97-AF65-F5344CB8AC3E}">
        <p14:creationId xmlns:p14="http://schemas.microsoft.com/office/powerpoint/2010/main" val="2774560229"/>
      </p:ext>
    </p:extLst>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up)">
                                      <p:cBhvr>
                                        <p:cTn id="10" dur="500"/>
                                        <p:tgtEl>
                                          <p:spTgt spid="3">
                                            <p:txEl>
                                              <p:pRg st="2" end="2"/>
                                            </p:tx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up)">
                                      <p:cBhvr>
                                        <p:cTn id="13" dur="500"/>
                                        <p:tgtEl>
                                          <p:spTgt spid="3">
                                            <p:txEl>
                                              <p:pRg st="3" end="3"/>
                                            </p:txEl>
                                          </p:spTgt>
                                        </p:tgtEl>
                                      </p:cBhvr>
                                    </p:animEffect>
                                  </p:childTnLst>
                                </p:cTn>
                              </p:par>
                              <p:par>
                                <p:cTn id="14" presetID="22" presetClass="entr" presetSubtype="1"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wipe(up)">
                                      <p:cBhvr>
                                        <p:cTn id="16" dur="500"/>
                                        <p:tgtEl>
                                          <p:spTgt spid="3">
                                            <p:txEl>
                                              <p:pRg st="4" end="4"/>
                                            </p:txEl>
                                          </p:spTgt>
                                        </p:tgtEl>
                                      </p:cBhvr>
                                    </p:animEffect>
                                  </p:childTnLst>
                                </p:cTn>
                              </p:par>
                              <p:par>
                                <p:cTn id="17" presetID="22" presetClass="entr" presetSubtype="1"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wipe(up)">
                                      <p:cBhvr>
                                        <p:cTn id="19" dur="500"/>
                                        <p:tgtEl>
                                          <p:spTgt spid="3">
                                            <p:txEl>
                                              <p:pRg st="6" end="6"/>
                                            </p:txEl>
                                          </p:spTgt>
                                        </p:tgtEl>
                                      </p:cBhvr>
                                    </p:animEffect>
                                  </p:childTnLst>
                                </p:cTn>
                              </p:par>
                              <p:par>
                                <p:cTn id="20" presetID="22" presetClass="entr" presetSubtype="1" fill="hold" nodeType="with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wipe(up)">
                                      <p:cBhvr>
                                        <p:cTn id="2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9021" y="0"/>
            <a:ext cx="8610600" cy="1293028"/>
          </a:xfrm>
        </p:spPr>
        <p:txBody>
          <a:bodyPr>
            <a:noAutofit/>
          </a:bodyPr>
          <a:lstStyle/>
          <a:p>
            <a:pPr algn="ctr"/>
            <a:r>
              <a:rPr lang="en-US" altLang="en-US" sz="2800" b="1" cap="none" dirty="0">
                <a:solidFill>
                  <a:srgbClr val="00B0F0"/>
                </a:solidFill>
                <a:ea typeface="Calibri" panose="020F0502020204030204" pitchFamily="34" charset="0"/>
              </a:rPr>
              <a:t>5.3</a:t>
            </a:r>
            <a:r>
              <a:rPr lang="en-US" altLang="en-US" sz="2800" b="1" cap="none" dirty="0">
                <a:solidFill>
                  <a:srgbClr val="FFC000"/>
                </a:solidFill>
                <a:ea typeface="Calibri" panose="020F0502020204030204" pitchFamily="34" charset="0"/>
              </a:rPr>
              <a:t> Learning Decision Trees</a:t>
            </a:r>
            <a:br>
              <a:rPr lang="en-US" altLang="en-US" sz="2800" b="1" cap="none" dirty="0">
                <a:solidFill>
                  <a:srgbClr val="FFC000"/>
                </a:solidFill>
                <a:ea typeface="Calibri" panose="020F0502020204030204" pitchFamily="34" charset="0"/>
              </a:rPr>
            </a:br>
            <a:r>
              <a:rPr lang="en-US" altLang="en-US" sz="2800" b="1" cap="none" dirty="0">
                <a:solidFill>
                  <a:srgbClr val="FFC000"/>
                </a:solidFill>
                <a:ea typeface="Calibri" panose="020F0502020204030204" pitchFamily="34" charset="0"/>
              </a:rPr>
              <a:t>(</a:t>
            </a:r>
            <a:r>
              <a:rPr lang="en-US" sz="2800" b="1" cap="none" dirty="0">
                <a:solidFill>
                  <a:srgbClr val="00B0F0"/>
                </a:solidFill>
              </a:rPr>
              <a:t>Boolean Classification Technique</a:t>
            </a:r>
            <a:r>
              <a:rPr lang="en-US" altLang="en-US" sz="2800" b="1" cap="none" dirty="0">
                <a:solidFill>
                  <a:srgbClr val="FFC000"/>
                </a:solidFill>
                <a:ea typeface="Calibri" panose="020F0502020204030204" pitchFamily="34" charset="0"/>
              </a:rPr>
              <a:t>)</a:t>
            </a:r>
            <a:br>
              <a:rPr lang="en-US" altLang="en-US" sz="2800" cap="none" dirty="0">
                <a:solidFill>
                  <a:srgbClr val="FFC000"/>
                </a:solidFill>
              </a:rPr>
            </a:br>
            <a:endParaRPr lang="en-US" sz="2800" dirty="0">
              <a:solidFill>
                <a:srgbClr val="FFC000"/>
              </a:solidFill>
            </a:endParaRPr>
          </a:p>
        </p:txBody>
      </p:sp>
      <p:sp>
        <p:nvSpPr>
          <p:cNvPr id="3" name="Content Placeholder 2"/>
          <p:cNvSpPr>
            <a:spLocks noGrp="1"/>
          </p:cNvSpPr>
          <p:nvPr>
            <p:ph idx="1"/>
          </p:nvPr>
        </p:nvSpPr>
        <p:spPr>
          <a:xfrm>
            <a:off x="96983" y="914400"/>
            <a:ext cx="11952448" cy="4388315"/>
          </a:xfrm>
        </p:spPr>
        <p:txBody>
          <a:bodyPr>
            <a:noAutofit/>
          </a:bodyPr>
          <a:lstStyle/>
          <a:p>
            <a:pPr algn="just"/>
            <a:r>
              <a:rPr lang="en-US" sz="2400" dirty="0"/>
              <a:t>Decision Trees (DTs) are a non-parametric </a:t>
            </a:r>
            <a:r>
              <a:rPr lang="en-US" sz="2400" b="1" u="sng" dirty="0">
                <a:solidFill>
                  <a:srgbClr val="FFC000"/>
                </a:solidFill>
              </a:rPr>
              <a:t>supervised learning method </a:t>
            </a:r>
            <a:r>
              <a:rPr lang="en-US" sz="2400" dirty="0"/>
              <a:t>used for classification and regression.</a:t>
            </a:r>
            <a:endParaRPr lang="ar-EG" sz="2400" dirty="0"/>
          </a:p>
          <a:p>
            <a:pPr algn="just"/>
            <a:r>
              <a:rPr lang="en-US" sz="2400" dirty="0"/>
              <a:t>A decision tree represents </a:t>
            </a:r>
            <a:r>
              <a:rPr lang="en-US" sz="2400" b="1" dirty="0">
                <a:solidFill>
                  <a:srgbClr val="FF0000"/>
                </a:solidFill>
              </a:rPr>
              <a:t>a function that takes as input a vector of attribute values and returns a “decision”</a:t>
            </a:r>
            <a:r>
              <a:rPr lang="en-US" sz="2400" dirty="0"/>
              <a:t>—a single output value. The input and output values can be discrete or continuous. </a:t>
            </a:r>
          </a:p>
          <a:p>
            <a:pPr algn="just"/>
            <a:endParaRPr lang="en-US" sz="100" dirty="0"/>
          </a:p>
          <a:p>
            <a:pPr algn="just"/>
            <a:r>
              <a:rPr lang="en-US" sz="2400" dirty="0"/>
              <a:t>For problems where the inputs have discrete values and the output has exactly two possible values; this is </a:t>
            </a:r>
            <a:r>
              <a:rPr lang="en-US" sz="2400" b="1" dirty="0">
                <a:solidFill>
                  <a:srgbClr val="00B0F0"/>
                </a:solidFill>
              </a:rPr>
              <a:t>Boolean classification</a:t>
            </a:r>
            <a:r>
              <a:rPr lang="en-US" sz="2400" dirty="0"/>
              <a:t>, where each example input will be classified as </a:t>
            </a:r>
            <a:r>
              <a:rPr lang="en-US" sz="2400" dirty="0">
                <a:solidFill>
                  <a:srgbClr val="00B0F0"/>
                </a:solidFill>
              </a:rPr>
              <a:t>true</a:t>
            </a:r>
            <a:r>
              <a:rPr lang="en-US" sz="2400" dirty="0"/>
              <a:t> (a positive example) or </a:t>
            </a:r>
            <a:r>
              <a:rPr lang="en-US" sz="2400" dirty="0">
                <a:solidFill>
                  <a:srgbClr val="00B0F0"/>
                </a:solidFill>
              </a:rPr>
              <a:t>false</a:t>
            </a:r>
            <a:r>
              <a:rPr lang="en-US" sz="2400" dirty="0"/>
              <a:t> (a negative example).</a:t>
            </a:r>
          </a:p>
          <a:p>
            <a:pPr algn="just"/>
            <a:endParaRPr lang="en-US" sz="100" dirty="0"/>
          </a:p>
          <a:p>
            <a:pPr algn="just"/>
            <a:r>
              <a:rPr lang="en-US" sz="2400" dirty="0"/>
              <a:t>A decision tree reaches its decision by </a:t>
            </a:r>
            <a:r>
              <a:rPr lang="en-US" sz="2400" b="1" dirty="0">
                <a:solidFill>
                  <a:srgbClr val="FF0000"/>
                </a:solidFill>
              </a:rPr>
              <a:t>performing a sequence of tests</a:t>
            </a:r>
            <a:r>
              <a:rPr lang="en-US" sz="2400" dirty="0"/>
              <a:t>. Each internal node in the tree corresponds to a test of the value of one of the input attributes, A</a:t>
            </a:r>
            <a:r>
              <a:rPr lang="en-US" sz="2400" baseline="-25000" dirty="0"/>
              <a:t>i</a:t>
            </a:r>
            <a:r>
              <a:rPr lang="en-US" sz="2400" dirty="0"/>
              <a:t>, and the branches from the node are labeled with the possible values of the attribute, A</a:t>
            </a:r>
            <a:r>
              <a:rPr lang="en-US" sz="2400" baseline="-25000" dirty="0"/>
              <a:t>i</a:t>
            </a:r>
            <a:r>
              <a:rPr lang="en-US" sz="2400" dirty="0"/>
              <a:t> = </a:t>
            </a:r>
            <a:r>
              <a:rPr lang="en-US" sz="2400" dirty="0" err="1"/>
              <a:t>v</a:t>
            </a:r>
            <a:r>
              <a:rPr lang="en-US" sz="2400" baseline="-25000" dirty="0" err="1"/>
              <a:t>ik</a:t>
            </a:r>
            <a:r>
              <a:rPr lang="en-US" sz="2400" dirty="0"/>
              <a:t>.</a:t>
            </a:r>
          </a:p>
          <a:p>
            <a:pPr algn="just"/>
            <a:endParaRPr lang="en-US" sz="100" dirty="0"/>
          </a:p>
          <a:p>
            <a:pPr algn="just"/>
            <a:r>
              <a:rPr lang="en-US" sz="2400" dirty="0"/>
              <a:t>Each leaf node in the tree specifies a value to be returned by the function. </a:t>
            </a:r>
          </a:p>
          <a:p>
            <a:pPr algn="just"/>
            <a:r>
              <a:rPr lang="en-US" sz="2400" dirty="0">
                <a:solidFill>
                  <a:srgbClr val="00B0F0"/>
                </a:solidFill>
              </a:rPr>
              <a:t>Visit</a:t>
            </a:r>
            <a:r>
              <a:rPr lang="en-US" sz="2400" dirty="0"/>
              <a:t>:</a:t>
            </a:r>
            <a:r>
              <a:rPr lang="ar-EG" sz="2400" dirty="0"/>
              <a:t> </a:t>
            </a:r>
            <a:r>
              <a:rPr lang="en-US" sz="2400" dirty="0">
                <a:hlinkClick r:id="rId2" action="ppaction://hlinkfile"/>
              </a:rPr>
              <a:t>Decision Tree Case Study.doc</a:t>
            </a:r>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358692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DAEF8-917A-42EF-91F2-7138A3B088BC}"/>
              </a:ext>
            </a:extLst>
          </p:cNvPr>
          <p:cNvSpPr>
            <a:spLocks noGrp="1"/>
          </p:cNvSpPr>
          <p:nvPr>
            <p:ph type="title"/>
          </p:nvPr>
        </p:nvSpPr>
        <p:spPr>
          <a:xfrm>
            <a:off x="1496290" y="-163882"/>
            <a:ext cx="8610600" cy="1293028"/>
          </a:xfrm>
        </p:spPr>
        <p:txBody>
          <a:bodyPr>
            <a:normAutofit/>
          </a:bodyPr>
          <a:lstStyle/>
          <a:p>
            <a:pPr algn="ctr"/>
            <a:r>
              <a:rPr lang="en-US" sz="3200" b="1" dirty="0">
                <a:solidFill>
                  <a:srgbClr val="FFC000"/>
                </a:solidFill>
              </a:rPr>
              <a:t>Decision Tree </a:t>
            </a:r>
            <a:r>
              <a:rPr lang="en-US" sz="3200" b="1" dirty="0">
                <a:solidFill>
                  <a:srgbClr val="00B0F0"/>
                </a:solidFill>
              </a:rPr>
              <a:t>example 1</a:t>
            </a:r>
          </a:p>
        </p:txBody>
      </p:sp>
      <p:sp>
        <p:nvSpPr>
          <p:cNvPr id="3" name="Content Placeholder 2">
            <a:extLst>
              <a:ext uri="{FF2B5EF4-FFF2-40B4-BE49-F238E27FC236}">
                <a16:creationId xmlns:a16="http://schemas.microsoft.com/office/drawing/2014/main" id="{C017B0B6-B8F1-403C-A6AE-42DA2EF4E49D}"/>
              </a:ext>
            </a:extLst>
          </p:cNvPr>
          <p:cNvSpPr>
            <a:spLocks noGrp="1"/>
          </p:cNvSpPr>
          <p:nvPr>
            <p:ph idx="1"/>
          </p:nvPr>
        </p:nvSpPr>
        <p:spPr>
          <a:xfrm>
            <a:off x="391389" y="1129146"/>
            <a:ext cx="11412683" cy="5521036"/>
          </a:xfrm>
        </p:spPr>
        <p:txBody>
          <a:bodyPr>
            <a:normAutofit/>
          </a:bodyPr>
          <a:lstStyle/>
          <a:p>
            <a:pPr marL="0" indent="0" fontAlgn="base">
              <a:buNone/>
            </a:pPr>
            <a:r>
              <a:rPr lang="en-US" sz="2800" dirty="0"/>
              <a:t>Decision Trees are excellent tools for helping you to choose between several courses of action to take a decision. </a:t>
            </a:r>
          </a:p>
          <a:p>
            <a:pPr marL="0" indent="0" fontAlgn="base">
              <a:buNone/>
            </a:pPr>
            <a:r>
              <a:rPr lang="en-US" sz="2800" b="1" dirty="0"/>
              <a:t>Consider the following case study:</a:t>
            </a:r>
            <a:endParaRPr lang="en-US" sz="2800" dirty="0"/>
          </a:p>
          <a:p>
            <a:pPr marL="0" indent="0" fontAlgn="base">
              <a:buNone/>
            </a:pPr>
            <a:r>
              <a:rPr lang="en-US" sz="2800" dirty="0"/>
              <a:t>“Assume as a factory manager, you want to take a decision either:  </a:t>
            </a:r>
          </a:p>
          <a:p>
            <a:pPr marL="0" indent="0" fontAlgn="base">
              <a:buNone/>
            </a:pPr>
            <a:r>
              <a:rPr lang="en-US" sz="2800" dirty="0"/>
              <a:t>(1) to produce a </a:t>
            </a:r>
            <a:r>
              <a:rPr lang="en-US" sz="2800" b="1" dirty="0"/>
              <a:t>new product</a:t>
            </a:r>
            <a:r>
              <a:rPr lang="en-US" sz="2800" dirty="0"/>
              <a:t> or  </a:t>
            </a:r>
          </a:p>
          <a:p>
            <a:pPr marL="0" indent="0" fontAlgn="base">
              <a:buNone/>
            </a:pPr>
            <a:r>
              <a:rPr lang="en-US" sz="2800" dirty="0"/>
              <a:t>(2) to consolidate (combine) </a:t>
            </a:r>
            <a:r>
              <a:rPr lang="ar-SA" sz="2800" b="1" dirty="0"/>
              <a:t>توطيد </a:t>
            </a:r>
            <a:r>
              <a:rPr lang="en-US" sz="2800" b="1" dirty="0"/>
              <a:t> </a:t>
            </a:r>
            <a:r>
              <a:rPr lang="en-US" sz="2800" dirty="0"/>
              <a:t>the old product of your manufacturing i.e. makes (something) physically stronger or more solid by Combining a number of things into a single more effective or coherent whole”.</a:t>
            </a:r>
          </a:p>
          <a:p>
            <a:pPr marL="0" indent="0" fontAlgn="base">
              <a:buNone/>
            </a:pPr>
            <a:r>
              <a:rPr lang="en-US" sz="2800" dirty="0"/>
              <a:t>Suppose your </a:t>
            </a:r>
            <a:r>
              <a:rPr lang="en-US" sz="2800" b="1" dirty="0"/>
              <a:t>sales </a:t>
            </a:r>
            <a:r>
              <a:rPr lang="ar-EG" sz="2800" b="1" dirty="0"/>
              <a:t>المبيعات</a:t>
            </a:r>
            <a:r>
              <a:rPr lang="en-US" sz="2800" b="1" dirty="0"/>
              <a:t>, manufacturing </a:t>
            </a:r>
            <a:r>
              <a:rPr lang="ar-SA" sz="2800" b="1" dirty="0"/>
              <a:t>التصنيع</a:t>
            </a:r>
            <a:r>
              <a:rPr lang="en-US" sz="2800" b="1" dirty="0"/>
              <a:t> </a:t>
            </a:r>
            <a:r>
              <a:rPr lang="ar-SA" sz="2800" b="1" dirty="0"/>
              <a:t>,</a:t>
            </a:r>
            <a:r>
              <a:rPr lang="en-US" sz="2800" b="1" dirty="0"/>
              <a:t> production </a:t>
            </a:r>
            <a:r>
              <a:rPr lang="ar-SA" sz="2800" b="1" dirty="0"/>
              <a:t>الانتاج </a:t>
            </a:r>
            <a:r>
              <a:rPr lang="en-US" sz="2800" b="1" dirty="0"/>
              <a:t> </a:t>
            </a:r>
            <a:r>
              <a:rPr lang="en-US" sz="2800" dirty="0"/>
              <a:t>and </a:t>
            </a:r>
            <a:r>
              <a:rPr lang="en-US" sz="2800" b="1" dirty="0"/>
              <a:t>financial departments </a:t>
            </a:r>
            <a:r>
              <a:rPr lang="ar-SA" sz="2800" b="1" dirty="0"/>
              <a:t>الادارة المالية </a:t>
            </a:r>
            <a:r>
              <a:rPr lang="en-US" sz="2800" b="1" dirty="0"/>
              <a:t> </a:t>
            </a:r>
            <a:r>
              <a:rPr lang="en-US" sz="2800" dirty="0"/>
              <a:t>feeds you with the date contained in the following table: </a:t>
            </a:r>
          </a:p>
          <a:p>
            <a:endParaRPr lang="en-US" sz="2800" dirty="0"/>
          </a:p>
        </p:txBody>
      </p:sp>
    </p:spTree>
    <p:extLst>
      <p:ext uri="{BB962C8B-B14F-4D97-AF65-F5344CB8AC3E}">
        <p14:creationId xmlns:p14="http://schemas.microsoft.com/office/powerpoint/2010/main" val="2508286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D4514-1FC6-4D8C-8263-C5A43F6FDFE3}"/>
              </a:ext>
            </a:extLst>
          </p:cNvPr>
          <p:cNvSpPr>
            <a:spLocks noGrp="1"/>
          </p:cNvSpPr>
          <p:nvPr>
            <p:ph type="title"/>
          </p:nvPr>
        </p:nvSpPr>
        <p:spPr/>
        <p:txBody>
          <a:bodyPr/>
          <a:lstStyle/>
          <a:p>
            <a:endParaRPr lang="en-US"/>
          </a:p>
        </p:txBody>
      </p:sp>
      <p:graphicFrame>
        <p:nvGraphicFramePr>
          <p:cNvPr id="11" name="Content Placeholder 10">
            <a:extLst>
              <a:ext uri="{FF2B5EF4-FFF2-40B4-BE49-F238E27FC236}">
                <a16:creationId xmlns:a16="http://schemas.microsoft.com/office/drawing/2014/main" id="{8D89D70B-C682-49EE-9390-4D0625E3A40E}"/>
              </a:ext>
            </a:extLst>
          </p:cNvPr>
          <p:cNvGraphicFramePr>
            <a:graphicFrameLocks noGrp="1"/>
          </p:cNvGraphicFramePr>
          <p:nvPr>
            <p:ph idx="1"/>
            <p:extLst>
              <p:ext uri="{D42A27DB-BD31-4B8C-83A1-F6EECF244321}">
                <p14:modId xmlns:p14="http://schemas.microsoft.com/office/powerpoint/2010/main" val="1882107526"/>
              </p:ext>
            </p:extLst>
          </p:nvPr>
        </p:nvGraphicFramePr>
        <p:xfrm>
          <a:off x="484910" y="374073"/>
          <a:ext cx="11021288" cy="6220971"/>
        </p:xfrm>
        <a:graphic>
          <a:graphicData uri="http://schemas.openxmlformats.org/drawingml/2006/table">
            <a:tbl>
              <a:tblPr firstRow="1" firstCol="1" bandRow="1">
                <a:tableStyleId>{5C22544A-7EE6-4342-B048-85BDC9FD1C3A}</a:tableStyleId>
              </a:tblPr>
              <a:tblGrid>
                <a:gridCol w="1148234">
                  <a:extLst>
                    <a:ext uri="{9D8B030D-6E8A-4147-A177-3AD203B41FA5}">
                      <a16:colId xmlns:a16="http://schemas.microsoft.com/office/drawing/2014/main" val="1912529644"/>
                    </a:ext>
                  </a:extLst>
                </a:gridCol>
                <a:gridCol w="1148234">
                  <a:extLst>
                    <a:ext uri="{9D8B030D-6E8A-4147-A177-3AD203B41FA5}">
                      <a16:colId xmlns:a16="http://schemas.microsoft.com/office/drawing/2014/main" val="3322763063"/>
                    </a:ext>
                  </a:extLst>
                </a:gridCol>
                <a:gridCol w="1019669">
                  <a:extLst>
                    <a:ext uri="{9D8B030D-6E8A-4147-A177-3AD203B41FA5}">
                      <a16:colId xmlns:a16="http://schemas.microsoft.com/office/drawing/2014/main" val="3428235039"/>
                    </a:ext>
                  </a:extLst>
                </a:gridCol>
                <a:gridCol w="1072869">
                  <a:extLst>
                    <a:ext uri="{9D8B030D-6E8A-4147-A177-3AD203B41FA5}">
                      <a16:colId xmlns:a16="http://schemas.microsoft.com/office/drawing/2014/main" val="562998774"/>
                    </a:ext>
                  </a:extLst>
                </a:gridCol>
                <a:gridCol w="1072869">
                  <a:extLst>
                    <a:ext uri="{9D8B030D-6E8A-4147-A177-3AD203B41FA5}">
                      <a16:colId xmlns:a16="http://schemas.microsoft.com/office/drawing/2014/main" val="3939578949"/>
                    </a:ext>
                  </a:extLst>
                </a:gridCol>
                <a:gridCol w="1072869">
                  <a:extLst>
                    <a:ext uri="{9D8B030D-6E8A-4147-A177-3AD203B41FA5}">
                      <a16:colId xmlns:a16="http://schemas.microsoft.com/office/drawing/2014/main" val="4177887278"/>
                    </a:ext>
                  </a:extLst>
                </a:gridCol>
                <a:gridCol w="975336">
                  <a:extLst>
                    <a:ext uri="{9D8B030D-6E8A-4147-A177-3AD203B41FA5}">
                      <a16:colId xmlns:a16="http://schemas.microsoft.com/office/drawing/2014/main" val="3359634865"/>
                    </a:ext>
                  </a:extLst>
                </a:gridCol>
                <a:gridCol w="877802">
                  <a:extLst>
                    <a:ext uri="{9D8B030D-6E8A-4147-A177-3AD203B41FA5}">
                      <a16:colId xmlns:a16="http://schemas.microsoft.com/office/drawing/2014/main" val="1779503690"/>
                    </a:ext>
                  </a:extLst>
                </a:gridCol>
                <a:gridCol w="877802">
                  <a:extLst>
                    <a:ext uri="{9D8B030D-6E8A-4147-A177-3AD203B41FA5}">
                      <a16:colId xmlns:a16="http://schemas.microsoft.com/office/drawing/2014/main" val="4186557776"/>
                    </a:ext>
                  </a:extLst>
                </a:gridCol>
                <a:gridCol w="877802">
                  <a:extLst>
                    <a:ext uri="{9D8B030D-6E8A-4147-A177-3AD203B41FA5}">
                      <a16:colId xmlns:a16="http://schemas.microsoft.com/office/drawing/2014/main" val="2201167912"/>
                    </a:ext>
                  </a:extLst>
                </a:gridCol>
                <a:gridCol w="877802">
                  <a:extLst>
                    <a:ext uri="{9D8B030D-6E8A-4147-A177-3AD203B41FA5}">
                      <a16:colId xmlns:a16="http://schemas.microsoft.com/office/drawing/2014/main" val="4146746585"/>
                    </a:ext>
                  </a:extLst>
                </a:gridCol>
              </a:tblGrid>
              <a:tr h="1520366">
                <a:tc>
                  <a:txBody>
                    <a:bodyPr/>
                    <a:lstStyle/>
                    <a:p>
                      <a:pPr marL="0" marR="0" algn="ctr">
                        <a:lnSpc>
                          <a:spcPct val="115000"/>
                        </a:lnSpc>
                        <a:spcBef>
                          <a:spcPts val="0"/>
                        </a:spcBef>
                        <a:spcAft>
                          <a:spcPts val="0"/>
                        </a:spcAft>
                        <a:tabLst>
                          <a:tab pos="425450" algn="l"/>
                          <a:tab pos="621665" algn="l"/>
                        </a:tabLst>
                      </a:pPr>
                      <a:r>
                        <a:rPr lang="en-US" sz="1000">
                          <a:effectLst/>
                        </a:rPr>
                        <a:t>Decision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15000"/>
                        </a:lnSpc>
                        <a:spcBef>
                          <a:spcPts val="0"/>
                        </a:spcBef>
                        <a:spcAft>
                          <a:spcPts val="0"/>
                        </a:spcAft>
                      </a:pPr>
                      <a:r>
                        <a:rPr lang="en-US" sz="1000">
                          <a:effectLst/>
                        </a:rPr>
                        <a:t>Possibility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15000"/>
                        </a:lnSpc>
                        <a:spcBef>
                          <a:spcPts val="0"/>
                        </a:spcBef>
                        <a:spcAft>
                          <a:spcPts val="0"/>
                        </a:spcAft>
                      </a:pPr>
                      <a:r>
                        <a:rPr lang="en-US" sz="1000">
                          <a:effectLst/>
                        </a:rPr>
                        <a:t>Evaluation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gridSpan="2">
                  <a:txBody>
                    <a:bodyPr/>
                    <a:lstStyle/>
                    <a:p>
                      <a:pPr marL="0" marR="0" algn="ctr">
                        <a:lnSpc>
                          <a:spcPct val="115000"/>
                        </a:lnSpc>
                        <a:spcBef>
                          <a:spcPts val="0"/>
                        </a:spcBef>
                        <a:spcAft>
                          <a:spcPts val="0"/>
                        </a:spcAft>
                      </a:pPr>
                      <a:r>
                        <a:rPr lang="en-US" sz="1000">
                          <a:effectLst/>
                        </a:rPr>
                        <a:t>Probability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hMerge="1">
                  <a:txBody>
                    <a:bodyPr/>
                    <a:lstStyle/>
                    <a:p>
                      <a:endParaRPr lang="en-US"/>
                    </a:p>
                  </a:txBody>
                  <a:tcPr/>
                </a:tc>
                <a:tc>
                  <a:txBody>
                    <a:bodyPr/>
                    <a:lstStyle/>
                    <a:p>
                      <a:pPr marL="0" marR="0" algn="ctr">
                        <a:lnSpc>
                          <a:spcPct val="115000"/>
                        </a:lnSpc>
                        <a:spcBef>
                          <a:spcPts val="0"/>
                        </a:spcBef>
                        <a:spcAft>
                          <a:spcPts val="0"/>
                        </a:spcAft>
                      </a:pPr>
                      <a:r>
                        <a:rPr lang="en-US" sz="1000">
                          <a:effectLst/>
                        </a:rPr>
                        <a:t>Market Reaction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15000"/>
                        </a:lnSpc>
                        <a:spcBef>
                          <a:spcPts val="0"/>
                        </a:spcBef>
                        <a:spcAft>
                          <a:spcPts val="0"/>
                        </a:spcAft>
                      </a:pPr>
                      <a:r>
                        <a:rPr lang="en-US" sz="1000">
                          <a:effectLst/>
                        </a:rPr>
                        <a:t>Values of Uncertain Outcomes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15000"/>
                        </a:lnSpc>
                        <a:spcBef>
                          <a:spcPts val="0"/>
                        </a:spcBef>
                        <a:spcAft>
                          <a:spcPts val="0"/>
                        </a:spcAft>
                      </a:pPr>
                      <a:r>
                        <a:rPr lang="en-US" sz="1000">
                          <a:effectLst/>
                        </a:rPr>
                        <a:t>Total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15000"/>
                        </a:lnSpc>
                        <a:spcBef>
                          <a:spcPts val="0"/>
                        </a:spcBef>
                        <a:spcAft>
                          <a:spcPts val="0"/>
                        </a:spcAft>
                      </a:pPr>
                      <a:r>
                        <a:rPr lang="en-US" sz="1000">
                          <a:effectLst/>
                        </a:rPr>
                        <a:t>Cost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15000"/>
                        </a:lnSpc>
                        <a:spcBef>
                          <a:spcPts val="0"/>
                        </a:spcBef>
                        <a:spcAft>
                          <a:spcPts val="0"/>
                        </a:spcAft>
                      </a:pPr>
                      <a:r>
                        <a:rPr lang="en-US" sz="1000">
                          <a:effectLst/>
                        </a:rPr>
                        <a:t>Net Benefit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15000"/>
                        </a:lnSpc>
                        <a:spcBef>
                          <a:spcPts val="0"/>
                        </a:spcBef>
                        <a:spcAft>
                          <a:spcPts val="0"/>
                        </a:spcAft>
                      </a:pPr>
                      <a:r>
                        <a:rPr lang="en-US" sz="1000">
                          <a:effectLst/>
                        </a:rPr>
                        <a:t>Final Decision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870701903"/>
                  </a:ext>
                </a:extLst>
              </a:tr>
              <a:tr h="751875">
                <a:tc rowSpan="6">
                  <a:txBody>
                    <a:bodyPr/>
                    <a:lstStyle/>
                    <a:p>
                      <a:pPr marL="0" marR="0" algn="ctr">
                        <a:lnSpc>
                          <a:spcPct val="115000"/>
                        </a:lnSpc>
                        <a:spcBef>
                          <a:spcPts val="0"/>
                        </a:spcBef>
                        <a:spcAft>
                          <a:spcPts val="0"/>
                        </a:spcAft>
                        <a:tabLst>
                          <a:tab pos="621665" algn="l"/>
                        </a:tabLst>
                      </a:pPr>
                      <a:r>
                        <a:rPr lang="en-US" sz="1000">
                          <a:effectLst/>
                        </a:rPr>
                        <a:t>New Product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rowSpan="3">
                  <a:txBody>
                    <a:bodyPr/>
                    <a:lstStyle/>
                    <a:p>
                      <a:pPr marL="0" marR="0" algn="ctr">
                        <a:lnSpc>
                          <a:spcPct val="115000"/>
                        </a:lnSpc>
                        <a:spcBef>
                          <a:spcPts val="0"/>
                        </a:spcBef>
                        <a:spcAft>
                          <a:spcPts val="0"/>
                        </a:spcAft>
                      </a:pPr>
                      <a:r>
                        <a:rPr lang="en-US" sz="1000">
                          <a:effectLst/>
                        </a:rPr>
                        <a:t>Thorough Development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15000"/>
                        </a:lnSpc>
                        <a:spcBef>
                          <a:spcPts val="0"/>
                        </a:spcBef>
                        <a:spcAft>
                          <a:spcPts val="0"/>
                        </a:spcAft>
                      </a:pPr>
                      <a:r>
                        <a:rPr lang="en-US" sz="1000">
                          <a:effectLst/>
                        </a:rPr>
                        <a:t>Good</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rPr>
                        <a:t>0.4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rowSpan="3">
                  <a:txBody>
                    <a:bodyPr/>
                    <a:lstStyle/>
                    <a:p>
                      <a:pPr marL="0" marR="0" algn="ctr">
                        <a:lnSpc>
                          <a:spcPct val="115000"/>
                        </a:lnSpc>
                        <a:spcBef>
                          <a:spcPts val="0"/>
                        </a:spcBef>
                        <a:spcAft>
                          <a:spcPts val="0"/>
                        </a:spcAft>
                      </a:pPr>
                      <a:r>
                        <a:rPr lang="en-US" sz="1000">
                          <a:effectLst/>
                          <a:sym typeface="Symbol" panose="05050102010706020507" pitchFamily="18" charset="2"/>
                        </a:rPr>
                        <a:t></a:t>
                      </a:r>
                      <a:r>
                        <a:rPr lang="en-US" sz="1000">
                          <a:effectLst/>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15000"/>
                        </a:lnSpc>
                        <a:spcBef>
                          <a:spcPts val="0"/>
                        </a:spcBef>
                        <a:spcAft>
                          <a:spcPts val="0"/>
                        </a:spcAft>
                      </a:pPr>
                      <a:r>
                        <a:rPr lang="en-US" sz="1000">
                          <a:effectLst/>
                        </a:rPr>
                        <a:t>$ 1,000,000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15000"/>
                        </a:lnSpc>
                        <a:spcBef>
                          <a:spcPts val="0"/>
                        </a:spcBef>
                        <a:spcAft>
                          <a:spcPts val="0"/>
                        </a:spcAft>
                      </a:pPr>
                      <a:r>
                        <a:rPr lang="en-US" sz="1000">
                          <a:effectLst/>
                        </a:rPr>
                        <a: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rowSpan="3">
                  <a:txBody>
                    <a:bodyPr/>
                    <a:lstStyle/>
                    <a:p>
                      <a:pPr marL="0" marR="0" algn="ctr">
                        <a:lnSpc>
                          <a:spcPct val="115000"/>
                        </a:lnSpc>
                        <a:spcBef>
                          <a:spcPts val="0"/>
                        </a:spcBef>
                        <a:spcAft>
                          <a:spcPts val="0"/>
                        </a:spcAft>
                      </a:pPr>
                      <a:r>
                        <a:rPr lang="en-US" sz="1000">
                          <a:effectLst/>
                        </a:rPr>
                        <a: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rowSpan="3">
                  <a:txBody>
                    <a:bodyPr/>
                    <a:lstStyle/>
                    <a:p>
                      <a:pPr marL="0" marR="0" algn="ctr">
                        <a:lnSpc>
                          <a:spcPct val="115000"/>
                        </a:lnSpc>
                        <a:spcBef>
                          <a:spcPts val="0"/>
                        </a:spcBef>
                        <a:spcAft>
                          <a:spcPts val="0"/>
                        </a:spcAft>
                      </a:pPr>
                      <a:r>
                        <a:rPr lang="en-US" sz="1000">
                          <a:effectLst/>
                        </a:rPr>
                        <a:t>$150,000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rowSpan="3">
                  <a:txBody>
                    <a:bodyPr/>
                    <a:lstStyle/>
                    <a:p>
                      <a:pPr marL="0" marR="0" algn="ctr">
                        <a:lnSpc>
                          <a:spcPct val="115000"/>
                        </a:lnSpc>
                        <a:spcBef>
                          <a:spcPts val="0"/>
                        </a:spcBef>
                        <a:spcAft>
                          <a:spcPts val="0"/>
                        </a:spcAft>
                      </a:pPr>
                      <a:r>
                        <a:rPr lang="en-US" sz="1000">
                          <a:effectLst/>
                        </a:rPr>
                        <a: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rowSpan="3">
                  <a:txBody>
                    <a:bodyPr/>
                    <a:lstStyle/>
                    <a:p>
                      <a:pPr marL="0" marR="0" algn="ctr">
                        <a:lnSpc>
                          <a:spcPct val="115000"/>
                        </a:lnSpc>
                        <a:spcBef>
                          <a:spcPts val="0"/>
                        </a:spcBef>
                        <a:spcAft>
                          <a:spcPts val="0"/>
                        </a:spcAft>
                      </a:pPr>
                      <a:r>
                        <a:rPr lang="en-US" sz="1000">
                          <a:effectLst/>
                        </a:rPr>
                        <a:t>Y/N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14637323"/>
                  </a:ext>
                </a:extLst>
              </a:tr>
              <a:tr h="495679">
                <a:tc vMerge="1">
                  <a:txBody>
                    <a:bodyPr/>
                    <a:lstStyle/>
                    <a:p>
                      <a:endParaRPr lang="en-US"/>
                    </a:p>
                  </a:txBody>
                  <a:tcPr/>
                </a:tc>
                <a:tc vMerge="1">
                  <a:txBody>
                    <a:bodyPr/>
                    <a:lstStyle/>
                    <a:p>
                      <a:endParaRPr lang="en-US"/>
                    </a:p>
                  </a:txBody>
                  <a:tcPr/>
                </a:tc>
                <a:tc>
                  <a:txBody>
                    <a:bodyPr/>
                    <a:lstStyle/>
                    <a:p>
                      <a:pPr marL="0" marR="0">
                        <a:lnSpc>
                          <a:spcPct val="115000"/>
                        </a:lnSpc>
                        <a:spcBef>
                          <a:spcPts val="0"/>
                        </a:spcBef>
                        <a:spcAft>
                          <a:spcPts val="0"/>
                        </a:spcAft>
                      </a:pPr>
                      <a:r>
                        <a:rPr lang="en-US" sz="1000">
                          <a:effectLst/>
                        </a:rPr>
                        <a:t>Moderate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rPr>
                        <a:t>0.4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vMerge="1">
                  <a:txBody>
                    <a:bodyPr/>
                    <a:lstStyle/>
                    <a:p>
                      <a:endParaRPr lang="en-US"/>
                    </a:p>
                  </a:txBody>
                  <a:tcPr/>
                </a:tc>
                <a:tc>
                  <a:txBody>
                    <a:bodyPr/>
                    <a:lstStyle/>
                    <a:p>
                      <a:pPr marL="0" marR="0">
                        <a:lnSpc>
                          <a:spcPct val="115000"/>
                        </a:lnSpc>
                        <a:spcBef>
                          <a:spcPts val="0"/>
                        </a:spcBef>
                        <a:spcAft>
                          <a:spcPts val="0"/>
                        </a:spcAft>
                      </a:pPr>
                      <a:r>
                        <a:rPr lang="en-US" sz="1000">
                          <a:effectLst/>
                        </a:rPr>
                        <a:t>$ 50,000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15000"/>
                        </a:lnSpc>
                        <a:spcBef>
                          <a:spcPts val="0"/>
                        </a:spcBef>
                        <a:spcAft>
                          <a:spcPts val="0"/>
                        </a:spcAft>
                      </a:pPr>
                      <a:r>
                        <a:rPr lang="en-US" sz="1000">
                          <a:effectLst/>
                        </a:rPr>
                        <a: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284475271"/>
                  </a:ext>
                </a:extLst>
              </a:tr>
              <a:tr h="239486">
                <a:tc vMerge="1">
                  <a:txBody>
                    <a:bodyPr/>
                    <a:lstStyle/>
                    <a:p>
                      <a:endParaRPr lang="en-US"/>
                    </a:p>
                  </a:txBody>
                  <a:tcPr/>
                </a:tc>
                <a:tc vMerge="1">
                  <a:txBody>
                    <a:bodyPr/>
                    <a:lstStyle/>
                    <a:p>
                      <a:endParaRPr lang="en-US"/>
                    </a:p>
                  </a:txBody>
                  <a:tcPr/>
                </a:tc>
                <a:tc>
                  <a:txBody>
                    <a:bodyPr/>
                    <a:lstStyle/>
                    <a:p>
                      <a:pPr marL="0" marR="0">
                        <a:lnSpc>
                          <a:spcPct val="115000"/>
                        </a:lnSpc>
                        <a:spcBef>
                          <a:spcPts val="0"/>
                        </a:spcBef>
                        <a:spcAft>
                          <a:spcPts val="0"/>
                        </a:spcAft>
                      </a:pPr>
                      <a:r>
                        <a:rPr lang="en-US" sz="1000">
                          <a:effectLst/>
                        </a:rPr>
                        <a:t>Poor</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rPr>
                        <a:t>0.2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vMerge="1">
                  <a:txBody>
                    <a:bodyPr/>
                    <a:lstStyle/>
                    <a:p>
                      <a:endParaRPr lang="en-US"/>
                    </a:p>
                  </a:txBody>
                  <a:tcPr/>
                </a:tc>
                <a:tc>
                  <a:txBody>
                    <a:bodyPr/>
                    <a:lstStyle/>
                    <a:p>
                      <a:pPr marL="0" marR="0">
                        <a:lnSpc>
                          <a:spcPct val="115000"/>
                        </a:lnSpc>
                        <a:spcBef>
                          <a:spcPts val="0"/>
                        </a:spcBef>
                        <a:spcAft>
                          <a:spcPts val="0"/>
                        </a:spcAft>
                      </a:pPr>
                      <a:r>
                        <a:rPr lang="en-US" sz="1000">
                          <a:effectLst/>
                        </a:rPr>
                        <a:t>$ 2,000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15000"/>
                        </a:lnSpc>
                        <a:spcBef>
                          <a:spcPts val="0"/>
                        </a:spcBef>
                        <a:spcAft>
                          <a:spcPts val="0"/>
                        </a:spcAft>
                      </a:pPr>
                      <a:r>
                        <a:rPr lang="en-US" sz="1000">
                          <a:effectLst/>
                        </a:rPr>
                        <a: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48054024"/>
                  </a:ext>
                </a:extLst>
              </a:tr>
              <a:tr h="751875">
                <a:tc vMerge="1">
                  <a:txBody>
                    <a:bodyPr/>
                    <a:lstStyle/>
                    <a:p>
                      <a:endParaRPr lang="en-US"/>
                    </a:p>
                  </a:txBody>
                  <a:tcPr/>
                </a:tc>
                <a:tc rowSpan="3">
                  <a:txBody>
                    <a:bodyPr/>
                    <a:lstStyle/>
                    <a:p>
                      <a:pPr marL="0" marR="0" algn="ctr">
                        <a:lnSpc>
                          <a:spcPct val="115000"/>
                        </a:lnSpc>
                        <a:spcBef>
                          <a:spcPts val="0"/>
                        </a:spcBef>
                        <a:spcAft>
                          <a:spcPts val="0"/>
                        </a:spcAft>
                      </a:pPr>
                      <a:r>
                        <a:rPr lang="en-US" sz="1000">
                          <a:effectLst/>
                        </a:rPr>
                        <a:t>Rapid Development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15000"/>
                        </a:lnSpc>
                        <a:spcBef>
                          <a:spcPts val="0"/>
                        </a:spcBef>
                        <a:spcAft>
                          <a:spcPts val="0"/>
                        </a:spcAft>
                      </a:pPr>
                      <a:r>
                        <a:rPr lang="en-US" sz="1000">
                          <a:effectLst/>
                        </a:rPr>
                        <a:t>Good</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rPr>
                        <a:t>0.1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rowSpan="3">
                  <a:txBody>
                    <a:bodyPr/>
                    <a:lstStyle/>
                    <a:p>
                      <a:pPr marL="0" marR="0" algn="ctr">
                        <a:lnSpc>
                          <a:spcPct val="115000"/>
                        </a:lnSpc>
                        <a:spcBef>
                          <a:spcPts val="0"/>
                        </a:spcBef>
                        <a:spcAft>
                          <a:spcPts val="0"/>
                        </a:spcAft>
                      </a:pPr>
                      <a:r>
                        <a:rPr lang="en-US" sz="1000">
                          <a:effectLst/>
                          <a:sym typeface="Symbol" panose="05050102010706020507" pitchFamily="18" charset="2"/>
                        </a:rPr>
                        <a:t></a:t>
                      </a:r>
                      <a:r>
                        <a:rPr lang="en-US" sz="1000">
                          <a:effectLst/>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15000"/>
                        </a:lnSpc>
                        <a:spcBef>
                          <a:spcPts val="0"/>
                        </a:spcBef>
                        <a:spcAft>
                          <a:spcPts val="0"/>
                        </a:spcAft>
                      </a:pPr>
                      <a:r>
                        <a:rPr lang="en-US" sz="1000">
                          <a:effectLst/>
                        </a:rPr>
                        <a:t>$ 1,000,000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15000"/>
                        </a:lnSpc>
                        <a:spcBef>
                          <a:spcPts val="0"/>
                        </a:spcBef>
                        <a:spcAft>
                          <a:spcPts val="0"/>
                        </a:spcAft>
                      </a:pPr>
                      <a:r>
                        <a:rPr lang="en-US" sz="1000">
                          <a:effectLst/>
                        </a:rPr>
                        <a: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rowSpan="3">
                  <a:txBody>
                    <a:bodyPr/>
                    <a:lstStyle/>
                    <a:p>
                      <a:pPr marL="0" marR="0" algn="ctr">
                        <a:lnSpc>
                          <a:spcPct val="115000"/>
                        </a:lnSpc>
                        <a:spcBef>
                          <a:spcPts val="0"/>
                        </a:spcBef>
                        <a:spcAft>
                          <a:spcPts val="0"/>
                        </a:spcAft>
                      </a:pPr>
                      <a:r>
                        <a:rPr lang="en-US" sz="1000">
                          <a:effectLst/>
                        </a:rPr>
                        <a: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rowSpan="3">
                  <a:txBody>
                    <a:bodyPr/>
                    <a:lstStyle/>
                    <a:p>
                      <a:pPr marL="0" marR="0" algn="ctr">
                        <a:lnSpc>
                          <a:spcPct val="115000"/>
                        </a:lnSpc>
                        <a:spcBef>
                          <a:spcPts val="0"/>
                        </a:spcBef>
                        <a:spcAft>
                          <a:spcPts val="0"/>
                        </a:spcAft>
                      </a:pPr>
                      <a:r>
                        <a:rPr lang="en-US" sz="1000">
                          <a:effectLst/>
                        </a:rPr>
                        <a:t>$80,000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rowSpan="3">
                  <a:txBody>
                    <a:bodyPr/>
                    <a:lstStyle/>
                    <a:p>
                      <a:pPr marL="0" marR="0" algn="ctr">
                        <a:lnSpc>
                          <a:spcPct val="115000"/>
                        </a:lnSpc>
                        <a:spcBef>
                          <a:spcPts val="0"/>
                        </a:spcBef>
                        <a:spcAft>
                          <a:spcPts val="0"/>
                        </a:spcAft>
                      </a:pPr>
                      <a:r>
                        <a:rPr lang="en-US" sz="1000">
                          <a:effectLst/>
                        </a:rPr>
                        <a: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rowSpan="3">
                  <a:txBody>
                    <a:bodyPr/>
                    <a:lstStyle/>
                    <a:p>
                      <a:pPr marL="0" marR="0" algn="ctr">
                        <a:lnSpc>
                          <a:spcPct val="115000"/>
                        </a:lnSpc>
                        <a:spcBef>
                          <a:spcPts val="0"/>
                        </a:spcBef>
                        <a:spcAft>
                          <a:spcPts val="0"/>
                        </a:spcAft>
                      </a:pPr>
                      <a:r>
                        <a:rPr lang="en-US" sz="1000">
                          <a:effectLst/>
                        </a:rPr>
                        <a:t>Y/N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983634929"/>
                  </a:ext>
                </a:extLst>
              </a:tr>
              <a:tr h="495679">
                <a:tc vMerge="1">
                  <a:txBody>
                    <a:bodyPr/>
                    <a:lstStyle/>
                    <a:p>
                      <a:endParaRPr lang="en-US"/>
                    </a:p>
                  </a:txBody>
                  <a:tcPr/>
                </a:tc>
                <a:tc vMerge="1">
                  <a:txBody>
                    <a:bodyPr/>
                    <a:lstStyle/>
                    <a:p>
                      <a:endParaRPr lang="en-US"/>
                    </a:p>
                  </a:txBody>
                  <a:tcPr/>
                </a:tc>
                <a:tc>
                  <a:txBody>
                    <a:bodyPr/>
                    <a:lstStyle/>
                    <a:p>
                      <a:pPr marL="0" marR="0">
                        <a:lnSpc>
                          <a:spcPct val="115000"/>
                        </a:lnSpc>
                        <a:spcBef>
                          <a:spcPts val="0"/>
                        </a:spcBef>
                        <a:spcAft>
                          <a:spcPts val="0"/>
                        </a:spcAft>
                      </a:pPr>
                      <a:r>
                        <a:rPr lang="en-US" sz="1000">
                          <a:effectLst/>
                        </a:rPr>
                        <a:t>Moderate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rPr>
                        <a:t>0.2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vMerge="1">
                  <a:txBody>
                    <a:bodyPr/>
                    <a:lstStyle/>
                    <a:p>
                      <a:endParaRPr lang="en-US"/>
                    </a:p>
                  </a:txBody>
                  <a:tcPr/>
                </a:tc>
                <a:tc>
                  <a:txBody>
                    <a:bodyPr/>
                    <a:lstStyle/>
                    <a:p>
                      <a:pPr marL="0" marR="0">
                        <a:lnSpc>
                          <a:spcPct val="115000"/>
                        </a:lnSpc>
                        <a:spcBef>
                          <a:spcPts val="0"/>
                        </a:spcBef>
                        <a:spcAft>
                          <a:spcPts val="0"/>
                        </a:spcAft>
                      </a:pPr>
                      <a:r>
                        <a:rPr lang="en-US" sz="1000">
                          <a:effectLst/>
                        </a:rPr>
                        <a:t>$ 50,000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15000"/>
                        </a:lnSpc>
                        <a:spcBef>
                          <a:spcPts val="0"/>
                        </a:spcBef>
                        <a:spcAft>
                          <a:spcPts val="0"/>
                        </a:spcAft>
                      </a:pPr>
                      <a:r>
                        <a:rPr lang="en-US" sz="1000">
                          <a:effectLst/>
                        </a:rPr>
                        <a: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040574551"/>
                  </a:ext>
                </a:extLst>
              </a:tr>
              <a:tr h="239486">
                <a:tc vMerge="1">
                  <a:txBody>
                    <a:bodyPr/>
                    <a:lstStyle/>
                    <a:p>
                      <a:endParaRPr lang="en-US"/>
                    </a:p>
                  </a:txBody>
                  <a:tcPr/>
                </a:tc>
                <a:tc vMerge="1">
                  <a:txBody>
                    <a:bodyPr/>
                    <a:lstStyle/>
                    <a:p>
                      <a:endParaRPr lang="en-US"/>
                    </a:p>
                  </a:txBody>
                  <a:tcPr/>
                </a:tc>
                <a:tc>
                  <a:txBody>
                    <a:bodyPr/>
                    <a:lstStyle/>
                    <a:p>
                      <a:pPr marL="0" marR="0">
                        <a:lnSpc>
                          <a:spcPct val="115000"/>
                        </a:lnSpc>
                        <a:spcBef>
                          <a:spcPts val="0"/>
                        </a:spcBef>
                        <a:spcAft>
                          <a:spcPts val="0"/>
                        </a:spcAft>
                      </a:pPr>
                      <a:r>
                        <a:rPr lang="en-US" sz="1000">
                          <a:effectLst/>
                        </a:rPr>
                        <a:t>Poor</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rPr>
                        <a:t>0.7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vMerge="1">
                  <a:txBody>
                    <a:bodyPr/>
                    <a:lstStyle/>
                    <a:p>
                      <a:endParaRPr lang="en-US"/>
                    </a:p>
                  </a:txBody>
                  <a:tcPr/>
                </a:tc>
                <a:tc>
                  <a:txBody>
                    <a:bodyPr/>
                    <a:lstStyle/>
                    <a:p>
                      <a:pPr marL="0" marR="0">
                        <a:lnSpc>
                          <a:spcPct val="115000"/>
                        </a:lnSpc>
                        <a:spcBef>
                          <a:spcPts val="0"/>
                        </a:spcBef>
                        <a:spcAft>
                          <a:spcPts val="0"/>
                        </a:spcAft>
                      </a:pPr>
                      <a:r>
                        <a:rPr lang="en-US" sz="1000">
                          <a:effectLst/>
                        </a:rPr>
                        <a:t>$ 2,000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15000"/>
                        </a:lnSpc>
                        <a:spcBef>
                          <a:spcPts val="0"/>
                        </a:spcBef>
                        <a:spcAft>
                          <a:spcPts val="0"/>
                        </a:spcAft>
                      </a:pPr>
                      <a:r>
                        <a:rPr lang="en-US" sz="1000">
                          <a:effectLst/>
                        </a:rPr>
                        <a: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14040748"/>
                  </a:ext>
                </a:extLst>
              </a:tr>
              <a:tr h="495679">
                <a:tc rowSpan="5">
                  <a:txBody>
                    <a:bodyPr/>
                    <a:lstStyle/>
                    <a:p>
                      <a:pPr marL="0" marR="0" algn="ctr">
                        <a:lnSpc>
                          <a:spcPct val="115000"/>
                        </a:lnSpc>
                        <a:spcBef>
                          <a:spcPts val="0"/>
                        </a:spcBef>
                        <a:spcAft>
                          <a:spcPts val="0"/>
                        </a:spcAft>
                        <a:tabLst>
                          <a:tab pos="621665" algn="l"/>
                        </a:tabLst>
                      </a:pPr>
                      <a:r>
                        <a:rPr lang="en-US" sz="1000">
                          <a:effectLst/>
                        </a:rPr>
                        <a:t>Consolidate Old Product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rowSpan="3">
                  <a:txBody>
                    <a:bodyPr/>
                    <a:lstStyle/>
                    <a:p>
                      <a:pPr marL="0" marR="0" algn="ctr">
                        <a:lnSpc>
                          <a:spcPct val="115000"/>
                        </a:lnSpc>
                        <a:spcBef>
                          <a:spcPts val="0"/>
                        </a:spcBef>
                        <a:spcAft>
                          <a:spcPts val="0"/>
                        </a:spcAft>
                      </a:pPr>
                      <a:r>
                        <a:rPr lang="en-US" sz="1000">
                          <a:effectLst/>
                        </a:rPr>
                        <a:t>Strengthen Product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15000"/>
                        </a:lnSpc>
                        <a:spcBef>
                          <a:spcPts val="0"/>
                        </a:spcBef>
                        <a:spcAft>
                          <a:spcPts val="0"/>
                        </a:spcAft>
                      </a:pPr>
                      <a:r>
                        <a:rPr lang="en-US" sz="1000">
                          <a:effectLst/>
                        </a:rPr>
                        <a:t>Good</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rPr>
                        <a:t>0.3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rowSpan="3">
                  <a:txBody>
                    <a:bodyPr/>
                    <a:lstStyle/>
                    <a:p>
                      <a:pPr marL="0" marR="0" algn="ctr">
                        <a:lnSpc>
                          <a:spcPct val="115000"/>
                        </a:lnSpc>
                        <a:spcBef>
                          <a:spcPts val="0"/>
                        </a:spcBef>
                        <a:spcAft>
                          <a:spcPts val="0"/>
                        </a:spcAft>
                      </a:pPr>
                      <a:r>
                        <a:rPr lang="en-US" sz="1000">
                          <a:effectLst/>
                          <a:sym typeface="Symbol" panose="05050102010706020507" pitchFamily="18" charset="2"/>
                        </a:rPr>
                        <a:t></a:t>
                      </a:r>
                      <a:r>
                        <a:rPr lang="en-US" sz="1000">
                          <a:effectLst/>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15000"/>
                        </a:lnSpc>
                        <a:spcBef>
                          <a:spcPts val="0"/>
                        </a:spcBef>
                        <a:spcAft>
                          <a:spcPts val="0"/>
                        </a:spcAft>
                      </a:pPr>
                      <a:r>
                        <a:rPr lang="en-US" sz="1000">
                          <a:effectLst/>
                        </a:rPr>
                        <a:t>$ 400,000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15000"/>
                        </a:lnSpc>
                        <a:spcBef>
                          <a:spcPts val="0"/>
                        </a:spcBef>
                        <a:spcAft>
                          <a:spcPts val="0"/>
                        </a:spcAft>
                      </a:pPr>
                      <a:r>
                        <a:rPr lang="en-US" sz="1000">
                          <a:effectLst/>
                        </a:rPr>
                        <a: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rowSpan="3">
                  <a:txBody>
                    <a:bodyPr/>
                    <a:lstStyle/>
                    <a:p>
                      <a:pPr marL="0" marR="0" algn="ctr">
                        <a:lnSpc>
                          <a:spcPct val="115000"/>
                        </a:lnSpc>
                        <a:spcBef>
                          <a:spcPts val="0"/>
                        </a:spcBef>
                        <a:spcAft>
                          <a:spcPts val="0"/>
                        </a:spcAft>
                      </a:pPr>
                      <a:r>
                        <a:rPr lang="en-US" sz="1000">
                          <a:effectLst/>
                        </a:rPr>
                        <a: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rowSpan="3">
                  <a:txBody>
                    <a:bodyPr/>
                    <a:lstStyle/>
                    <a:p>
                      <a:pPr marL="0" marR="0" algn="ctr">
                        <a:lnSpc>
                          <a:spcPct val="115000"/>
                        </a:lnSpc>
                        <a:spcBef>
                          <a:spcPts val="0"/>
                        </a:spcBef>
                        <a:spcAft>
                          <a:spcPts val="0"/>
                        </a:spcAft>
                      </a:pPr>
                      <a:r>
                        <a:rPr lang="en-US" sz="1000">
                          <a:effectLst/>
                        </a:rPr>
                        <a:t>$30,000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rowSpan="3">
                  <a:txBody>
                    <a:bodyPr/>
                    <a:lstStyle/>
                    <a:p>
                      <a:pPr marL="0" marR="0" algn="ctr">
                        <a:lnSpc>
                          <a:spcPct val="115000"/>
                        </a:lnSpc>
                        <a:spcBef>
                          <a:spcPts val="0"/>
                        </a:spcBef>
                        <a:spcAft>
                          <a:spcPts val="0"/>
                        </a:spcAft>
                      </a:pPr>
                      <a:r>
                        <a:rPr lang="en-US" sz="1000">
                          <a:effectLst/>
                        </a:rPr>
                        <a: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rowSpan="3">
                  <a:txBody>
                    <a:bodyPr/>
                    <a:lstStyle/>
                    <a:p>
                      <a:pPr marL="0" marR="0" algn="ctr">
                        <a:lnSpc>
                          <a:spcPct val="115000"/>
                        </a:lnSpc>
                        <a:spcBef>
                          <a:spcPts val="0"/>
                        </a:spcBef>
                        <a:spcAft>
                          <a:spcPts val="0"/>
                        </a:spcAft>
                      </a:pPr>
                      <a:r>
                        <a:rPr lang="en-US" sz="1000">
                          <a:effectLst/>
                        </a:rPr>
                        <a:t>Y/N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000867212"/>
                  </a:ext>
                </a:extLst>
              </a:tr>
              <a:tr h="495679">
                <a:tc vMerge="1">
                  <a:txBody>
                    <a:bodyPr/>
                    <a:lstStyle/>
                    <a:p>
                      <a:endParaRPr lang="en-US"/>
                    </a:p>
                  </a:txBody>
                  <a:tcPr/>
                </a:tc>
                <a:tc vMerge="1">
                  <a:txBody>
                    <a:bodyPr/>
                    <a:lstStyle/>
                    <a:p>
                      <a:endParaRPr lang="en-US"/>
                    </a:p>
                  </a:txBody>
                  <a:tcPr/>
                </a:tc>
                <a:tc>
                  <a:txBody>
                    <a:bodyPr/>
                    <a:lstStyle/>
                    <a:p>
                      <a:pPr marL="0" marR="0">
                        <a:lnSpc>
                          <a:spcPct val="115000"/>
                        </a:lnSpc>
                        <a:spcBef>
                          <a:spcPts val="0"/>
                        </a:spcBef>
                        <a:spcAft>
                          <a:spcPts val="0"/>
                        </a:spcAft>
                      </a:pPr>
                      <a:r>
                        <a:rPr lang="en-US" sz="1000">
                          <a:effectLst/>
                        </a:rPr>
                        <a:t>Moderate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rPr>
                        <a:t>0.4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vMerge="1">
                  <a:txBody>
                    <a:bodyPr/>
                    <a:lstStyle/>
                    <a:p>
                      <a:endParaRPr lang="en-US"/>
                    </a:p>
                  </a:txBody>
                  <a:tcPr/>
                </a:tc>
                <a:tc>
                  <a:txBody>
                    <a:bodyPr/>
                    <a:lstStyle/>
                    <a:p>
                      <a:pPr marL="0" marR="0">
                        <a:lnSpc>
                          <a:spcPct val="115000"/>
                        </a:lnSpc>
                        <a:spcBef>
                          <a:spcPts val="0"/>
                        </a:spcBef>
                        <a:spcAft>
                          <a:spcPts val="0"/>
                        </a:spcAft>
                      </a:pPr>
                      <a:r>
                        <a:rPr lang="en-US" sz="1000">
                          <a:effectLst/>
                        </a:rPr>
                        <a:t>$ 20,000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15000"/>
                        </a:lnSpc>
                        <a:spcBef>
                          <a:spcPts val="0"/>
                        </a:spcBef>
                        <a:spcAft>
                          <a:spcPts val="0"/>
                        </a:spcAft>
                      </a:pPr>
                      <a:r>
                        <a:rPr lang="en-US" sz="1000">
                          <a:effectLst/>
                        </a:rPr>
                        <a: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113548095"/>
                  </a:ext>
                </a:extLst>
              </a:tr>
              <a:tr h="239486">
                <a:tc vMerge="1">
                  <a:txBody>
                    <a:bodyPr/>
                    <a:lstStyle/>
                    <a:p>
                      <a:endParaRPr lang="en-US"/>
                    </a:p>
                  </a:txBody>
                  <a:tcPr/>
                </a:tc>
                <a:tc vMerge="1">
                  <a:txBody>
                    <a:bodyPr/>
                    <a:lstStyle/>
                    <a:p>
                      <a:endParaRPr lang="en-US"/>
                    </a:p>
                  </a:txBody>
                  <a:tcPr/>
                </a:tc>
                <a:tc>
                  <a:txBody>
                    <a:bodyPr/>
                    <a:lstStyle/>
                    <a:p>
                      <a:pPr marL="0" marR="0">
                        <a:lnSpc>
                          <a:spcPct val="115000"/>
                        </a:lnSpc>
                        <a:spcBef>
                          <a:spcPts val="0"/>
                        </a:spcBef>
                        <a:spcAft>
                          <a:spcPts val="0"/>
                        </a:spcAft>
                      </a:pPr>
                      <a:r>
                        <a:rPr lang="en-US" sz="1000">
                          <a:effectLst/>
                        </a:rPr>
                        <a:t>Poor</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rPr>
                        <a:t>0.3`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vMerge="1">
                  <a:txBody>
                    <a:bodyPr/>
                    <a:lstStyle/>
                    <a:p>
                      <a:endParaRPr lang="en-US"/>
                    </a:p>
                  </a:txBody>
                  <a:tcPr/>
                </a:tc>
                <a:tc>
                  <a:txBody>
                    <a:bodyPr/>
                    <a:lstStyle/>
                    <a:p>
                      <a:pPr marL="0" marR="0">
                        <a:lnSpc>
                          <a:spcPct val="115000"/>
                        </a:lnSpc>
                        <a:spcBef>
                          <a:spcPts val="0"/>
                        </a:spcBef>
                        <a:spcAft>
                          <a:spcPts val="0"/>
                        </a:spcAft>
                      </a:pPr>
                      <a:r>
                        <a:rPr lang="en-US" sz="1000">
                          <a:effectLst/>
                        </a:rPr>
                        <a:t>$ 6,000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15000"/>
                        </a:lnSpc>
                        <a:spcBef>
                          <a:spcPts val="0"/>
                        </a:spcBef>
                        <a:spcAft>
                          <a:spcPts val="0"/>
                        </a:spcAft>
                      </a:pPr>
                      <a:r>
                        <a:rPr lang="en-US" sz="1000">
                          <a:effectLst/>
                        </a:rPr>
                        <a: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580714844"/>
                  </a:ext>
                </a:extLst>
              </a:tr>
              <a:tr h="239486">
                <a:tc vMerge="1">
                  <a:txBody>
                    <a:bodyPr/>
                    <a:lstStyle/>
                    <a:p>
                      <a:endParaRPr lang="en-US"/>
                    </a:p>
                  </a:txBody>
                  <a:tcPr/>
                </a:tc>
                <a:tc rowSpan="2">
                  <a:txBody>
                    <a:bodyPr/>
                    <a:lstStyle/>
                    <a:p>
                      <a:pPr marL="0" marR="0" algn="ctr">
                        <a:lnSpc>
                          <a:spcPct val="115000"/>
                        </a:lnSpc>
                        <a:spcBef>
                          <a:spcPts val="0"/>
                        </a:spcBef>
                        <a:spcAft>
                          <a:spcPts val="0"/>
                        </a:spcAft>
                      </a:pPr>
                      <a:r>
                        <a:rPr lang="en-US" sz="1000">
                          <a:effectLst/>
                        </a:rPr>
                        <a:t>Reap Product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15000"/>
                        </a:lnSpc>
                        <a:spcBef>
                          <a:spcPts val="0"/>
                        </a:spcBef>
                        <a:spcAft>
                          <a:spcPts val="0"/>
                        </a:spcAft>
                      </a:pPr>
                      <a:r>
                        <a:rPr lang="en-US" sz="1000">
                          <a:effectLst/>
                        </a:rPr>
                        <a:t>Good</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rPr>
                        <a:t>0.6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rowSpan="2">
                  <a:txBody>
                    <a:bodyPr/>
                    <a:lstStyle/>
                    <a:p>
                      <a:pPr marL="0" marR="0" algn="ctr">
                        <a:lnSpc>
                          <a:spcPct val="115000"/>
                        </a:lnSpc>
                        <a:spcBef>
                          <a:spcPts val="0"/>
                        </a:spcBef>
                        <a:spcAft>
                          <a:spcPts val="0"/>
                        </a:spcAft>
                      </a:pPr>
                      <a:r>
                        <a:rPr lang="en-US" sz="1000">
                          <a:effectLst/>
                          <a:sym typeface="Symbol" panose="05050102010706020507" pitchFamily="18" charset="2"/>
                        </a:rPr>
                        <a:t></a:t>
                      </a:r>
                      <a:r>
                        <a:rPr lang="en-US" sz="1000">
                          <a:effectLst/>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rPr>
                        <a:t>$ 20,000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15000"/>
                        </a:lnSpc>
                        <a:spcBef>
                          <a:spcPts val="0"/>
                        </a:spcBef>
                        <a:spcAft>
                          <a:spcPts val="0"/>
                        </a:spcAft>
                      </a:pPr>
                      <a:r>
                        <a:rPr lang="en-US" sz="1000">
                          <a:effectLst/>
                        </a:rPr>
                        <a: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rowSpan="2">
                  <a:txBody>
                    <a:bodyPr/>
                    <a:lstStyle/>
                    <a:p>
                      <a:pPr marL="0" marR="0" algn="ctr">
                        <a:lnSpc>
                          <a:spcPct val="115000"/>
                        </a:lnSpc>
                        <a:spcBef>
                          <a:spcPts val="0"/>
                        </a:spcBef>
                        <a:spcAft>
                          <a:spcPts val="0"/>
                        </a:spcAft>
                      </a:pPr>
                      <a:r>
                        <a:rPr lang="en-US" sz="1000">
                          <a:effectLst/>
                        </a:rPr>
                        <a:t>?</a:t>
                      </a:r>
                      <a:endParaRPr lang="en-US" sz="1100">
                        <a:effectLst/>
                      </a:endParaRPr>
                    </a:p>
                    <a:p>
                      <a:pPr marL="0" marR="0" algn="ctr">
                        <a:lnSpc>
                          <a:spcPct val="115000"/>
                        </a:lnSpc>
                        <a:spcBef>
                          <a:spcPts val="0"/>
                        </a:spcBef>
                        <a:spcAft>
                          <a:spcPts val="0"/>
                        </a:spcAft>
                      </a:pPr>
                      <a:r>
                        <a:rPr lang="en-US" sz="1000">
                          <a:effectLst/>
                        </a:rPr>
                        <a:t>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rowSpan="2">
                  <a:txBody>
                    <a:bodyPr/>
                    <a:lstStyle/>
                    <a:p>
                      <a:pPr marL="0" marR="0" algn="ctr">
                        <a:lnSpc>
                          <a:spcPct val="115000"/>
                        </a:lnSpc>
                        <a:spcBef>
                          <a:spcPts val="0"/>
                        </a:spcBef>
                        <a:spcAft>
                          <a:spcPts val="0"/>
                        </a:spcAft>
                      </a:pPr>
                      <a:r>
                        <a:rPr lang="en-US" sz="1000">
                          <a:effectLst/>
                        </a:rPr>
                        <a:t>$0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rowSpan="2">
                  <a:txBody>
                    <a:bodyPr/>
                    <a:lstStyle/>
                    <a:p>
                      <a:pPr marL="0" marR="0" algn="ctr">
                        <a:lnSpc>
                          <a:spcPct val="115000"/>
                        </a:lnSpc>
                        <a:spcBef>
                          <a:spcPts val="0"/>
                        </a:spcBef>
                        <a:spcAft>
                          <a:spcPts val="0"/>
                        </a:spcAft>
                      </a:pPr>
                      <a:r>
                        <a:rPr lang="en-US" sz="1000">
                          <a:effectLst/>
                        </a:rPr>
                        <a:t>?</a:t>
                      </a:r>
                      <a:endParaRPr lang="en-US" sz="1100">
                        <a:effectLst/>
                      </a:endParaRPr>
                    </a:p>
                    <a:p>
                      <a:pPr marL="0" marR="0" algn="ctr">
                        <a:lnSpc>
                          <a:spcPct val="115000"/>
                        </a:lnSpc>
                        <a:spcBef>
                          <a:spcPts val="0"/>
                        </a:spcBef>
                        <a:spcAft>
                          <a:spcPts val="0"/>
                        </a:spcAft>
                      </a:pPr>
                      <a:r>
                        <a:rPr lang="en-US" sz="1000">
                          <a:effectLst/>
                        </a:rPr>
                        <a:t>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rowSpan="2">
                  <a:txBody>
                    <a:bodyPr/>
                    <a:lstStyle/>
                    <a:p>
                      <a:pPr marL="0" marR="0" algn="ctr">
                        <a:lnSpc>
                          <a:spcPct val="115000"/>
                        </a:lnSpc>
                        <a:spcBef>
                          <a:spcPts val="0"/>
                        </a:spcBef>
                        <a:spcAft>
                          <a:spcPts val="0"/>
                        </a:spcAft>
                      </a:pPr>
                      <a:r>
                        <a:rPr lang="en-US" sz="1000">
                          <a:effectLst/>
                        </a:rPr>
                        <a:t>Y/N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733219036"/>
                  </a:ext>
                </a:extLst>
              </a:tr>
              <a:tr h="256195">
                <a:tc vMerge="1">
                  <a:txBody>
                    <a:bodyPr/>
                    <a:lstStyle/>
                    <a:p>
                      <a:endParaRPr lang="en-US"/>
                    </a:p>
                  </a:txBody>
                  <a:tcPr/>
                </a:tc>
                <a:tc vMerge="1">
                  <a:txBody>
                    <a:bodyPr/>
                    <a:lstStyle/>
                    <a:p>
                      <a:endParaRPr lang="en-US"/>
                    </a:p>
                  </a:txBody>
                  <a:tcPr/>
                </a:tc>
                <a:tc>
                  <a:txBody>
                    <a:bodyPr/>
                    <a:lstStyle/>
                    <a:p>
                      <a:pPr marL="0" marR="0">
                        <a:lnSpc>
                          <a:spcPct val="115000"/>
                        </a:lnSpc>
                        <a:spcBef>
                          <a:spcPts val="0"/>
                        </a:spcBef>
                        <a:spcAft>
                          <a:spcPts val="0"/>
                        </a:spcAft>
                      </a:pPr>
                      <a:r>
                        <a:rPr lang="en-US" sz="1000">
                          <a:effectLst/>
                        </a:rPr>
                        <a:t>Poor</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rPr>
                        <a:t>0.4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vMerge="1">
                  <a:txBody>
                    <a:bodyPr/>
                    <a:lstStyle/>
                    <a:p>
                      <a:endParaRPr lang="en-US"/>
                    </a:p>
                  </a:txBody>
                  <a:tcPr/>
                </a:tc>
                <a:tc>
                  <a:txBody>
                    <a:bodyPr/>
                    <a:lstStyle/>
                    <a:p>
                      <a:pPr marL="0" marR="0">
                        <a:lnSpc>
                          <a:spcPct val="115000"/>
                        </a:lnSpc>
                        <a:spcBef>
                          <a:spcPts val="0"/>
                        </a:spcBef>
                        <a:spcAft>
                          <a:spcPts val="0"/>
                        </a:spcAft>
                      </a:pPr>
                      <a:r>
                        <a:rPr lang="en-US" sz="1000">
                          <a:effectLst/>
                        </a:rPr>
                        <a:t>$ 2,000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15000"/>
                        </a:lnSpc>
                        <a:spcBef>
                          <a:spcPts val="0"/>
                        </a:spcBef>
                        <a:spcAft>
                          <a:spcPts val="0"/>
                        </a:spcAft>
                      </a:pPr>
                      <a:r>
                        <a:rPr lang="en-US" sz="1000" dirty="0">
                          <a:effectLst/>
                        </a:rPr>
                        <a:t>?</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894293512"/>
                  </a:ext>
                </a:extLst>
              </a:tr>
            </a:tbl>
          </a:graphicData>
        </a:graphic>
      </p:graphicFrame>
    </p:spTree>
    <p:extLst>
      <p:ext uri="{BB962C8B-B14F-4D97-AF65-F5344CB8AC3E}">
        <p14:creationId xmlns:p14="http://schemas.microsoft.com/office/powerpoint/2010/main" val="31087269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2231923" y="0"/>
            <a:ext cx="8610600" cy="1293028"/>
          </a:xfrm>
        </p:spPr>
        <p:txBody>
          <a:bodyPr/>
          <a:lstStyle/>
          <a:p>
            <a:pPr algn="ctr"/>
            <a:r>
              <a:rPr lang="en-US" altLang="en-US" b="1" dirty="0">
                <a:solidFill>
                  <a:srgbClr val="FFC000"/>
                </a:solidFill>
              </a:rPr>
              <a:t>Decision Trees </a:t>
            </a:r>
            <a:r>
              <a:rPr lang="en-US" altLang="en-US" b="1" dirty="0">
                <a:solidFill>
                  <a:srgbClr val="00B0F0"/>
                </a:solidFill>
              </a:rPr>
              <a:t>Example 2</a:t>
            </a:r>
          </a:p>
        </p:txBody>
      </p:sp>
      <p:sp>
        <p:nvSpPr>
          <p:cNvPr id="15363" name="Rectangle 3"/>
          <p:cNvSpPr>
            <a:spLocks noGrp="1" noChangeArrowheads="1"/>
          </p:cNvSpPr>
          <p:nvPr>
            <p:ph type="body" idx="1"/>
          </p:nvPr>
        </p:nvSpPr>
        <p:spPr>
          <a:xfrm>
            <a:off x="221226" y="1283111"/>
            <a:ext cx="11970773" cy="3952566"/>
          </a:xfrm>
        </p:spPr>
        <p:txBody>
          <a:bodyPr>
            <a:noAutofit/>
          </a:bodyPr>
          <a:lstStyle/>
          <a:p>
            <a:pPr marL="1430338" indent="-1430338">
              <a:buNone/>
            </a:pPr>
            <a:r>
              <a:rPr lang="en-US" altLang="en-US" sz="2800" dirty="0"/>
              <a:t>Problem: </a:t>
            </a:r>
          </a:p>
          <a:p>
            <a:pPr marL="1430338" indent="-1430338">
              <a:buNone/>
            </a:pPr>
            <a:r>
              <a:rPr lang="en-US" altLang="en-US" sz="2400" dirty="0"/>
              <a:t>decide whether </a:t>
            </a:r>
            <a:r>
              <a:rPr lang="en-US" altLang="en-US" sz="2800" u="sng" dirty="0">
                <a:solidFill>
                  <a:srgbClr val="00B0F0"/>
                </a:solidFill>
              </a:rPr>
              <a:t>to wait for a table at a restaurant,</a:t>
            </a:r>
            <a:r>
              <a:rPr lang="en-US" altLang="en-US" sz="2400" dirty="0"/>
              <a:t> based on the  following </a:t>
            </a:r>
            <a:r>
              <a:rPr lang="en-US" altLang="en-US" sz="2400" dirty="0">
                <a:solidFill>
                  <a:schemeClr val="accent2"/>
                </a:solidFill>
              </a:rPr>
              <a:t>attributes</a:t>
            </a:r>
            <a:r>
              <a:rPr lang="en-US" altLang="en-US" sz="2400" dirty="0"/>
              <a:t>:</a:t>
            </a:r>
          </a:p>
          <a:p>
            <a:pPr marL="381000" indent="-381000">
              <a:buNone/>
            </a:pPr>
            <a:endParaRPr lang="en-US" altLang="en-US" sz="2400" dirty="0"/>
          </a:p>
          <a:p>
            <a:pPr marL="800100" lvl="1" indent="-342900">
              <a:buFontTx/>
              <a:buAutoNum type="arabicPeriod"/>
            </a:pPr>
            <a:r>
              <a:rPr lang="en-US" altLang="en-US" sz="2400" dirty="0">
                <a:solidFill>
                  <a:srgbClr val="FF0000"/>
                </a:solidFill>
              </a:rPr>
              <a:t>Alternate</a:t>
            </a:r>
            <a:r>
              <a:rPr lang="en-US" altLang="en-US" sz="2400" dirty="0"/>
              <a:t>: is there an alternative restaurant nearby?</a:t>
            </a:r>
          </a:p>
          <a:p>
            <a:pPr marL="800100" lvl="1" indent="-342900">
              <a:buFontTx/>
              <a:buAutoNum type="arabicPeriod"/>
            </a:pPr>
            <a:r>
              <a:rPr lang="en-US" altLang="en-US" sz="2400" dirty="0">
                <a:solidFill>
                  <a:srgbClr val="FF0000"/>
                </a:solidFill>
              </a:rPr>
              <a:t>Bar</a:t>
            </a:r>
            <a:r>
              <a:rPr lang="en-US" altLang="en-US" sz="2400" dirty="0"/>
              <a:t>: is there a comfortable bar area to wait in?</a:t>
            </a:r>
          </a:p>
          <a:p>
            <a:pPr marL="800100" lvl="1" indent="-342900">
              <a:buFontTx/>
              <a:buAutoNum type="arabicPeriod"/>
            </a:pPr>
            <a:r>
              <a:rPr lang="en-US" altLang="en-US" sz="2400" dirty="0">
                <a:solidFill>
                  <a:srgbClr val="FF0000"/>
                </a:solidFill>
              </a:rPr>
              <a:t>Fri/Sat</a:t>
            </a:r>
            <a:r>
              <a:rPr lang="en-US" altLang="en-US" sz="2400" dirty="0"/>
              <a:t>: is today Friday or Saturday?</a:t>
            </a:r>
          </a:p>
          <a:p>
            <a:pPr marL="800100" lvl="1" indent="-342900">
              <a:buFontTx/>
              <a:buAutoNum type="arabicPeriod"/>
            </a:pPr>
            <a:r>
              <a:rPr lang="en-US" altLang="en-US" sz="2400" dirty="0">
                <a:solidFill>
                  <a:srgbClr val="FF0000"/>
                </a:solidFill>
              </a:rPr>
              <a:t>Hungry</a:t>
            </a:r>
            <a:r>
              <a:rPr lang="en-US" altLang="en-US" sz="2400" dirty="0"/>
              <a:t>: are we hungry?</a:t>
            </a:r>
          </a:p>
          <a:p>
            <a:pPr marL="800100" lvl="1" indent="-342900">
              <a:buFontTx/>
              <a:buAutoNum type="arabicPeriod"/>
            </a:pPr>
            <a:r>
              <a:rPr lang="en-US" altLang="en-US" sz="2400" dirty="0">
                <a:solidFill>
                  <a:srgbClr val="FF0000"/>
                </a:solidFill>
              </a:rPr>
              <a:t>Patrons</a:t>
            </a:r>
            <a:r>
              <a:rPr lang="en-US" altLang="en-US" sz="2400" dirty="0"/>
              <a:t>: number of people in the restaurant (None, Some, Full)</a:t>
            </a:r>
          </a:p>
          <a:p>
            <a:pPr marL="800100" lvl="1" indent="-342900">
              <a:buFontTx/>
              <a:buAutoNum type="arabicPeriod"/>
            </a:pPr>
            <a:r>
              <a:rPr lang="en-US" altLang="en-US" sz="2400" dirty="0">
                <a:solidFill>
                  <a:srgbClr val="FF0000"/>
                </a:solidFill>
              </a:rPr>
              <a:t>Price</a:t>
            </a:r>
            <a:r>
              <a:rPr lang="en-US" altLang="en-US" sz="2400" dirty="0"/>
              <a:t>: price range ($, $$, $$$)</a:t>
            </a:r>
          </a:p>
          <a:p>
            <a:pPr marL="800100" lvl="1" indent="-342900">
              <a:buFontTx/>
              <a:buAutoNum type="arabicPeriod"/>
            </a:pPr>
            <a:r>
              <a:rPr lang="en-US" altLang="en-US" sz="2400" dirty="0">
                <a:solidFill>
                  <a:srgbClr val="FF0000"/>
                </a:solidFill>
              </a:rPr>
              <a:t>Raining</a:t>
            </a:r>
            <a:r>
              <a:rPr lang="en-US" altLang="en-US" sz="2400" dirty="0"/>
              <a:t>: is it raining outside?</a:t>
            </a:r>
          </a:p>
          <a:p>
            <a:pPr marL="800100" lvl="1" indent="-342900">
              <a:buFontTx/>
              <a:buAutoNum type="arabicPeriod"/>
            </a:pPr>
            <a:r>
              <a:rPr lang="en-US" altLang="en-US" sz="2400" dirty="0">
                <a:solidFill>
                  <a:srgbClr val="FF0000"/>
                </a:solidFill>
              </a:rPr>
              <a:t>Reservation</a:t>
            </a:r>
            <a:r>
              <a:rPr lang="en-US" altLang="en-US" sz="2400" dirty="0"/>
              <a:t>: have we made a reservation?</a:t>
            </a:r>
          </a:p>
          <a:p>
            <a:pPr marL="800100" lvl="1" indent="-342900">
              <a:buFontTx/>
              <a:buAutoNum type="arabicPeriod"/>
            </a:pPr>
            <a:r>
              <a:rPr lang="en-US" altLang="en-US" sz="2400" dirty="0">
                <a:solidFill>
                  <a:srgbClr val="FF0000"/>
                </a:solidFill>
              </a:rPr>
              <a:t>Type</a:t>
            </a:r>
            <a:r>
              <a:rPr lang="en-US" altLang="en-US" sz="2400" dirty="0"/>
              <a:t>: kind of restaurant (French, Italian, Thai, Burger)</a:t>
            </a:r>
          </a:p>
          <a:p>
            <a:pPr marL="800100" lvl="1" indent="-342900">
              <a:buFontTx/>
              <a:buAutoNum type="arabicPeriod"/>
            </a:pPr>
            <a:r>
              <a:rPr lang="en-US" altLang="en-US" sz="2400" dirty="0">
                <a:solidFill>
                  <a:srgbClr val="FF0000"/>
                </a:solidFill>
              </a:rPr>
              <a:t> </a:t>
            </a:r>
            <a:r>
              <a:rPr lang="en-US" altLang="en-US" sz="2400" dirty="0" err="1">
                <a:solidFill>
                  <a:srgbClr val="FF0000"/>
                </a:solidFill>
              </a:rPr>
              <a:t>WaitEstimate</a:t>
            </a:r>
            <a:r>
              <a:rPr lang="en-US" altLang="en-US" sz="2400" dirty="0"/>
              <a:t>: estimated waiting time (0-10, 10-30, 30-60, &gt;60)</a:t>
            </a:r>
          </a:p>
        </p:txBody>
      </p:sp>
    </p:spTree>
    <p:extLst>
      <p:ext uri="{BB962C8B-B14F-4D97-AF65-F5344CB8AC3E}">
        <p14:creationId xmlns:p14="http://schemas.microsoft.com/office/powerpoint/2010/main" val="598518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85800" y="350460"/>
            <a:ext cx="10569678" cy="814663"/>
          </a:xfrm>
        </p:spPr>
        <p:txBody>
          <a:bodyPr>
            <a:normAutofit/>
          </a:bodyPr>
          <a:lstStyle/>
          <a:p>
            <a:r>
              <a:rPr lang="en-US" altLang="en-US" sz="3600" b="1" dirty="0">
                <a:solidFill>
                  <a:srgbClr val="FFC000"/>
                </a:solidFill>
              </a:rPr>
              <a:t>Attribute-based representations</a:t>
            </a:r>
          </a:p>
        </p:txBody>
      </p:sp>
      <p:sp>
        <p:nvSpPr>
          <p:cNvPr id="16387" name="Rectangle 3"/>
          <p:cNvSpPr>
            <a:spLocks noGrp="1" noChangeArrowheads="1"/>
          </p:cNvSpPr>
          <p:nvPr>
            <p:ph type="body" idx="1"/>
          </p:nvPr>
        </p:nvSpPr>
        <p:spPr>
          <a:xfrm>
            <a:off x="685799" y="1549588"/>
            <a:ext cx="10980175" cy="4939701"/>
          </a:xfrm>
        </p:spPr>
        <p:txBody>
          <a:bodyPr>
            <a:normAutofit/>
          </a:bodyPr>
          <a:lstStyle/>
          <a:p>
            <a:r>
              <a:rPr lang="en-US" altLang="en-US" sz="1800" dirty="0"/>
              <a:t>Examples described by </a:t>
            </a:r>
            <a:r>
              <a:rPr lang="en-US" altLang="en-US" sz="1800" dirty="0">
                <a:solidFill>
                  <a:schemeClr val="accent2"/>
                </a:solidFill>
              </a:rPr>
              <a:t>attribute values </a:t>
            </a:r>
            <a:r>
              <a:rPr lang="en-US" altLang="en-US" sz="1800" dirty="0"/>
              <a:t>(Boolean, discrete, continuous)</a:t>
            </a:r>
          </a:p>
          <a:p>
            <a:r>
              <a:rPr lang="en-US" altLang="en-US" sz="1800" dirty="0"/>
              <a:t>e.g., situations where I will/won't wait for a table:</a:t>
            </a:r>
          </a:p>
          <a:p>
            <a:pPr>
              <a:buFontTx/>
              <a:buNone/>
            </a:pPr>
            <a:endParaRPr lang="en-US" altLang="en-US" sz="1800" dirty="0"/>
          </a:p>
          <a:p>
            <a:pPr>
              <a:buFontTx/>
              <a:buNone/>
            </a:pPr>
            <a:endParaRPr lang="en-US" altLang="en-US" sz="1800" dirty="0"/>
          </a:p>
          <a:p>
            <a:pPr>
              <a:buFontTx/>
              <a:buNone/>
            </a:pPr>
            <a:endParaRPr lang="en-US" altLang="en-US" sz="1800" dirty="0"/>
          </a:p>
          <a:p>
            <a:pPr>
              <a:buFontTx/>
              <a:buNone/>
            </a:pPr>
            <a:endParaRPr lang="en-US" altLang="en-US" sz="1800" dirty="0"/>
          </a:p>
          <a:p>
            <a:pPr>
              <a:buFontTx/>
              <a:buNone/>
            </a:pPr>
            <a:endParaRPr lang="en-US" altLang="en-US" sz="1800" dirty="0"/>
          </a:p>
          <a:p>
            <a:pPr>
              <a:buFontTx/>
              <a:buNone/>
            </a:pPr>
            <a:endParaRPr lang="en-US" altLang="en-US" sz="1800" dirty="0"/>
          </a:p>
          <a:p>
            <a:endParaRPr lang="en-US" altLang="en-US" sz="1800" dirty="0">
              <a:solidFill>
                <a:schemeClr val="accent2"/>
              </a:solidFill>
            </a:endParaRPr>
          </a:p>
          <a:p>
            <a:endParaRPr lang="en-US" altLang="en-US" sz="1800" dirty="0">
              <a:solidFill>
                <a:schemeClr val="accent2"/>
              </a:solidFill>
            </a:endParaRPr>
          </a:p>
          <a:p>
            <a:endParaRPr lang="en-US" altLang="en-US" sz="1800" dirty="0">
              <a:solidFill>
                <a:schemeClr val="accent2"/>
              </a:solidFill>
            </a:endParaRPr>
          </a:p>
          <a:p>
            <a:endParaRPr lang="en-US" altLang="en-US" sz="1800" dirty="0">
              <a:solidFill>
                <a:schemeClr val="accent2"/>
              </a:solidFill>
            </a:endParaRPr>
          </a:p>
          <a:p>
            <a:r>
              <a:rPr lang="en-US" altLang="en-US" sz="1800" dirty="0">
                <a:solidFill>
                  <a:schemeClr val="accent2"/>
                </a:solidFill>
              </a:rPr>
              <a:t>Classification</a:t>
            </a:r>
            <a:r>
              <a:rPr lang="en-US" altLang="en-US" sz="1800" dirty="0"/>
              <a:t> of examples is </a:t>
            </a:r>
            <a:r>
              <a:rPr lang="en-US" altLang="en-US" sz="1800" dirty="0">
                <a:solidFill>
                  <a:schemeClr val="accent2"/>
                </a:solidFill>
              </a:rPr>
              <a:t>positive</a:t>
            </a:r>
            <a:r>
              <a:rPr lang="en-US" altLang="en-US" sz="1800" dirty="0"/>
              <a:t> (T) or </a:t>
            </a:r>
            <a:r>
              <a:rPr lang="en-US" altLang="en-US" sz="1800" dirty="0">
                <a:solidFill>
                  <a:schemeClr val="accent2"/>
                </a:solidFill>
              </a:rPr>
              <a:t>negative</a:t>
            </a:r>
            <a:r>
              <a:rPr lang="en-US" altLang="en-US" sz="1800" dirty="0"/>
              <a:t> (F)</a:t>
            </a:r>
          </a:p>
        </p:txBody>
      </p:sp>
      <p:pic>
        <p:nvPicPr>
          <p:cNvPr id="16388" name="Picture 4"/>
          <p:cNvPicPr>
            <a:picLocks noChangeAspect="1" noChangeArrowheads="1"/>
          </p:cNvPicPr>
          <p:nvPr/>
        </p:nvPicPr>
        <p:blipFill>
          <a:blip r:embed="rId3">
            <a:extLst>
              <a:ext uri="{28A0092B-C50C-407E-A947-70E740481C1C}">
                <a14:useLocalDpi xmlns:a14="http://schemas.microsoft.com/office/drawing/2010/main" val="0"/>
              </a:ext>
            </a:extLst>
          </a:blip>
          <a:srcRect l="53906" t="29167" r="9766" b="19792"/>
          <a:stretch>
            <a:fillRect/>
          </a:stretch>
        </p:blipFill>
        <p:spPr bwMode="auto">
          <a:xfrm>
            <a:off x="2971800" y="2362201"/>
            <a:ext cx="6096000" cy="321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189304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7412" name="Picture 4" descr="restaurant-tre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7554" y="2807891"/>
            <a:ext cx="5744959" cy="3988658"/>
          </a:xfrm>
          <a:prstGeom prst="rect">
            <a:avLst/>
          </a:prstGeom>
          <a:noFill/>
          <a:extLst>
            <a:ext uri="{909E8E84-426E-40DD-AFC4-6F175D3DCCD1}">
              <a14:hiddenFill xmlns:a14="http://schemas.microsoft.com/office/drawing/2010/main">
                <a:solidFill>
                  <a:srgbClr val="FFFFFF"/>
                </a:solidFill>
              </a14:hiddenFill>
            </a:ext>
          </a:extLst>
        </p:spPr>
      </p:pic>
      <p:sp>
        <p:nvSpPr>
          <p:cNvPr id="17410" name="Rectangle 2"/>
          <p:cNvSpPr>
            <a:spLocks noGrp="1" noChangeArrowheads="1"/>
          </p:cNvSpPr>
          <p:nvPr>
            <p:ph type="title"/>
          </p:nvPr>
        </p:nvSpPr>
        <p:spPr>
          <a:xfrm>
            <a:off x="1981200" y="0"/>
            <a:ext cx="8229600" cy="1143000"/>
          </a:xfrm>
        </p:spPr>
        <p:txBody>
          <a:bodyPr/>
          <a:lstStyle/>
          <a:p>
            <a:pPr algn="ctr"/>
            <a:r>
              <a:rPr lang="en-US" altLang="en-US" b="1" dirty="0">
                <a:solidFill>
                  <a:srgbClr val="FFC000"/>
                </a:solidFill>
              </a:rPr>
              <a:t>Decision trees</a:t>
            </a:r>
          </a:p>
        </p:txBody>
      </p:sp>
      <p:sp>
        <p:nvSpPr>
          <p:cNvPr id="17411" name="Rectangle 3"/>
          <p:cNvSpPr>
            <a:spLocks noGrp="1" noChangeArrowheads="1"/>
          </p:cNvSpPr>
          <p:nvPr>
            <p:ph type="body" idx="1"/>
          </p:nvPr>
        </p:nvSpPr>
        <p:spPr>
          <a:xfrm>
            <a:off x="727587" y="1143000"/>
            <a:ext cx="8686800" cy="990600"/>
          </a:xfrm>
        </p:spPr>
        <p:txBody>
          <a:bodyPr>
            <a:noAutofit/>
          </a:bodyPr>
          <a:lstStyle/>
          <a:p>
            <a:r>
              <a:rPr lang="en-US" altLang="en-US" sz="3200" dirty="0">
                <a:solidFill>
                  <a:srgbClr val="00B0F0"/>
                </a:solidFill>
              </a:rPr>
              <a:t>One</a:t>
            </a:r>
            <a:r>
              <a:rPr lang="en-US" altLang="en-US" sz="2400" dirty="0"/>
              <a:t> possible representation for hypotheses</a:t>
            </a:r>
          </a:p>
          <a:p>
            <a:r>
              <a:rPr lang="en-US" altLang="en-US" sz="2400" dirty="0"/>
              <a:t>We imagine someone taking a sequence of decisions.</a:t>
            </a:r>
          </a:p>
          <a:p>
            <a:r>
              <a:rPr lang="en-US" altLang="en-US" sz="2400" dirty="0"/>
              <a:t>e.g., here is the </a:t>
            </a:r>
            <a:r>
              <a:rPr lang="en-US" altLang="en-US" sz="2400" dirty="0">
                <a:solidFill>
                  <a:srgbClr val="00B0F0"/>
                </a:solidFill>
              </a:rPr>
              <a:t>“true” tree </a:t>
            </a:r>
            <a:r>
              <a:rPr lang="en-US" altLang="en-US" sz="2400" dirty="0"/>
              <a:t>for deciding whether to wait:</a:t>
            </a:r>
          </a:p>
        </p:txBody>
      </p:sp>
    </p:spTree>
    <p:extLst>
      <p:ext uri="{BB962C8B-B14F-4D97-AF65-F5344CB8AC3E}">
        <p14:creationId xmlns:p14="http://schemas.microsoft.com/office/powerpoint/2010/main" val="4021258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790700" y="218682"/>
            <a:ext cx="8610600" cy="1293028"/>
          </a:xfrm>
        </p:spPr>
        <p:txBody>
          <a:bodyPr/>
          <a:lstStyle/>
          <a:p>
            <a:r>
              <a:rPr lang="en-US" altLang="en-US" b="1" dirty="0">
                <a:solidFill>
                  <a:srgbClr val="FFC000"/>
                </a:solidFill>
              </a:rPr>
              <a:t>Decision Trees </a:t>
            </a:r>
            <a:r>
              <a:rPr lang="en-US" altLang="en-US" b="1" dirty="0">
                <a:solidFill>
                  <a:srgbClr val="00B0F0"/>
                </a:solidFill>
              </a:rPr>
              <a:t>Example 3</a:t>
            </a:r>
            <a:endParaRPr lang="en-US" dirty="0"/>
          </a:p>
        </p:txBody>
      </p:sp>
      <p:sp>
        <p:nvSpPr>
          <p:cNvPr id="3" name="Content Placeholder 2"/>
          <p:cNvSpPr>
            <a:spLocks noGrp="1"/>
          </p:cNvSpPr>
          <p:nvPr>
            <p:ph idx="1"/>
          </p:nvPr>
        </p:nvSpPr>
        <p:spPr>
          <a:xfrm>
            <a:off x="332508" y="1290486"/>
            <a:ext cx="11249891" cy="3918824"/>
          </a:xfrm>
        </p:spPr>
        <p:txBody>
          <a:bodyPr>
            <a:noAutofit/>
          </a:bodyPr>
          <a:lstStyle/>
          <a:p>
            <a:r>
              <a:rPr lang="en-US" sz="3200" dirty="0"/>
              <a:t>Let's assume we want to play badmint</a:t>
            </a:r>
            <a:r>
              <a:rPr lang="en-US" sz="3200" dirty="0">
                <a:solidFill>
                  <a:srgbClr val="FF0000"/>
                </a:solidFill>
              </a:rPr>
              <a:t>o</a:t>
            </a:r>
            <a:r>
              <a:rPr lang="en-US" sz="3200" dirty="0"/>
              <a:t>n </a:t>
            </a:r>
            <a:r>
              <a:rPr lang="ar-EG" sz="3200" b="1" dirty="0">
                <a:solidFill>
                  <a:srgbClr val="FF0000"/>
                </a:solidFill>
              </a:rPr>
              <a:t>تنس الريشة </a:t>
            </a:r>
            <a:r>
              <a:rPr lang="en-US" sz="3200" b="1" dirty="0">
                <a:solidFill>
                  <a:srgbClr val="FF0000"/>
                </a:solidFill>
              </a:rPr>
              <a:t> </a:t>
            </a:r>
            <a:r>
              <a:rPr lang="ar-EG" sz="3200" b="1" dirty="0">
                <a:solidFill>
                  <a:srgbClr val="FF0000"/>
                </a:solidFill>
              </a:rPr>
              <a:t> </a:t>
            </a:r>
            <a:r>
              <a:rPr lang="en-US" sz="3200" dirty="0"/>
              <a:t>on a particular day — say Saturday — how will you decide whether to play or not.</a:t>
            </a:r>
          </a:p>
          <a:p>
            <a:pPr marL="0" indent="0">
              <a:buNone/>
            </a:pPr>
            <a:r>
              <a:rPr lang="en-US" sz="3200" dirty="0"/>
              <a:t> </a:t>
            </a:r>
          </a:p>
          <a:p>
            <a:pPr marL="0" indent="0">
              <a:buNone/>
            </a:pPr>
            <a:r>
              <a:rPr lang="en-US" sz="3200" b="1" dirty="0">
                <a:solidFill>
                  <a:srgbClr val="FF0000"/>
                </a:solidFill>
              </a:rPr>
              <a:t>Let's say you go out and check if it's:</a:t>
            </a:r>
          </a:p>
          <a:p>
            <a:pPr marL="514350" indent="-514350">
              <a:buFont typeface="+mj-lt"/>
              <a:buAutoNum type="arabicPeriod"/>
            </a:pPr>
            <a:r>
              <a:rPr lang="en-US" sz="3200" dirty="0"/>
              <a:t> hot or cold, </a:t>
            </a:r>
          </a:p>
          <a:p>
            <a:pPr marL="514350" indent="-514350">
              <a:buFont typeface="+mj-lt"/>
              <a:buAutoNum type="arabicPeriod"/>
            </a:pPr>
            <a:r>
              <a:rPr lang="en-US" sz="3200" dirty="0"/>
              <a:t>check the speed of the wind and humidity, </a:t>
            </a:r>
          </a:p>
          <a:p>
            <a:pPr marL="514350" indent="-514350">
              <a:buFont typeface="+mj-lt"/>
              <a:buAutoNum type="arabicPeriod"/>
            </a:pPr>
            <a:r>
              <a:rPr lang="en-US" sz="3200" dirty="0"/>
              <a:t>how the weather is, i.e. is it sunny, cloudy, or rainy. </a:t>
            </a:r>
            <a:endParaRPr lang="en-US" sz="800" dirty="0"/>
          </a:p>
          <a:p>
            <a:pPr marL="0" indent="0">
              <a:buNone/>
            </a:pPr>
            <a:endParaRPr lang="en-US" sz="1050" dirty="0"/>
          </a:p>
          <a:p>
            <a:pPr marL="0" indent="0">
              <a:buNone/>
            </a:pPr>
            <a:r>
              <a:rPr lang="en-US" sz="3200" b="1" dirty="0">
                <a:solidFill>
                  <a:srgbClr val="FF0000"/>
                </a:solidFill>
              </a:rPr>
              <a:t>You take all these factors into account to decide if you want to play or not.</a:t>
            </a:r>
          </a:p>
        </p:txBody>
      </p:sp>
    </p:spTree>
    <p:extLst>
      <p:ext uri="{BB962C8B-B14F-4D97-AF65-F5344CB8AC3E}">
        <p14:creationId xmlns:p14="http://schemas.microsoft.com/office/powerpoint/2010/main" val="8375625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7536873" y="2646359"/>
            <a:ext cx="4308764" cy="1865894"/>
          </a:xfrm>
          <a:solidFill>
            <a:srgbClr val="FFC000"/>
          </a:solidFill>
        </p:spPr>
        <p:txBody>
          <a:bodyPr>
            <a:noAutofit/>
          </a:bodyPr>
          <a:lstStyle/>
          <a:p>
            <a:pPr algn="l"/>
            <a:r>
              <a:rPr lang="en-US" sz="2400" b="1" cap="none" dirty="0">
                <a:solidFill>
                  <a:schemeClr val="bg1"/>
                </a:solidFill>
              </a:rPr>
              <a:t>So, you calculate all these factors </a:t>
            </a:r>
            <a:r>
              <a:rPr lang="en-US" sz="2400" b="1" cap="none" dirty="0">
                <a:solidFill>
                  <a:srgbClr val="00B0F0"/>
                </a:solidFill>
              </a:rPr>
              <a:t>for the last ten days</a:t>
            </a:r>
            <a:r>
              <a:rPr lang="en-US" sz="2400" b="1" cap="none" dirty="0">
                <a:solidFill>
                  <a:schemeClr val="bg1"/>
                </a:solidFill>
              </a:rPr>
              <a:t> and form A lookup table like the one shown.</a:t>
            </a:r>
          </a:p>
        </p:txBody>
      </p:sp>
      <p:pic>
        <p:nvPicPr>
          <p:cNvPr id="4" name="Content Placeholder 3"/>
          <p:cNvPicPr>
            <a:picLocks noGrp="1" noChangeAspect="1"/>
          </p:cNvPicPr>
          <p:nvPr>
            <p:ph idx="1"/>
          </p:nvPr>
        </p:nvPicPr>
        <p:blipFill rotWithShape="1">
          <a:blip r:embed="rId2"/>
          <a:srcRect l="-341" t="-1" r="-3978" b="5162"/>
          <a:stretch/>
        </p:blipFill>
        <p:spPr>
          <a:xfrm>
            <a:off x="914400" y="1439199"/>
            <a:ext cx="6430295" cy="5122325"/>
          </a:xfrm>
          <a:prstGeom prst="rect">
            <a:avLst/>
          </a:prstGeom>
        </p:spPr>
      </p:pic>
      <p:sp>
        <p:nvSpPr>
          <p:cNvPr id="5" name="TextBox 4"/>
          <p:cNvSpPr txBox="1"/>
          <p:nvPr/>
        </p:nvSpPr>
        <p:spPr>
          <a:xfrm>
            <a:off x="2711669" y="204952"/>
            <a:ext cx="7583214" cy="646331"/>
          </a:xfrm>
          <a:prstGeom prst="rect">
            <a:avLst/>
          </a:prstGeom>
          <a:noFill/>
        </p:spPr>
        <p:txBody>
          <a:bodyPr wrap="square" rtlCol="0">
            <a:spAutoFit/>
          </a:bodyPr>
          <a:lstStyle/>
          <a:p>
            <a:r>
              <a:rPr lang="en-US" altLang="en-US" sz="3600" b="1" dirty="0">
                <a:solidFill>
                  <a:srgbClr val="FFC000"/>
                </a:solidFill>
                <a:latin typeface="Times New Roman" panose="02020603050405020304" pitchFamily="18" charset="0"/>
                <a:cs typeface="Times New Roman" panose="02020603050405020304" pitchFamily="18" charset="0"/>
              </a:rPr>
              <a:t>Decision Trees </a:t>
            </a:r>
            <a:r>
              <a:rPr lang="en-US" altLang="en-US" sz="3600" b="1" dirty="0">
                <a:solidFill>
                  <a:srgbClr val="00B0F0"/>
                </a:solidFill>
                <a:latin typeface="Times New Roman" panose="02020603050405020304" pitchFamily="18" charset="0"/>
                <a:cs typeface="Times New Roman" panose="02020603050405020304" pitchFamily="18" charset="0"/>
              </a:rPr>
              <a:t>Example 3-contn</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05477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33381" y="2048859"/>
            <a:ext cx="5445567" cy="2632842"/>
          </a:xfrm>
          <a:prstGeom prst="rect">
            <a:avLst/>
          </a:prstGeom>
        </p:spPr>
      </p:pic>
      <p:pic>
        <p:nvPicPr>
          <p:cNvPr id="5" name="Picture 4"/>
          <p:cNvPicPr>
            <a:picLocks noChangeAspect="1"/>
          </p:cNvPicPr>
          <p:nvPr/>
        </p:nvPicPr>
        <p:blipFill>
          <a:blip r:embed="rId3"/>
          <a:stretch>
            <a:fillRect/>
          </a:stretch>
        </p:blipFill>
        <p:spPr>
          <a:xfrm>
            <a:off x="6457941" y="2096814"/>
            <a:ext cx="5513335" cy="2584887"/>
          </a:xfrm>
          <a:prstGeom prst="rect">
            <a:avLst/>
          </a:prstGeom>
        </p:spPr>
      </p:pic>
      <p:sp>
        <p:nvSpPr>
          <p:cNvPr id="6" name="TextBox 5"/>
          <p:cNvSpPr txBox="1"/>
          <p:nvPr/>
        </p:nvSpPr>
        <p:spPr>
          <a:xfrm>
            <a:off x="1876096" y="378372"/>
            <a:ext cx="9427779" cy="830997"/>
          </a:xfrm>
          <a:prstGeom prst="rect">
            <a:avLst/>
          </a:prstGeom>
          <a:noFill/>
        </p:spPr>
        <p:txBody>
          <a:bodyPr wrap="square" rtlCol="0">
            <a:spAutoFit/>
          </a:bodyPr>
          <a:lstStyle/>
          <a:p>
            <a:r>
              <a:rPr lang="en-US" altLang="en-US" sz="4800" b="1" dirty="0">
                <a:solidFill>
                  <a:srgbClr val="FFC000"/>
                </a:solidFill>
                <a:latin typeface="Times New Roman" panose="02020603050405020304" pitchFamily="18" charset="0"/>
                <a:cs typeface="Times New Roman" panose="02020603050405020304" pitchFamily="18" charset="0"/>
              </a:rPr>
              <a:t>Decision Trees </a:t>
            </a:r>
            <a:r>
              <a:rPr lang="en-US" altLang="en-US" sz="4800" b="1" dirty="0">
                <a:solidFill>
                  <a:srgbClr val="00B0F0"/>
                </a:solidFill>
                <a:latin typeface="Times New Roman" panose="02020603050405020304" pitchFamily="18" charset="0"/>
                <a:cs typeface="Times New Roman" panose="02020603050405020304" pitchFamily="18" charset="0"/>
              </a:rPr>
              <a:t>Example 3-contn</a:t>
            </a:r>
            <a:endParaRPr lang="en-US" sz="48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961696" y="5199816"/>
            <a:ext cx="3610304" cy="523220"/>
          </a:xfrm>
          <a:prstGeom prst="rect">
            <a:avLst/>
          </a:prstGeom>
          <a:solidFill>
            <a:srgbClr val="FFC000"/>
          </a:solidFill>
        </p:spPr>
        <p:txBody>
          <a:bodyPr wrap="square" rtlCol="0">
            <a:spAutoFit/>
          </a:bodyPr>
          <a:lstStyle>
            <a:defPPr>
              <a:defRPr lang="en-US"/>
            </a:defPPr>
            <a:lvl1pPr algn="ctr">
              <a:defRPr sz="2800" b="1">
                <a:solidFill>
                  <a:schemeClr val="bg1"/>
                </a:solidFill>
                <a:latin typeface="Times New Roman" panose="02020603050405020304" pitchFamily="18" charset="0"/>
                <a:cs typeface="Times New Roman" panose="02020603050405020304" pitchFamily="18" charset="0"/>
              </a:defRPr>
            </a:lvl1pPr>
          </a:lstStyle>
          <a:p>
            <a:r>
              <a:rPr lang="en-US" dirty="0">
                <a:solidFill>
                  <a:srgbClr val="00B0F0"/>
                </a:solidFill>
              </a:rPr>
              <a:t>General</a:t>
            </a:r>
            <a:r>
              <a:rPr lang="en-US" dirty="0"/>
              <a:t> solution</a:t>
            </a:r>
          </a:p>
        </p:txBody>
      </p:sp>
      <p:sp>
        <p:nvSpPr>
          <p:cNvPr id="8" name="TextBox 7"/>
          <p:cNvSpPr txBox="1"/>
          <p:nvPr/>
        </p:nvSpPr>
        <p:spPr>
          <a:xfrm>
            <a:off x="6637283" y="5199816"/>
            <a:ext cx="5060731" cy="523220"/>
          </a:xfrm>
          <a:prstGeom prst="rect">
            <a:avLst/>
          </a:prstGeom>
          <a:solidFill>
            <a:srgbClr val="FFC000"/>
          </a:solidFill>
        </p:spPr>
        <p:txBody>
          <a:bodyPr wrap="square" rtlCol="0">
            <a:spAutoFit/>
          </a:bodyPr>
          <a:lstStyle/>
          <a:p>
            <a:pPr algn="ctr"/>
            <a:r>
              <a:rPr lang="en-US" sz="2800" b="1" dirty="0">
                <a:solidFill>
                  <a:srgbClr val="00B0F0"/>
                </a:solidFill>
                <a:latin typeface="Times New Roman" panose="02020603050405020304" pitchFamily="18" charset="0"/>
                <a:cs typeface="Times New Roman" panose="02020603050405020304" pitchFamily="18" charset="0"/>
              </a:rPr>
              <a:t>Specific solution </a:t>
            </a:r>
            <a:r>
              <a:rPr lang="en-US" sz="2800" b="1" dirty="0">
                <a:solidFill>
                  <a:schemeClr val="bg1"/>
                </a:solidFill>
                <a:latin typeface="Times New Roman" panose="02020603050405020304" pitchFamily="18" charset="0"/>
                <a:cs typeface="Times New Roman" panose="02020603050405020304" pitchFamily="18" charset="0"/>
              </a:rPr>
              <a:t>with ranges</a:t>
            </a:r>
          </a:p>
        </p:txBody>
      </p:sp>
    </p:spTree>
    <p:extLst>
      <p:ext uri="{BB962C8B-B14F-4D97-AF65-F5344CB8AC3E}">
        <p14:creationId xmlns:p14="http://schemas.microsoft.com/office/powerpoint/2010/main" val="28391122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6409" y="374747"/>
            <a:ext cx="10079182" cy="816481"/>
          </a:xfrm>
        </p:spPr>
        <p:txBody>
          <a:bodyPr>
            <a:noAutofit/>
          </a:bodyPr>
          <a:lstStyle/>
          <a:p>
            <a:pPr algn="ctr"/>
            <a:r>
              <a:rPr lang="en-US" sz="3200" b="1" cap="none" dirty="0">
                <a:solidFill>
                  <a:srgbClr val="FFC000"/>
                </a:solidFill>
              </a:rPr>
              <a:t>Decision Trees Practical </a:t>
            </a:r>
            <a:r>
              <a:rPr lang="en-US" sz="3200" b="1" cap="none" dirty="0">
                <a:solidFill>
                  <a:srgbClr val="00B0F0"/>
                </a:solidFill>
              </a:rPr>
              <a:t>Applications</a:t>
            </a:r>
            <a:br>
              <a:rPr lang="en-US" sz="3200" b="1" dirty="0"/>
            </a:br>
            <a:endParaRPr lang="en-US" sz="3200" dirty="0"/>
          </a:p>
        </p:txBody>
      </p:sp>
      <p:sp>
        <p:nvSpPr>
          <p:cNvPr id="5" name="Rectangle 4"/>
          <p:cNvSpPr/>
          <p:nvPr/>
        </p:nvSpPr>
        <p:spPr>
          <a:xfrm>
            <a:off x="176981" y="1312607"/>
            <a:ext cx="11901948" cy="5170646"/>
          </a:xfrm>
          <a:prstGeom prst="rect">
            <a:avLst/>
          </a:prstGeom>
        </p:spPr>
        <p:txBody>
          <a:bodyPr wrap="square">
            <a:spAutoFit/>
          </a:bodyPr>
          <a:lstStyle/>
          <a:p>
            <a:pPr marL="342900" indent="-342900">
              <a:buFont typeface="Arial" panose="020B0604020202020204" pitchFamily="34" charset="0"/>
              <a:buChar char="•"/>
            </a:pPr>
            <a:r>
              <a:rPr lang="en-US" sz="2200" b="1" dirty="0">
                <a:solidFill>
                  <a:srgbClr val="00B0F0"/>
                </a:solidFill>
                <a:latin typeface="Times New Roman" panose="02020603050405020304" pitchFamily="18" charset="0"/>
                <a:cs typeface="Times New Roman" panose="02020603050405020304" pitchFamily="18" charset="0"/>
              </a:rPr>
              <a:t>Marketing:</a:t>
            </a:r>
            <a:endParaRPr lang="en-US" sz="2200" dirty="0">
              <a:solidFill>
                <a:srgbClr val="00B0F0"/>
              </a:solidFill>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Businesses can use decision trees to </a:t>
            </a:r>
            <a:r>
              <a:rPr lang="en-US" sz="2200" dirty="0">
                <a:solidFill>
                  <a:srgbClr val="00B0F0"/>
                </a:solidFill>
                <a:latin typeface="Times New Roman" panose="02020603050405020304" pitchFamily="18" charset="0"/>
                <a:cs typeface="Times New Roman" panose="02020603050405020304" pitchFamily="18" charset="0"/>
              </a:rPr>
              <a:t>enhance the accuracy of their promotional campaigns </a:t>
            </a:r>
            <a:r>
              <a:rPr lang="en-US" sz="2200" dirty="0">
                <a:latin typeface="Times New Roman" panose="02020603050405020304" pitchFamily="18" charset="0"/>
                <a:cs typeface="Times New Roman" panose="02020603050405020304" pitchFamily="18" charset="0"/>
              </a:rPr>
              <a:t>by observing the performance of their competitors’ products and services. </a:t>
            </a:r>
          </a:p>
          <a:p>
            <a:pPr marL="342900" indent="-342900">
              <a:buFont typeface="Arial" panose="020B0604020202020204" pitchFamily="34" charset="0"/>
              <a:buChar char="•"/>
            </a:pPr>
            <a:r>
              <a:rPr lang="en-US" sz="2200" b="1" dirty="0">
                <a:solidFill>
                  <a:srgbClr val="00B0F0"/>
                </a:solidFill>
                <a:latin typeface="Times New Roman" panose="02020603050405020304" pitchFamily="18" charset="0"/>
                <a:cs typeface="Times New Roman" panose="02020603050405020304" pitchFamily="18" charset="0"/>
              </a:rPr>
              <a:t>Retention of Customers:</a:t>
            </a:r>
            <a:endParaRPr lang="en-US" sz="2200" dirty="0">
              <a:solidFill>
                <a:srgbClr val="00B0F0"/>
              </a:solidFill>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Companies use decision trees </a:t>
            </a:r>
            <a:r>
              <a:rPr lang="en-US" sz="2200" dirty="0">
                <a:solidFill>
                  <a:srgbClr val="FFC000"/>
                </a:solidFill>
                <a:latin typeface="Times New Roman" panose="02020603050405020304" pitchFamily="18" charset="0"/>
                <a:cs typeface="Times New Roman" panose="02020603050405020304" pitchFamily="18" charset="0"/>
              </a:rPr>
              <a:t>for customer retention through analyzing their behaviors and releasing new offers or products to suit those behaviors</a:t>
            </a:r>
            <a:r>
              <a:rPr lang="en-US" sz="2200" dirty="0">
                <a:latin typeface="Times New Roman" panose="02020603050405020304" pitchFamily="18" charset="0"/>
                <a:cs typeface="Times New Roman" panose="02020603050405020304" pitchFamily="18" charset="0"/>
              </a:rPr>
              <a:t>. By using decision tree models, companies can figure out the satisfaction levels of their customers as well. </a:t>
            </a:r>
          </a:p>
          <a:p>
            <a:pPr marL="342900" indent="-342900">
              <a:buFont typeface="Arial" panose="020B0604020202020204" pitchFamily="34" charset="0"/>
              <a:buChar char="•"/>
            </a:pPr>
            <a:r>
              <a:rPr lang="en-US" sz="2200" b="1" dirty="0">
                <a:solidFill>
                  <a:srgbClr val="00B0F0"/>
                </a:solidFill>
                <a:latin typeface="Times New Roman" panose="02020603050405020304" pitchFamily="18" charset="0"/>
                <a:cs typeface="Times New Roman" panose="02020603050405020304" pitchFamily="18" charset="0"/>
              </a:rPr>
              <a:t>Diagnosis of Diseases and Ailments </a:t>
            </a:r>
            <a:r>
              <a:rPr lang="ar-EG" sz="2200" b="1" dirty="0">
                <a:solidFill>
                  <a:srgbClr val="FF0000"/>
                </a:solidFill>
                <a:latin typeface="Times New Roman" panose="02020603050405020304" pitchFamily="18" charset="0"/>
                <a:cs typeface="Times New Roman" panose="02020603050405020304" pitchFamily="18" charset="0"/>
              </a:rPr>
              <a:t>الامراض</a:t>
            </a:r>
            <a:r>
              <a:rPr lang="ar-EG" sz="2200" b="1" dirty="0">
                <a:solidFill>
                  <a:srgbClr val="00B0F0"/>
                </a:solidFill>
                <a:latin typeface="Times New Roman" panose="02020603050405020304" pitchFamily="18" charset="0"/>
                <a:cs typeface="Times New Roman" panose="02020603050405020304" pitchFamily="18" charset="0"/>
              </a:rPr>
              <a:t> </a:t>
            </a:r>
            <a:endParaRPr lang="en-US" sz="2200" dirty="0">
              <a:solidFill>
                <a:srgbClr val="00B0F0"/>
              </a:solidFill>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Decision trees can help physicians and medical professionals in </a:t>
            </a:r>
            <a:r>
              <a:rPr lang="en-US" sz="2200" dirty="0">
                <a:solidFill>
                  <a:srgbClr val="FFC000"/>
                </a:solidFill>
                <a:latin typeface="Times New Roman" panose="02020603050405020304" pitchFamily="18" charset="0"/>
                <a:cs typeface="Times New Roman" panose="02020603050405020304" pitchFamily="18" charset="0"/>
              </a:rPr>
              <a:t>identifying patients that are at a higher risk of developing serious conditions such as diabetes</a:t>
            </a:r>
            <a:r>
              <a:rPr lang="en-US" sz="2200" dirty="0">
                <a:latin typeface="Times New Roman" panose="02020603050405020304" pitchFamily="18" charset="0"/>
                <a:cs typeface="Times New Roman" panose="02020603050405020304" pitchFamily="18" charset="0"/>
              </a:rPr>
              <a:t>. The ability of decision trees to narrow down possibilities according to specific variables is quite helpful in such cases. </a:t>
            </a:r>
          </a:p>
          <a:p>
            <a:pPr marL="342900" indent="-342900">
              <a:buFont typeface="Arial" panose="020B0604020202020204" pitchFamily="34" charset="0"/>
              <a:buChar char="•"/>
            </a:pPr>
            <a:r>
              <a:rPr lang="en-US" sz="2200" b="1" dirty="0">
                <a:solidFill>
                  <a:srgbClr val="00B0F0"/>
                </a:solidFill>
                <a:latin typeface="Times New Roman" panose="02020603050405020304" pitchFamily="18" charset="0"/>
                <a:cs typeface="Times New Roman" panose="02020603050405020304" pitchFamily="18" charset="0"/>
              </a:rPr>
              <a:t>Detection of Frauds: </a:t>
            </a:r>
            <a:r>
              <a:rPr lang="ar-EG" sz="2200" b="1" dirty="0">
                <a:solidFill>
                  <a:srgbClr val="FF0000"/>
                </a:solidFill>
                <a:latin typeface="Times New Roman" panose="02020603050405020304" pitchFamily="18" charset="0"/>
                <a:cs typeface="Times New Roman" panose="02020603050405020304" pitchFamily="18" charset="0"/>
              </a:rPr>
              <a:t>الاحتيال</a:t>
            </a:r>
            <a:endParaRPr lang="en-US" sz="2200" b="1" dirty="0">
              <a:solidFill>
                <a:srgbClr val="FF0000"/>
              </a:solidFill>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Companies can prevent fraud by using decision trees to </a:t>
            </a:r>
            <a:r>
              <a:rPr lang="en-US" sz="2200" dirty="0">
                <a:solidFill>
                  <a:srgbClr val="FFC000"/>
                </a:solidFill>
                <a:latin typeface="Times New Roman" panose="02020603050405020304" pitchFamily="18" charset="0"/>
                <a:cs typeface="Times New Roman" panose="02020603050405020304" pitchFamily="18" charset="0"/>
              </a:rPr>
              <a:t>identify fraudulent behavior beforehand</a:t>
            </a:r>
            <a:r>
              <a:rPr lang="en-US" sz="2200" dirty="0">
                <a:latin typeface="Times New Roman" panose="02020603050405020304" pitchFamily="18" charset="0"/>
                <a:cs typeface="Times New Roman" panose="02020603050405020304" pitchFamily="18" charset="0"/>
              </a:rPr>
              <a:t>. It can save companies a lot of resources, including time and money. </a:t>
            </a:r>
          </a:p>
          <a:p>
            <a:endParaRPr lang="en-US" sz="22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89143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8408" y="0"/>
            <a:ext cx="9696677" cy="1084610"/>
          </a:xfrm>
        </p:spPr>
        <p:txBody>
          <a:bodyPr>
            <a:normAutofit fontScale="90000"/>
          </a:bodyPr>
          <a:lstStyle/>
          <a:p>
            <a:r>
              <a:rPr lang="en-US" altLang="en-US" sz="4800" b="1" cap="none" dirty="0">
                <a:solidFill>
                  <a:srgbClr val="00B0F0"/>
                </a:solidFill>
                <a:ea typeface="Calibri" panose="020F0502020204030204" pitchFamily="34" charset="0"/>
              </a:rPr>
              <a:t>5.4</a:t>
            </a:r>
            <a:r>
              <a:rPr lang="en-US" altLang="en-US" sz="4800" b="1" cap="none" dirty="0">
                <a:solidFill>
                  <a:srgbClr val="FFC000"/>
                </a:solidFill>
                <a:ea typeface="Calibri" panose="020F0502020204030204" pitchFamily="34" charset="0"/>
              </a:rPr>
              <a:t> Artificial Neural Networks (ANN)</a:t>
            </a:r>
            <a:br>
              <a:rPr lang="en-US" altLang="en-US" cap="none" dirty="0"/>
            </a:br>
            <a:endParaRPr lang="en-US" dirty="0"/>
          </a:p>
        </p:txBody>
      </p:sp>
      <p:sp>
        <p:nvSpPr>
          <p:cNvPr id="3" name="Content Placeholder 2"/>
          <p:cNvSpPr>
            <a:spLocks noGrp="1"/>
          </p:cNvSpPr>
          <p:nvPr>
            <p:ph idx="1"/>
          </p:nvPr>
        </p:nvSpPr>
        <p:spPr>
          <a:xfrm>
            <a:off x="193963" y="1084610"/>
            <a:ext cx="8610600" cy="5635504"/>
          </a:xfrm>
        </p:spPr>
        <p:txBody>
          <a:bodyPr>
            <a:normAutofit lnSpcReduction="10000"/>
          </a:bodyPr>
          <a:lstStyle/>
          <a:p>
            <a:pPr algn="just"/>
            <a:r>
              <a:rPr lang="en-US" sz="2100" dirty="0"/>
              <a:t>In machine learning, a neural network is a model inspired by the structure and function of biological neural networks in animal brains. </a:t>
            </a:r>
          </a:p>
          <a:p>
            <a:pPr algn="just"/>
            <a:r>
              <a:rPr lang="en-US" sz="2100" dirty="0"/>
              <a:t>An ANN consists of connected units or nodes called artificial neurons, which loosely model the neurons in a brain. These are connected by edges, which model the synapses in a brain. </a:t>
            </a:r>
          </a:p>
          <a:p>
            <a:pPr algn="just"/>
            <a:r>
              <a:rPr lang="en-US" sz="2100" dirty="0"/>
              <a:t> In neuroscience, the hypothesis that mental activity consists primarily of electrochemical activity in networks of brain cells is called </a:t>
            </a:r>
            <a:r>
              <a:rPr lang="en-US" sz="2100" b="1" dirty="0">
                <a:solidFill>
                  <a:srgbClr val="00B0F0"/>
                </a:solidFill>
              </a:rPr>
              <a:t>neurons</a:t>
            </a:r>
            <a:r>
              <a:rPr lang="en-US" sz="2100" b="1" dirty="0"/>
              <a:t>.</a:t>
            </a:r>
          </a:p>
          <a:p>
            <a:pPr algn="just"/>
            <a:r>
              <a:rPr lang="en-US" sz="2100" dirty="0"/>
              <a:t>Each neuron consists of a </a:t>
            </a:r>
            <a:r>
              <a:rPr lang="en-US" sz="2100" b="1" dirty="0">
                <a:solidFill>
                  <a:srgbClr val="FF0000"/>
                </a:solidFill>
              </a:rPr>
              <a:t>cell body, or soma</a:t>
            </a:r>
            <a:r>
              <a:rPr lang="en-US" sz="2100" dirty="0"/>
              <a:t>, that contains a cell nucleus. Branching out from the cell body are a </a:t>
            </a:r>
            <a:r>
              <a:rPr lang="en-US" sz="2100" b="1" dirty="0">
                <a:solidFill>
                  <a:srgbClr val="FF0000"/>
                </a:solidFill>
              </a:rPr>
              <a:t>number of fibers called dendrites </a:t>
            </a:r>
            <a:r>
              <a:rPr lang="en-US" sz="2100" dirty="0"/>
              <a:t>and a single long fiber called </a:t>
            </a:r>
            <a:r>
              <a:rPr lang="en-US" sz="2100" b="1" dirty="0">
                <a:solidFill>
                  <a:srgbClr val="FF0000"/>
                </a:solidFill>
              </a:rPr>
              <a:t>the axon</a:t>
            </a:r>
            <a:r>
              <a:rPr lang="en-US" sz="2100" dirty="0"/>
              <a:t>. The axon stretches out for a long distance, much longer than the scale in this diagram indicates. </a:t>
            </a:r>
          </a:p>
          <a:p>
            <a:pPr algn="just"/>
            <a:r>
              <a:rPr lang="en-US" sz="2100" dirty="0"/>
              <a:t>Typically, an axon is </a:t>
            </a:r>
            <a:r>
              <a:rPr lang="en-US" sz="2100" dirty="0">
                <a:solidFill>
                  <a:srgbClr val="00B0F0"/>
                </a:solidFill>
              </a:rPr>
              <a:t>1 cm </a:t>
            </a:r>
            <a:r>
              <a:rPr lang="en-US" sz="2100" dirty="0"/>
              <a:t>long (100 times the diameter of the cell body), but can reach up to </a:t>
            </a:r>
            <a:r>
              <a:rPr lang="en-US" sz="2100" dirty="0">
                <a:solidFill>
                  <a:srgbClr val="00B0F0"/>
                </a:solidFill>
              </a:rPr>
              <a:t>1 meter. </a:t>
            </a:r>
          </a:p>
          <a:p>
            <a:pPr algn="just"/>
            <a:r>
              <a:rPr lang="en-US" sz="2100" dirty="0"/>
              <a:t>A neuron makes connections with </a:t>
            </a:r>
            <a:r>
              <a:rPr lang="en-US" sz="2100" b="1" dirty="0">
                <a:solidFill>
                  <a:srgbClr val="00B0F0"/>
                </a:solidFill>
              </a:rPr>
              <a:t>10 to 100,000 other neurons </a:t>
            </a:r>
            <a:r>
              <a:rPr lang="en-US" sz="2100" dirty="0"/>
              <a:t>at junctions called </a:t>
            </a:r>
            <a:r>
              <a:rPr lang="en-US" sz="2100" b="1" dirty="0">
                <a:solidFill>
                  <a:srgbClr val="FF0000"/>
                </a:solidFill>
              </a:rPr>
              <a:t>synapses</a:t>
            </a:r>
            <a:r>
              <a:rPr lang="en-US" sz="2100" dirty="0"/>
              <a:t>. </a:t>
            </a:r>
          </a:p>
          <a:p>
            <a:pPr algn="just"/>
            <a:r>
              <a:rPr lang="en-US" sz="2100" dirty="0"/>
              <a:t>Signals are propagated from neuron to neuron by a complicated electrochemical reaction. The signals control brain activity in the short term and also enable long-term changes in the connectivity of neurons. </a:t>
            </a:r>
          </a:p>
          <a:p>
            <a:endParaRPr lang="en-US" sz="1800" b="1" dirty="0"/>
          </a:p>
          <a:p>
            <a:endParaRPr lang="en-US" sz="1800" dirty="0"/>
          </a:p>
        </p:txBody>
      </p:sp>
      <p:pic>
        <p:nvPicPr>
          <p:cNvPr id="4" name="Picture 3"/>
          <p:cNvPicPr/>
          <p:nvPr/>
        </p:nvPicPr>
        <p:blipFill rotWithShape="1">
          <a:blip r:embed="rId2"/>
          <a:srcRect l="18608" t="24973" r="28641" b="29539"/>
          <a:stretch/>
        </p:blipFill>
        <p:spPr bwMode="auto">
          <a:xfrm>
            <a:off x="8984343" y="2898946"/>
            <a:ext cx="3013694" cy="1644025"/>
          </a:xfrm>
          <a:prstGeom prst="rect">
            <a:avLst/>
          </a:prstGeom>
          <a:ln>
            <a:noFill/>
          </a:ln>
          <a:extLst>
            <a:ext uri="{53640926-AAD7-44D8-BBD7-CCE9431645EC}">
              <a14:shadowObscured xmlns:a14="http://schemas.microsoft.com/office/drawing/2010/main"/>
            </a:ext>
          </a:extLst>
        </p:spPr>
      </p:pic>
      <p:sp>
        <p:nvSpPr>
          <p:cNvPr id="5" name="Freeform: Shape 4">
            <a:extLst>
              <a:ext uri="{FF2B5EF4-FFF2-40B4-BE49-F238E27FC236}">
                <a16:creationId xmlns:a16="http://schemas.microsoft.com/office/drawing/2014/main" id="{14E7AC9D-4CD4-4F9D-A0AC-F7F18FE37C1F}"/>
              </a:ext>
            </a:extLst>
          </p:cNvPr>
          <p:cNvSpPr/>
          <p:nvPr/>
        </p:nvSpPr>
        <p:spPr>
          <a:xfrm>
            <a:off x="8694057" y="1885635"/>
            <a:ext cx="1640114" cy="1013311"/>
          </a:xfrm>
          <a:custGeom>
            <a:avLst/>
            <a:gdLst>
              <a:gd name="connsiteX0" fmla="*/ 0 w 1691138"/>
              <a:gd name="connsiteY0" fmla="*/ 0 h 1108363"/>
              <a:gd name="connsiteX1" fmla="*/ 69273 w 1691138"/>
              <a:gd name="connsiteY1" fmla="*/ 13854 h 1108363"/>
              <a:gd name="connsiteX2" fmla="*/ 180109 w 1691138"/>
              <a:gd name="connsiteY2" fmla="*/ 41563 h 1108363"/>
              <a:gd name="connsiteX3" fmla="*/ 609600 w 1691138"/>
              <a:gd name="connsiteY3" fmla="*/ 69272 h 1108363"/>
              <a:gd name="connsiteX4" fmla="*/ 678873 w 1691138"/>
              <a:gd name="connsiteY4" fmla="*/ 83127 h 1108363"/>
              <a:gd name="connsiteX5" fmla="*/ 720436 w 1691138"/>
              <a:gd name="connsiteY5" fmla="*/ 96981 h 1108363"/>
              <a:gd name="connsiteX6" fmla="*/ 803564 w 1691138"/>
              <a:gd name="connsiteY6" fmla="*/ 110836 h 1108363"/>
              <a:gd name="connsiteX7" fmla="*/ 845127 w 1691138"/>
              <a:gd name="connsiteY7" fmla="*/ 138545 h 1108363"/>
              <a:gd name="connsiteX8" fmla="*/ 983673 w 1691138"/>
              <a:gd name="connsiteY8" fmla="*/ 166254 h 1108363"/>
              <a:gd name="connsiteX9" fmla="*/ 1025236 w 1691138"/>
              <a:gd name="connsiteY9" fmla="*/ 180109 h 1108363"/>
              <a:gd name="connsiteX10" fmla="*/ 1108364 w 1691138"/>
              <a:gd name="connsiteY10" fmla="*/ 235527 h 1108363"/>
              <a:gd name="connsiteX11" fmla="*/ 1163782 w 1691138"/>
              <a:gd name="connsiteY11" fmla="*/ 249381 h 1108363"/>
              <a:gd name="connsiteX12" fmla="*/ 1233055 w 1691138"/>
              <a:gd name="connsiteY12" fmla="*/ 304800 h 1108363"/>
              <a:gd name="connsiteX13" fmla="*/ 1274618 w 1691138"/>
              <a:gd name="connsiteY13" fmla="*/ 332509 h 1108363"/>
              <a:gd name="connsiteX14" fmla="*/ 1330036 w 1691138"/>
              <a:gd name="connsiteY14" fmla="*/ 374072 h 1108363"/>
              <a:gd name="connsiteX15" fmla="*/ 1371600 w 1691138"/>
              <a:gd name="connsiteY15" fmla="*/ 401781 h 1108363"/>
              <a:gd name="connsiteX16" fmla="*/ 1468582 w 1691138"/>
              <a:gd name="connsiteY16" fmla="*/ 471054 h 1108363"/>
              <a:gd name="connsiteX17" fmla="*/ 1537855 w 1691138"/>
              <a:gd name="connsiteY17" fmla="*/ 540327 h 1108363"/>
              <a:gd name="connsiteX18" fmla="*/ 1565564 w 1691138"/>
              <a:gd name="connsiteY18" fmla="*/ 581890 h 1108363"/>
              <a:gd name="connsiteX19" fmla="*/ 1620982 w 1691138"/>
              <a:gd name="connsiteY19" fmla="*/ 651163 h 1108363"/>
              <a:gd name="connsiteX20" fmla="*/ 1662545 w 1691138"/>
              <a:gd name="connsiteY20" fmla="*/ 775854 h 1108363"/>
              <a:gd name="connsiteX21" fmla="*/ 1676400 w 1691138"/>
              <a:gd name="connsiteY21" fmla="*/ 817418 h 1108363"/>
              <a:gd name="connsiteX22" fmla="*/ 1690255 w 1691138"/>
              <a:gd name="connsiteY22" fmla="*/ 1108363 h 1108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91138" h="1108363">
                <a:moveTo>
                  <a:pt x="0" y="0"/>
                </a:moveTo>
                <a:cubicBezTo>
                  <a:pt x="23091" y="4618"/>
                  <a:pt x="46428" y="8143"/>
                  <a:pt x="69273" y="13854"/>
                </a:cubicBezTo>
                <a:cubicBezTo>
                  <a:pt x="155242" y="35346"/>
                  <a:pt x="60934" y="24538"/>
                  <a:pt x="180109" y="41563"/>
                </a:cubicBezTo>
                <a:cubicBezTo>
                  <a:pt x="332308" y="63306"/>
                  <a:pt x="441957" y="61652"/>
                  <a:pt x="609600" y="69272"/>
                </a:cubicBezTo>
                <a:cubicBezTo>
                  <a:pt x="632691" y="73890"/>
                  <a:pt x="656028" y="77416"/>
                  <a:pt x="678873" y="83127"/>
                </a:cubicBezTo>
                <a:cubicBezTo>
                  <a:pt x="693041" y="86669"/>
                  <a:pt x="706180" y="93813"/>
                  <a:pt x="720436" y="96981"/>
                </a:cubicBezTo>
                <a:cubicBezTo>
                  <a:pt x="747859" y="103075"/>
                  <a:pt x="775855" y="106218"/>
                  <a:pt x="803564" y="110836"/>
                </a:cubicBezTo>
                <a:cubicBezTo>
                  <a:pt x="817418" y="120072"/>
                  <a:pt x="829822" y="131986"/>
                  <a:pt x="845127" y="138545"/>
                </a:cubicBezTo>
                <a:cubicBezTo>
                  <a:pt x="871435" y="149820"/>
                  <a:pt x="964914" y="163128"/>
                  <a:pt x="983673" y="166254"/>
                </a:cubicBezTo>
                <a:cubicBezTo>
                  <a:pt x="997527" y="170872"/>
                  <a:pt x="1012470" y="173017"/>
                  <a:pt x="1025236" y="180109"/>
                </a:cubicBezTo>
                <a:cubicBezTo>
                  <a:pt x="1054347" y="196282"/>
                  <a:pt x="1076056" y="227450"/>
                  <a:pt x="1108364" y="235527"/>
                </a:cubicBezTo>
                <a:lnTo>
                  <a:pt x="1163782" y="249381"/>
                </a:lnTo>
                <a:cubicBezTo>
                  <a:pt x="1291705" y="334664"/>
                  <a:pt x="1134348" y="225833"/>
                  <a:pt x="1233055" y="304800"/>
                </a:cubicBezTo>
                <a:cubicBezTo>
                  <a:pt x="1246057" y="315202"/>
                  <a:pt x="1261069" y="322831"/>
                  <a:pt x="1274618" y="332509"/>
                </a:cubicBezTo>
                <a:cubicBezTo>
                  <a:pt x="1293408" y="345930"/>
                  <a:pt x="1311246" y="360651"/>
                  <a:pt x="1330036" y="374072"/>
                </a:cubicBezTo>
                <a:cubicBezTo>
                  <a:pt x="1343586" y="383750"/>
                  <a:pt x="1358050" y="392103"/>
                  <a:pt x="1371600" y="401781"/>
                </a:cubicBezTo>
                <a:cubicBezTo>
                  <a:pt x="1491894" y="487705"/>
                  <a:pt x="1370628" y="405752"/>
                  <a:pt x="1468582" y="471054"/>
                </a:cubicBezTo>
                <a:cubicBezTo>
                  <a:pt x="1542470" y="581887"/>
                  <a:pt x="1445494" y="447967"/>
                  <a:pt x="1537855" y="540327"/>
                </a:cubicBezTo>
                <a:cubicBezTo>
                  <a:pt x="1549629" y="552101"/>
                  <a:pt x="1555162" y="568888"/>
                  <a:pt x="1565564" y="581890"/>
                </a:cubicBezTo>
                <a:cubicBezTo>
                  <a:pt x="1644530" y="680598"/>
                  <a:pt x="1535698" y="523238"/>
                  <a:pt x="1620982" y="651163"/>
                </a:cubicBezTo>
                <a:lnTo>
                  <a:pt x="1662545" y="775854"/>
                </a:lnTo>
                <a:lnTo>
                  <a:pt x="1676400" y="817418"/>
                </a:lnTo>
                <a:cubicBezTo>
                  <a:pt x="1696375" y="997188"/>
                  <a:pt x="1690255" y="900290"/>
                  <a:pt x="1690255" y="1108363"/>
                </a:cubicBezTo>
              </a:path>
            </a:pathLst>
          </a:custGeom>
          <a:noFill/>
          <a:ln w="349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31097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8310" y="0"/>
            <a:ext cx="8610600" cy="1293028"/>
          </a:xfrm>
        </p:spPr>
        <p:txBody>
          <a:bodyPr/>
          <a:lstStyle/>
          <a:p>
            <a:r>
              <a:rPr lang="en-US" b="1" dirty="0">
                <a:solidFill>
                  <a:srgbClr val="FFC000"/>
                </a:solidFill>
              </a:rPr>
              <a:t>The basic unit: </a:t>
            </a:r>
            <a:r>
              <a:rPr lang="en-US" b="1" dirty="0">
                <a:solidFill>
                  <a:srgbClr val="00B0F0"/>
                </a:solidFill>
              </a:rPr>
              <a:t>Neuron</a:t>
            </a:r>
          </a:p>
        </p:txBody>
      </p:sp>
      <p:pic>
        <p:nvPicPr>
          <p:cNvPr id="5" name="Picture 4"/>
          <p:cNvPicPr/>
          <p:nvPr/>
        </p:nvPicPr>
        <p:blipFill rotWithShape="1">
          <a:blip r:embed="rId2"/>
          <a:srcRect l="15183" t="32081" r="27741" b="35235"/>
          <a:stretch/>
        </p:blipFill>
        <p:spPr bwMode="auto">
          <a:xfrm>
            <a:off x="1347018" y="1651819"/>
            <a:ext cx="9497961" cy="2344994"/>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6" name="Text Box 2"/>
              <p:cNvSpPr txBox="1">
                <a:spLocks noChangeArrowheads="1"/>
              </p:cNvSpPr>
              <p:nvPr/>
            </p:nvSpPr>
            <p:spPr bwMode="auto">
              <a:xfrm>
                <a:off x="1347019" y="4431230"/>
                <a:ext cx="9497961" cy="1787455"/>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marL="0" marR="0">
                  <a:lnSpc>
                    <a:spcPct val="107000"/>
                  </a:lnSpc>
                  <a:spcBef>
                    <a:spcPts val="0"/>
                  </a:spcBef>
                  <a:spcAft>
                    <a:spcPts val="0"/>
                  </a:spcAft>
                </a:pPr>
                <a:r>
                  <a:rPr lang="en-US" dirty="0">
                    <a:effectLst/>
                    <a:latin typeface="Times New Roman" panose="02020603050405020304" pitchFamily="18" charset="0"/>
                    <a:ea typeface="Calibri" panose="020F0502020204030204" pitchFamily="34" charset="0"/>
                    <a:cs typeface="Arial" panose="020B0604020202020204" pitchFamily="34" charset="0"/>
                  </a:rPr>
                  <a:t>A </a:t>
                </a:r>
                <a:r>
                  <a:rPr lang="en-US" dirty="0">
                    <a:solidFill>
                      <a:schemeClr val="bg2"/>
                    </a:solidFill>
                    <a:effectLst/>
                    <a:latin typeface="Times New Roman" panose="02020603050405020304" pitchFamily="18" charset="0"/>
                    <a:ea typeface="Calibri" panose="020F0502020204030204" pitchFamily="34" charset="0"/>
                    <a:cs typeface="Arial" panose="020B0604020202020204" pitchFamily="34" charset="0"/>
                  </a:rPr>
                  <a:t>simple mathematical model for a neuron. The unit’s output activation is</a:t>
                </a:r>
                <a:endParaRPr lang="en-US" sz="1600" dirty="0">
                  <a:solidFill>
                    <a:schemeClr val="bg2"/>
                  </a:solidFill>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b="1" i="1">
                              <a:solidFill>
                                <a:schemeClr val="bg2"/>
                              </a:solidFill>
                              <a:effectLst/>
                              <a:latin typeface="Cambria Math" panose="02040503050406030204" pitchFamily="18" charset="0"/>
                              <a:ea typeface="CMMI10"/>
                              <a:cs typeface="Times New Roman" panose="02020603050405020304" pitchFamily="18" charset="0"/>
                            </a:rPr>
                          </m:ctrlPr>
                        </m:sSubPr>
                        <m:e>
                          <m:r>
                            <a:rPr lang="en-US" b="1" i="1">
                              <a:solidFill>
                                <a:schemeClr val="bg2"/>
                              </a:solidFill>
                              <a:effectLst/>
                              <a:latin typeface="Cambria Math" panose="02040503050406030204" pitchFamily="18" charset="0"/>
                              <a:ea typeface="CMMI10"/>
                              <a:cs typeface="Times New Roman" panose="02020603050405020304" pitchFamily="18" charset="0"/>
                            </a:rPr>
                            <m:t>𝒂</m:t>
                          </m:r>
                        </m:e>
                        <m:sub>
                          <m:r>
                            <a:rPr lang="en-US" b="1" i="1">
                              <a:solidFill>
                                <a:schemeClr val="bg2"/>
                              </a:solidFill>
                              <a:effectLst/>
                              <a:latin typeface="Cambria Math" panose="02040503050406030204" pitchFamily="18" charset="0"/>
                              <a:ea typeface="CMMI10"/>
                              <a:cs typeface="Times New Roman" panose="02020603050405020304" pitchFamily="18" charset="0"/>
                            </a:rPr>
                            <m:t>𝒋</m:t>
                          </m:r>
                        </m:sub>
                      </m:sSub>
                      <m:r>
                        <a:rPr lang="en-US" b="1" i="1">
                          <a:solidFill>
                            <a:schemeClr val="bg2"/>
                          </a:solidFill>
                          <a:effectLst/>
                          <a:latin typeface="Cambria Math" panose="02040503050406030204" pitchFamily="18" charset="0"/>
                          <a:ea typeface="CMMI10"/>
                          <a:cs typeface="Times New Roman" panose="02020603050405020304" pitchFamily="18" charset="0"/>
                        </a:rPr>
                        <m:t>=</m:t>
                      </m:r>
                      <m:r>
                        <a:rPr lang="en-US" b="1" i="1">
                          <a:solidFill>
                            <a:schemeClr val="bg2"/>
                          </a:solidFill>
                          <a:effectLst/>
                          <a:latin typeface="Cambria Math" panose="02040503050406030204" pitchFamily="18" charset="0"/>
                          <a:ea typeface="CMMI10"/>
                          <a:cs typeface="Times New Roman" panose="02020603050405020304" pitchFamily="18" charset="0"/>
                        </a:rPr>
                        <m:t>𝒈</m:t>
                      </m:r>
                      <m:r>
                        <a:rPr lang="en-US" b="1" i="1">
                          <a:solidFill>
                            <a:schemeClr val="bg2"/>
                          </a:solidFill>
                          <a:effectLst/>
                          <a:latin typeface="Cambria Math" panose="02040503050406030204" pitchFamily="18" charset="0"/>
                          <a:ea typeface="CMMI10"/>
                          <a:cs typeface="Times New Roman" panose="02020603050405020304" pitchFamily="18" charset="0"/>
                        </a:rPr>
                        <m:t>(</m:t>
                      </m:r>
                      <m:nary>
                        <m:naryPr>
                          <m:chr m:val="∑"/>
                          <m:limLoc m:val="undOvr"/>
                          <m:ctrlPr>
                            <a:rPr lang="en-US" b="1" i="1">
                              <a:solidFill>
                                <a:schemeClr val="bg2"/>
                              </a:solidFill>
                              <a:effectLst/>
                              <a:latin typeface="Cambria Math" panose="02040503050406030204" pitchFamily="18" charset="0"/>
                              <a:ea typeface="CMMI10"/>
                              <a:cs typeface="Times New Roman" panose="02020603050405020304" pitchFamily="18" charset="0"/>
                            </a:rPr>
                          </m:ctrlPr>
                        </m:naryPr>
                        <m:sub>
                          <m:r>
                            <a:rPr lang="en-US" b="1" i="1">
                              <a:solidFill>
                                <a:schemeClr val="bg2"/>
                              </a:solidFill>
                              <a:effectLst/>
                              <a:latin typeface="Cambria Math" panose="02040503050406030204" pitchFamily="18" charset="0"/>
                              <a:ea typeface="CMMI10"/>
                              <a:cs typeface="Times New Roman" panose="02020603050405020304" pitchFamily="18" charset="0"/>
                            </a:rPr>
                            <m:t>𝒊</m:t>
                          </m:r>
                          <m:r>
                            <a:rPr lang="en-US" b="1" i="1">
                              <a:solidFill>
                                <a:schemeClr val="bg2"/>
                              </a:solidFill>
                              <a:effectLst/>
                              <a:latin typeface="Cambria Math" panose="02040503050406030204" pitchFamily="18" charset="0"/>
                              <a:ea typeface="CMMI10"/>
                              <a:cs typeface="Times New Roman" panose="02020603050405020304" pitchFamily="18" charset="0"/>
                            </a:rPr>
                            <m:t>=</m:t>
                          </m:r>
                          <m:r>
                            <a:rPr lang="en-US" b="1" i="1">
                              <a:solidFill>
                                <a:schemeClr val="bg2"/>
                              </a:solidFill>
                              <a:effectLst/>
                              <a:latin typeface="Cambria Math" panose="02040503050406030204" pitchFamily="18" charset="0"/>
                              <a:ea typeface="CMMI10"/>
                              <a:cs typeface="Times New Roman" panose="02020603050405020304" pitchFamily="18" charset="0"/>
                            </a:rPr>
                            <m:t>𝟎</m:t>
                          </m:r>
                        </m:sub>
                        <m:sup>
                          <m:r>
                            <a:rPr lang="en-US" b="1" i="1">
                              <a:solidFill>
                                <a:schemeClr val="bg2"/>
                              </a:solidFill>
                              <a:effectLst/>
                              <a:latin typeface="Cambria Math" panose="02040503050406030204" pitchFamily="18" charset="0"/>
                              <a:ea typeface="CMMI10"/>
                              <a:cs typeface="Times New Roman" panose="02020603050405020304" pitchFamily="18" charset="0"/>
                            </a:rPr>
                            <m:t>𝒏</m:t>
                          </m:r>
                        </m:sup>
                        <m:e>
                          <m:r>
                            <a:rPr lang="en-US" b="1" i="1">
                              <a:solidFill>
                                <a:schemeClr val="bg2"/>
                              </a:solidFill>
                              <a:effectLst/>
                              <a:latin typeface="Cambria Math" panose="02040503050406030204" pitchFamily="18" charset="0"/>
                              <a:ea typeface="CMMI10"/>
                              <a:cs typeface="Times New Roman" panose="02020603050405020304" pitchFamily="18" charset="0"/>
                            </a:rPr>
                            <m:t>=</m:t>
                          </m:r>
                          <m:sSub>
                            <m:sSubPr>
                              <m:ctrlPr>
                                <a:rPr lang="en-US" b="1" i="1">
                                  <a:solidFill>
                                    <a:schemeClr val="bg2"/>
                                  </a:solidFill>
                                  <a:effectLst/>
                                  <a:latin typeface="Cambria Math" panose="02040503050406030204" pitchFamily="18" charset="0"/>
                                  <a:ea typeface="CMMI10"/>
                                  <a:cs typeface="Times New Roman" panose="02020603050405020304" pitchFamily="18" charset="0"/>
                                </a:rPr>
                              </m:ctrlPr>
                            </m:sSubPr>
                            <m:e>
                              <m:r>
                                <a:rPr lang="en-US" b="1" i="1">
                                  <a:solidFill>
                                    <a:schemeClr val="bg2"/>
                                  </a:solidFill>
                                  <a:effectLst/>
                                  <a:latin typeface="Cambria Math" panose="02040503050406030204" pitchFamily="18" charset="0"/>
                                  <a:ea typeface="CMMI10"/>
                                  <a:cs typeface="Times New Roman" panose="02020603050405020304" pitchFamily="18" charset="0"/>
                                </a:rPr>
                                <m:t>𝒘</m:t>
                              </m:r>
                            </m:e>
                            <m:sub>
                              <m:r>
                                <a:rPr lang="en-US" b="1" i="1">
                                  <a:solidFill>
                                    <a:schemeClr val="bg2"/>
                                  </a:solidFill>
                                  <a:effectLst/>
                                  <a:latin typeface="Cambria Math" panose="02040503050406030204" pitchFamily="18" charset="0"/>
                                  <a:ea typeface="CMMI10"/>
                                  <a:cs typeface="Times New Roman" panose="02020603050405020304" pitchFamily="18" charset="0"/>
                                </a:rPr>
                                <m:t>𝒊</m:t>
                              </m:r>
                              <m:r>
                                <a:rPr lang="en-US" b="1" i="1">
                                  <a:solidFill>
                                    <a:schemeClr val="bg2"/>
                                  </a:solidFill>
                                  <a:effectLst/>
                                  <a:latin typeface="Cambria Math" panose="02040503050406030204" pitchFamily="18" charset="0"/>
                                  <a:ea typeface="CMMI10"/>
                                  <a:cs typeface="Times New Roman" panose="02020603050405020304" pitchFamily="18" charset="0"/>
                                </a:rPr>
                                <m:t>,</m:t>
                              </m:r>
                              <m:r>
                                <a:rPr lang="en-US" b="1" i="1">
                                  <a:solidFill>
                                    <a:schemeClr val="bg2"/>
                                  </a:solidFill>
                                  <a:effectLst/>
                                  <a:latin typeface="Cambria Math" panose="02040503050406030204" pitchFamily="18" charset="0"/>
                                  <a:ea typeface="CMMI10"/>
                                  <a:cs typeface="Times New Roman" panose="02020603050405020304" pitchFamily="18" charset="0"/>
                                </a:rPr>
                                <m:t>𝒋</m:t>
                              </m:r>
                            </m:sub>
                          </m:sSub>
                          <m:sSub>
                            <m:sSubPr>
                              <m:ctrlPr>
                                <a:rPr lang="en-US" b="1" i="1">
                                  <a:solidFill>
                                    <a:schemeClr val="bg2"/>
                                  </a:solidFill>
                                  <a:effectLst/>
                                  <a:latin typeface="Cambria Math" panose="02040503050406030204" pitchFamily="18" charset="0"/>
                                  <a:ea typeface="CMMI10"/>
                                  <a:cs typeface="Times New Roman" panose="02020603050405020304" pitchFamily="18" charset="0"/>
                                </a:rPr>
                              </m:ctrlPr>
                            </m:sSubPr>
                            <m:e>
                              <m:r>
                                <a:rPr lang="en-US" b="1" i="1">
                                  <a:solidFill>
                                    <a:schemeClr val="bg2"/>
                                  </a:solidFill>
                                  <a:effectLst/>
                                  <a:latin typeface="Cambria Math" panose="02040503050406030204" pitchFamily="18" charset="0"/>
                                  <a:ea typeface="CMMI10"/>
                                  <a:cs typeface="Times New Roman" panose="02020603050405020304" pitchFamily="18" charset="0"/>
                                </a:rPr>
                                <m:t>𝒂</m:t>
                              </m:r>
                            </m:e>
                            <m:sub>
                              <m:r>
                                <a:rPr lang="en-US" b="1" i="1">
                                  <a:solidFill>
                                    <a:schemeClr val="bg2"/>
                                  </a:solidFill>
                                  <a:effectLst/>
                                  <a:latin typeface="Cambria Math" panose="02040503050406030204" pitchFamily="18" charset="0"/>
                                  <a:ea typeface="CMMI10"/>
                                  <a:cs typeface="Times New Roman" panose="02020603050405020304" pitchFamily="18" charset="0"/>
                                </a:rPr>
                                <m:t>𝒊</m:t>
                              </m:r>
                            </m:sub>
                          </m:sSub>
                        </m:e>
                      </m:nary>
                      <m:r>
                        <a:rPr lang="en-US" b="1" i="1">
                          <a:solidFill>
                            <a:schemeClr val="bg2"/>
                          </a:solidFill>
                          <a:effectLst/>
                          <a:latin typeface="Cambria Math" panose="02040503050406030204" pitchFamily="18" charset="0"/>
                          <a:ea typeface="CMMI10"/>
                          <a:cs typeface="Times New Roman" panose="02020603050405020304" pitchFamily="18" charset="0"/>
                        </a:rPr>
                        <m:t>)</m:t>
                      </m:r>
                    </m:oMath>
                  </m:oMathPara>
                </a14:m>
                <a:endParaRPr lang="en-US" sz="1600" dirty="0">
                  <a:solidFill>
                    <a:schemeClr val="bg2"/>
                  </a:solidFill>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dirty="0">
                    <a:solidFill>
                      <a:schemeClr val="bg2"/>
                    </a:solidFill>
                    <a:effectLst/>
                    <a:latin typeface="Times New Roman" panose="02020603050405020304" pitchFamily="18" charset="0"/>
                    <a:ea typeface="Calibri" panose="020F0502020204030204" pitchFamily="34" charset="0"/>
                    <a:cs typeface="Arial" panose="020B0604020202020204" pitchFamily="34" charset="0"/>
                  </a:rPr>
                  <a:t>Where </a:t>
                </a:r>
                <a:r>
                  <a:rPr lang="en-US" dirty="0" err="1">
                    <a:solidFill>
                      <a:schemeClr val="bg2"/>
                    </a:solidFill>
                    <a:effectLst/>
                    <a:latin typeface="Times New Roman" panose="02020603050405020304" pitchFamily="18" charset="0"/>
                    <a:ea typeface="CMMI10"/>
                    <a:cs typeface="Arial" panose="020B0604020202020204" pitchFamily="34" charset="0"/>
                  </a:rPr>
                  <a:t>a</a:t>
                </a:r>
                <a:r>
                  <a:rPr lang="en-US" baseline="-25000" dirty="0" err="1">
                    <a:solidFill>
                      <a:schemeClr val="bg2"/>
                    </a:solidFill>
                    <a:effectLst/>
                    <a:latin typeface="Times New Roman" panose="02020603050405020304" pitchFamily="18" charset="0"/>
                    <a:ea typeface="Calibri" panose="020F0502020204030204" pitchFamily="34" charset="0"/>
                    <a:cs typeface="Arial" panose="020B0604020202020204" pitchFamily="34" charset="0"/>
                  </a:rPr>
                  <a:t>i</a:t>
                </a:r>
                <a:r>
                  <a:rPr lang="en-US" dirty="0">
                    <a:solidFill>
                      <a:schemeClr val="bg2"/>
                    </a:solidFill>
                    <a:effectLst/>
                    <a:latin typeface="Times New Roman" panose="02020603050405020304" pitchFamily="18" charset="0"/>
                    <a:ea typeface="Calibri" panose="020F0502020204030204" pitchFamily="34" charset="0"/>
                    <a:cs typeface="Arial" panose="020B0604020202020204" pitchFamily="34" charset="0"/>
                  </a:rPr>
                  <a:t> is the output activation of unit </a:t>
                </a:r>
                <a:r>
                  <a:rPr lang="en-US" dirty="0" err="1">
                    <a:solidFill>
                      <a:schemeClr val="bg2"/>
                    </a:solidFill>
                    <a:effectLst/>
                    <a:latin typeface="Times New Roman" panose="02020603050405020304" pitchFamily="18" charset="0"/>
                    <a:ea typeface="CMMI10"/>
                    <a:cs typeface="Arial" panose="020B0604020202020204" pitchFamily="34" charset="0"/>
                  </a:rPr>
                  <a:t>i</a:t>
                </a:r>
                <a:r>
                  <a:rPr lang="en-US" dirty="0">
                    <a:solidFill>
                      <a:schemeClr val="bg2"/>
                    </a:solidFill>
                    <a:effectLst/>
                    <a:latin typeface="Times New Roman" panose="02020603050405020304" pitchFamily="18" charset="0"/>
                    <a:ea typeface="CMMI10"/>
                    <a:cs typeface="Arial" panose="020B0604020202020204" pitchFamily="34" charset="0"/>
                  </a:rPr>
                  <a:t> </a:t>
                </a:r>
                <a:r>
                  <a:rPr lang="en-US" dirty="0">
                    <a:solidFill>
                      <a:schemeClr val="bg2"/>
                    </a:solidFill>
                    <a:effectLst/>
                    <a:latin typeface="Times New Roman" panose="02020603050405020304" pitchFamily="18" charset="0"/>
                    <a:ea typeface="Calibri" panose="020F0502020204030204" pitchFamily="34" charset="0"/>
                    <a:cs typeface="Arial" panose="020B0604020202020204" pitchFamily="34" charset="0"/>
                  </a:rPr>
                  <a:t>and </a:t>
                </a:r>
                <a:r>
                  <a:rPr lang="en-US" dirty="0" err="1">
                    <a:solidFill>
                      <a:schemeClr val="bg2"/>
                    </a:solidFill>
                    <a:effectLst/>
                    <a:latin typeface="Times New Roman" panose="02020603050405020304" pitchFamily="18" charset="0"/>
                    <a:ea typeface="CMMI10"/>
                    <a:cs typeface="Arial" panose="020B0604020202020204" pitchFamily="34" charset="0"/>
                  </a:rPr>
                  <a:t>w</a:t>
                </a:r>
                <a:r>
                  <a:rPr lang="en-US" baseline="-25000" dirty="0" err="1">
                    <a:solidFill>
                      <a:schemeClr val="bg2"/>
                    </a:solidFill>
                    <a:effectLst/>
                    <a:latin typeface="Times New Roman" panose="02020603050405020304" pitchFamily="18" charset="0"/>
                    <a:ea typeface="Calibri" panose="020F0502020204030204" pitchFamily="34" charset="0"/>
                    <a:cs typeface="Arial" panose="020B0604020202020204" pitchFamily="34" charset="0"/>
                  </a:rPr>
                  <a:t>i,j</a:t>
                </a:r>
                <a:r>
                  <a:rPr lang="en-US" baseline="-25000" dirty="0">
                    <a:solidFill>
                      <a:schemeClr val="bg2"/>
                    </a:solidFill>
                    <a:effectLst/>
                    <a:latin typeface="Times New Roman" panose="02020603050405020304" pitchFamily="18" charset="0"/>
                    <a:ea typeface="Calibri" panose="020F0502020204030204" pitchFamily="34" charset="0"/>
                    <a:cs typeface="Arial" panose="020B0604020202020204" pitchFamily="34" charset="0"/>
                  </a:rPr>
                  <a:t> </a:t>
                </a:r>
                <a:r>
                  <a:rPr lang="en-US" dirty="0">
                    <a:solidFill>
                      <a:schemeClr val="bg2"/>
                    </a:solidFill>
                    <a:effectLst/>
                    <a:latin typeface="Times New Roman" panose="02020603050405020304" pitchFamily="18" charset="0"/>
                    <a:ea typeface="Calibri" panose="020F0502020204030204" pitchFamily="34" charset="0"/>
                    <a:cs typeface="Arial" panose="020B0604020202020204" pitchFamily="34" charset="0"/>
                  </a:rPr>
                  <a:t>is the weight on the link from unit </a:t>
                </a:r>
                <a:r>
                  <a:rPr lang="en-US" dirty="0" err="1">
                    <a:solidFill>
                      <a:schemeClr val="bg2"/>
                    </a:solidFill>
                    <a:effectLst/>
                    <a:latin typeface="Times New Roman" panose="02020603050405020304" pitchFamily="18" charset="0"/>
                    <a:ea typeface="CMMI10"/>
                    <a:cs typeface="Arial" panose="020B0604020202020204" pitchFamily="34" charset="0"/>
                  </a:rPr>
                  <a:t>i</a:t>
                </a:r>
                <a:r>
                  <a:rPr lang="en-US" dirty="0">
                    <a:solidFill>
                      <a:schemeClr val="bg2"/>
                    </a:solidFill>
                    <a:effectLst/>
                    <a:latin typeface="Times New Roman" panose="02020603050405020304" pitchFamily="18" charset="0"/>
                    <a:ea typeface="CMMI10"/>
                    <a:cs typeface="Arial" panose="020B0604020202020204" pitchFamily="34" charset="0"/>
                  </a:rPr>
                  <a:t> </a:t>
                </a:r>
                <a:r>
                  <a:rPr lang="en-US" dirty="0">
                    <a:solidFill>
                      <a:schemeClr val="bg2"/>
                    </a:solidFill>
                    <a:effectLst/>
                    <a:latin typeface="Times New Roman" panose="02020603050405020304" pitchFamily="18" charset="0"/>
                    <a:ea typeface="Calibri" panose="020F0502020204030204" pitchFamily="34" charset="0"/>
                    <a:cs typeface="Arial" panose="020B0604020202020204" pitchFamily="34" charset="0"/>
                  </a:rPr>
                  <a:t>to this unit</a:t>
                </a:r>
                <a:r>
                  <a:rPr lang="en-US" dirty="0">
                    <a:effectLst/>
                    <a:latin typeface="Times New Roman" panose="02020603050405020304" pitchFamily="18" charset="0"/>
                    <a:ea typeface="Calibri" panose="020F0502020204030204" pitchFamily="34" charset="0"/>
                    <a:cs typeface="Arial" panose="020B0604020202020204" pitchFamily="34" charset="0"/>
                  </a:rPr>
                  <a:t>.</a:t>
                </a:r>
                <a:endParaRPr lang="en-US" sz="1600" dirty="0">
                  <a:effectLst/>
                  <a:latin typeface="Calibri" panose="020F0502020204030204" pitchFamily="34" charset="0"/>
                  <a:ea typeface="Calibri" panose="020F0502020204030204" pitchFamily="34" charset="0"/>
                  <a:cs typeface="Arial" panose="020B0604020202020204" pitchFamily="34" charset="0"/>
                </a:endParaRPr>
              </a:p>
            </p:txBody>
          </p:sp>
        </mc:Choice>
        <mc:Fallback xmlns="">
          <p:sp>
            <p:nvSpPr>
              <p:cNvPr id="6" name="Text Box 2"/>
              <p:cNvSpPr txBox="1">
                <a:spLocks noRot="1" noChangeAspect="1" noMove="1" noResize="1" noEditPoints="1" noAdjustHandles="1" noChangeArrowheads="1" noChangeShapeType="1" noTextEdit="1"/>
              </p:cNvSpPr>
              <p:nvPr/>
            </p:nvSpPr>
            <p:spPr bwMode="auto">
              <a:xfrm>
                <a:off x="1347019" y="4431230"/>
                <a:ext cx="9497961" cy="1787455"/>
              </a:xfrm>
              <a:prstGeom prst="rect">
                <a:avLst/>
              </a:prstGeom>
              <a:blipFill rotWithShape="0">
                <a:blip r:embed="rId3"/>
                <a:stretch>
                  <a:fillRect l="-513" t="-1695"/>
                </a:stretch>
              </a:blipFill>
              <a:ln w="9525">
                <a:solidFill>
                  <a:srgbClr val="000000"/>
                </a:solidFill>
                <a:miter lim="800000"/>
                <a:headEnd/>
                <a:tailEnd/>
              </a:ln>
            </p:spPr>
            <p:txBody>
              <a:bodyPr/>
              <a:lstStyle/>
              <a:p>
                <a:r>
                  <a:rPr lang="en-US">
                    <a:noFill/>
                  </a:rPr>
                  <a:t> </a:t>
                </a:r>
              </a:p>
            </p:txBody>
          </p:sp>
        </mc:Fallback>
      </mc:AlternateContent>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30800936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2955" y="118252"/>
            <a:ext cx="11282516" cy="1002891"/>
          </a:xfrm>
        </p:spPr>
        <p:txBody>
          <a:bodyPr>
            <a:noAutofit/>
          </a:bodyPr>
          <a:lstStyle/>
          <a:p>
            <a:pPr algn="ctr"/>
            <a:r>
              <a:rPr lang="en-US" altLang="en-US" sz="3600" b="1" cap="none" dirty="0">
                <a:solidFill>
                  <a:srgbClr val="FFC000"/>
                </a:solidFill>
                <a:ea typeface="Calibri" panose="020F0502020204030204" pitchFamily="34" charset="0"/>
              </a:rPr>
              <a:t>5.4.2 Single-layer feed-forward neural networks (</a:t>
            </a:r>
            <a:r>
              <a:rPr lang="en-US" altLang="en-US" sz="3600" b="1" cap="none" dirty="0">
                <a:solidFill>
                  <a:srgbClr val="00B0F0"/>
                </a:solidFill>
                <a:ea typeface="Calibri" panose="020F0502020204030204" pitchFamily="34" charset="0"/>
              </a:rPr>
              <a:t>perceptrons</a:t>
            </a:r>
            <a:r>
              <a:rPr lang="en-US" altLang="en-US" sz="3600" b="1" cap="none" dirty="0">
                <a:solidFill>
                  <a:srgbClr val="FFC000"/>
                </a:solidFill>
                <a:ea typeface="Calibri" panose="020F0502020204030204" pitchFamily="34" charset="0"/>
              </a:rPr>
              <a:t>)</a:t>
            </a:r>
            <a:endParaRPr lang="en-US" sz="3600" dirty="0">
              <a:solidFill>
                <a:srgbClr val="FFC000"/>
              </a:solidFill>
            </a:endParaRPr>
          </a:p>
        </p:txBody>
      </p:sp>
      <p:sp>
        <p:nvSpPr>
          <p:cNvPr id="3" name="Content Placeholder 2"/>
          <p:cNvSpPr>
            <a:spLocks noGrp="1"/>
          </p:cNvSpPr>
          <p:nvPr>
            <p:ph idx="1"/>
          </p:nvPr>
        </p:nvSpPr>
        <p:spPr>
          <a:xfrm>
            <a:off x="644013" y="1198653"/>
            <a:ext cx="11051458" cy="4171622"/>
          </a:xfrm>
        </p:spPr>
        <p:txBody>
          <a:bodyPr>
            <a:normAutofit/>
          </a:bodyPr>
          <a:lstStyle/>
          <a:p>
            <a:r>
              <a:rPr lang="en-US" sz="2400" dirty="0"/>
              <a:t>A network with all the inputs connected directly to the outputs is called a </a:t>
            </a:r>
            <a:r>
              <a:rPr lang="en-US" sz="2400" b="1" dirty="0">
                <a:solidFill>
                  <a:srgbClr val="00B0F0"/>
                </a:solidFill>
              </a:rPr>
              <a:t>single-layer</a:t>
            </a:r>
            <a:r>
              <a:rPr lang="en-US" sz="2400" dirty="0"/>
              <a:t> neural </a:t>
            </a:r>
            <a:r>
              <a:rPr lang="en-US" sz="2400" b="1" dirty="0">
                <a:solidFill>
                  <a:srgbClr val="FF0000"/>
                </a:solidFill>
              </a:rPr>
              <a:t>PERCEPTRON</a:t>
            </a:r>
            <a:r>
              <a:rPr lang="en-US" sz="2400" dirty="0"/>
              <a:t> network, or a perceptron network.</a:t>
            </a:r>
          </a:p>
          <a:p>
            <a:endParaRPr lang="en-US" sz="2000" dirty="0"/>
          </a:p>
        </p:txBody>
      </p:sp>
      <p:pic>
        <p:nvPicPr>
          <p:cNvPr id="4" name="Picture 3"/>
          <p:cNvPicPr/>
          <p:nvPr/>
        </p:nvPicPr>
        <p:blipFill rotWithShape="1">
          <a:blip r:embed="rId2"/>
          <a:srcRect l="13671" t="47349" r="29017" b="21737"/>
          <a:stretch/>
        </p:blipFill>
        <p:spPr bwMode="auto">
          <a:xfrm>
            <a:off x="3423377" y="2316966"/>
            <a:ext cx="5219177" cy="2226079"/>
          </a:xfrm>
          <a:prstGeom prst="rect">
            <a:avLst/>
          </a:prstGeom>
          <a:ln>
            <a:noFill/>
          </a:ln>
          <a:extLst>
            <a:ext uri="{53640926-AAD7-44D8-BBD7-CCE9431645EC}">
              <a14:shadowObscured xmlns:a14="http://schemas.microsoft.com/office/drawing/2010/main"/>
            </a:ext>
          </a:extLst>
        </p:spPr>
      </p:pic>
      <p:sp>
        <p:nvSpPr>
          <p:cNvPr id="7" name="TextBox 6"/>
          <p:cNvSpPr txBox="1"/>
          <p:nvPr/>
        </p:nvSpPr>
        <p:spPr>
          <a:xfrm>
            <a:off x="280219" y="4828224"/>
            <a:ext cx="11779045" cy="1938992"/>
          </a:xfrm>
          <a:prstGeom prst="rect">
            <a:avLst/>
          </a:prstGeom>
          <a:solidFill>
            <a:srgbClr val="FFC000"/>
          </a:solidFill>
        </p:spPr>
        <p:txBody>
          <a:bodyPr wrap="square" rtlCol="0">
            <a:spAutoFit/>
          </a:bodyPr>
          <a:lstStyle/>
          <a:p>
            <a:pPr marL="342900" indent="-342900" algn="just">
              <a:buFont typeface="Arial" panose="020B0604020202020204" pitchFamily="34" charset="0"/>
              <a:buChar char="•"/>
            </a:pPr>
            <a:r>
              <a:rPr lang="en-US" sz="2400" b="1" dirty="0">
                <a:solidFill>
                  <a:schemeClr val="bg1"/>
                </a:solidFill>
                <a:latin typeface="Times New Roman" panose="02020603050405020304" pitchFamily="18" charset="0"/>
                <a:cs typeface="Times New Roman" panose="02020603050405020304" pitchFamily="18" charset="0"/>
              </a:rPr>
              <a:t>Single-layer neural networks are limited in their ability to represent complex relationships in data, and they can only </a:t>
            </a:r>
            <a:r>
              <a:rPr lang="en-US" sz="2400" b="1" dirty="0">
                <a:solidFill>
                  <a:srgbClr val="FF0000"/>
                </a:solidFill>
                <a:latin typeface="Times New Roman" panose="02020603050405020304" pitchFamily="18" charset="0"/>
                <a:cs typeface="Times New Roman" panose="02020603050405020304" pitchFamily="18" charset="0"/>
              </a:rPr>
              <a:t>model linearly separable problems</a:t>
            </a:r>
            <a:r>
              <a:rPr lang="en-US" sz="2400" b="1" dirty="0">
                <a:solidFill>
                  <a:schemeClr val="bg1"/>
                </a:solidFill>
                <a:latin typeface="Times New Roman" panose="02020603050405020304" pitchFamily="18" charset="0"/>
                <a:cs typeface="Times New Roman" panose="02020603050405020304" pitchFamily="18" charset="0"/>
              </a:rPr>
              <a:t>.</a:t>
            </a:r>
            <a:endParaRPr lang="en-US" sz="3200" b="1" dirty="0">
              <a:solidFill>
                <a:schemeClr val="bg1"/>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1" dirty="0">
                <a:solidFill>
                  <a:schemeClr val="bg1"/>
                </a:solidFill>
                <a:latin typeface="Times New Roman" panose="02020603050405020304" pitchFamily="18" charset="0"/>
                <a:cs typeface="Times New Roman" panose="02020603050405020304" pitchFamily="18" charset="0"/>
              </a:rPr>
              <a:t>The limitations of the single layer network has led to the development of multi-layer feed-forward networks with one or more hidden layers, called multi-layer perceptron (MLP) networks.</a:t>
            </a:r>
          </a:p>
        </p:txBody>
      </p:sp>
      <p:sp>
        <p:nvSpPr>
          <p:cNvPr id="12" name="TextBox 11"/>
          <p:cNvSpPr txBox="1"/>
          <p:nvPr/>
        </p:nvSpPr>
        <p:spPr>
          <a:xfrm>
            <a:off x="1349116" y="2698230"/>
            <a:ext cx="1693888" cy="584775"/>
          </a:xfrm>
          <a:prstGeom prst="rect">
            <a:avLst/>
          </a:prstGeom>
          <a:solidFill>
            <a:srgbClr val="FFC000"/>
          </a:solidFill>
        </p:spPr>
        <p:txBody>
          <a:bodyPr wrap="square"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2/0/2</a:t>
            </a:r>
          </a:p>
        </p:txBody>
      </p:sp>
      <p:sp>
        <p:nvSpPr>
          <p:cNvPr id="13" name="TextBox 12"/>
          <p:cNvSpPr txBox="1"/>
          <p:nvPr/>
        </p:nvSpPr>
        <p:spPr>
          <a:xfrm>
            <a:off x="9022927" y="2721051"/>
            <a:ext cx="1693888" cy="584775"/>
          </a:xfrm>
          <a:prstGeom prst="rect">
            <a:avLst/>
          </a:prstGeom>
          <a:solidFill>
            <a:srgbClr val="FFC000"/>
          </a:solidFill>
        </p:spPr>
        <p:txBody>
          <a:bodyPr wrap="square"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2/2/2</a:t>
            </a:r>
          </a:p>
        </p:txBody>
      </p:sp>
      <p:sp>
        <p:nvSpPr>
          <p:cNvPr id="14" name="Freeform 13"/>
          <p:cNvSpPr/>
          <p:nvPr/>
        </p:nvSpPr>
        <p:spPr>
          <a:xfrm>
            <a:off x="2533338" y="2968052"/>
            <a:ext cx="1738966" cy="914400"/>
          </a:xfrm>
          <a:custGeom>
            <a:avLst/>
            <a:gdLst>
              <a:gd name="connsiteX0" fmla="*/ 0 w 1738966"/>
              <a:gd name="connsiteY0" fmla="*/ 374755 h 914400"/>
              <a:gd name="connsiteX1" fmla="*/ 29980 w 1738966"/>
              <a:gd name="connsiteY1" fmla="*/ 524656 h 914400"/>
              <a:gd name="connsiteX2" fmla="*/ 59960 w 1738966"/>
              <a:gd name="connsiteY2" fmla="*/ 569627 h 914400"/>
              <a:gd name="connsiteX3" fmla="*/ 89941 w 1738966"/>
              <a:gd name="connsiteY3" fmla="*/ 599607 h 914400"/>
              <a:gd name="connsiteX4" fmla="*/ 179882 w 1738966"/>
              <a:gd name="connsiteY4" fmla="*/ 719528 h 914400"/>
              <a:gd name="connsiteX5" fmla="*/ 254832 w 1738966"/>
              <a:gd name="connsiteY5" fmla="*/ 794479 h 914400"/>
              <a:gd name="connsiteX6" fmla="*/ 299803 w 1738966"/>
              <a:gd name="connsiteY6" fmla="*/ 809469 h 914400"/>
              <a:gd name="connsiteX7" fmla="*/ 329783 w 1738966"/>
              <a:gd name="connsiteY7" fmla="*/ 839450 h 914400"/>
              <a:gd name="connsiteX8" fmla="*/ 479685 w 1738966"/>
              <a:gd name="connsiteY8" fmla="*/ 899410 h 914400"/>
              <a:gd name="connsiteX9" fmla="*/ 524655 w 1738966"/>
              <a:gd name="connsiteY9" fmla="*/ 914400 h 914400"/>
              <a:gd name="connsiteX10" fmla="*/ 629587 w 1738966"/>
              <a:gd name="connsiteY10" fmla="*/ 899410 h 914400"/>
              <a:gd name="connsiteX11" fmla="*/ 749508 w 1738966"/>
              <a:gd name="connsiteY11" fmla="*/ 854440 h 914400"/>
              <a:gd name="connsiteX12" fmla="*/ 794478 w 1738966"/>
              <a:gd name="connsiteY12" fmla="*/ 824459 h 914400"/>
              <a:gd name="connsiteX13" fmla="*/ 944380 w 1738966"/>
              <a:gd name="connsiteY13" fmla="*/ 779489 h 914400"/>
              <a:gd name="connsiteX14" fmla="*/ 989351 w 1738966"/>
              <a:gd name="connsiteY14" fmla="*/ 749509 h 914400"/>
              <a:gd name="connsiteX15" fmla="*/ 1034321 w 1738966"/>
              <a:gd name="connsiteY15" fmla="*/ 734518 h 914400"/>
              <a:gd name="connsiteX16" fmla="*/ 1124262 w 1738966"/>
              <a:gd name="connsiteY16" fmla="*/ 674558 h 914400"/>
              <a:gd name="connsiteX17" fmla="*/ 1139252 w 1738966"/>
              <a:gd name="connsiteY17" fmla="*/ 629587 h 914400"/>
              <a:gd name="connsiteX18" fmla="*/ 1244183 w 1738966"/>
              <a:gd name="connsiteY18" fmla="*/ 509666 h 914400"/>
              <a:gd name="connsiteX19" fmla="*/ 1289154 w 1738966"/>
              <a:gd name="connsiteY19" fmla="*/ 479686 h 914400"/>
              <a:gd name="connsiteX20" fmla="*/ 1319134 w 1738966"/>
              <a:gd name="connsiteY20" fmla="*/ 449705 h 914400"/>
              <a:gd name="connsiteX21" fmla="*/ 1439055 w 1738966"/>
              <a:gd name="connsiteY21" fmla="*/ 359764 h 914400"/>
              <a:gd name="connsiteX22" fmla="*/ 1499016 w 1738966"/>
              <a:gd name="connsiteY22" fmla="*/ 284814 h 914400"/>
              <a:gd name="connsiteX23" fmla="*/ 1558977 w 1738966"/>
              <a:gd name="connsiteY23" fmla="*/ 224853 h 914400"/>
              <a:gd name="connsiteX24" fmla="*/ 1618937 w 1738966"/>
              <a:gd name="connsiteY24" fmla="*/ 134912 h 914400"/>
              <a:gd name="connsiteX25" fmla="*/ 1708878 w 1738966"/>
              <a:gd name="connsiteY25" fmla="*/ 44971 h 914400"/>
              <a:gd name="connsiteX26" fmla="*/ 1738859 w 1738966"/>
              <a:gd name="connsiteY26"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738966" h="914400">
                <a:moveTo>
                  <a:pt x="0" y="374755"/>
                </a:moveTo>
                <a:cubicBezTo>
                  <a:pt x="5524" y="413426"/>
                  <a:pt x="9049" y="482794"/>
                  <a:pt x="29980" y="524656"/>
                </a:cubicBezTo>
                <a:cubicBezTo>
                  <a:pt x="38037" y="540770"/>
                  <a:pt x="48705" y="555559"/>
                  <a:pt x="59960" y="569627"/>
                </a:cubicBezTo>
                <a:cubicBezTo>
                  <a:pt x="68789" y="580663"/>
                  <a:pt x="79947" y="589614"/>
                  <a:pt x="89941" y="599607"/>
                </a:cubicBezTo>
                <a:cubicBezTo>
                  <a:pt x="116104" y="678098"/>
                  <a:pt x="93757" y="633403"/>
                  <a:pt x="179882" y="719528"/>
                </a:cubicBezTo>
                <a:lnTo>
                  <a:pt x="254832" y="794479"/>
                </a:lnTo>
                <a:lnTo>
                  <a:pt x="299803" y="809469"/>
                </a:lnTo>
                <a:cubicBezTo>
                  <a:pt x="309796" y="819463"/>
                  <a:pt x="318024" y="831610"/>
                  <a:pt x="329783" y="839450"/>
                </a:cubicBezTo>
                <a:cubicBezTo>
                  <a:pt x="373894" y="868858"/>
                  <a:pt x="430933" y="883159"/>
                  <a:pt x="479685" y="899410"/>
                </a:cubicBezTo>
                <a:lnTo>
                  <a:pt x="524655" y="914400"/>
                </a:lnTo>
                <a:cubicBezTo>
                  <a:pt x="559632" y="909403"/>
                  <a:pt x="594941" y="906339"/>
                  <a:pt x="629587" y="899410"/>
                </a:cubicBezTo>
                <a:cubicBezTo>
                  <a:pt x="651209" y="895086"/>
                  <a:pt x="743120" y="857634"/>
                  <a:pt x="749508" y="854440"/>
                </a:cubicBezTo>
                <a:cubicBezTo>
                  <a:pt x="765622" y="846383"/>
                  <a:pt x="778015" y="831776"/>
                  <a:pt x="794478" y="824459"/>
                </a:cubicBezTo>
                <a:cubicBezTo>
                  <a:pt x="841399" y="803605"/>
                  <a:pt x="894548" y="791947"/>
                  <a:pt x="944380" y="779489"/>
                </a:cubicBezTo>
                <a:cubicBezTo>
                  <a:pt x="959370" y="769496"/>
                  <a:pt x="973237" y="757566"/>
                  <a:pt x="989351" y="749509"/>
                </a:cubicBezTo>
                <a:cubicBezTo>
                  <a:pt x="1003484" y="742443"/>
                  <a:pt x="1020509" y="742192"/>
                  <a:pt x="1034321" y="734518"/>
                </a:cubicBezTo>
                <a:cubicBezTo>
                  <a:pt x="1065818" y="717019"/>
                  <a:pt x="1124262" y="674558"/>
                  <a:pt x="1124262" y="674558"/>
                </a:cubicBezTo>
                <a:cubicBezTo>
                  <a:pt x="1129259" y="659568"/>
                  <a:pt x="1132186" y="643720"/>
                  <a:pt x="1139252" y="629587"/>
                </a:cubicBezTo>
                <a:cubicBezTo>
                  <a:pt x="1159060" y="589970"/>
                  <a:pt x="1214879" y="529202"/>
                  <a:pt x="1244183" y="509666"/>
                </a:cubicBezTo>
                <a:cubicBezTo>
                  <a:pt x="1259173" y="499673"/>
                  <a:pt x="1275086" y="490941"/>
                  <a:pt x="1289154" y="479686"/>
                </a:cubicBezTo>
                <a:cubicBezTo>
                  <a:pt x="1300190" y="470857"/>
                  <a:pt x="1308098" y="458534"/>
                  <a:pt x="1319134" y="449705"/>
                </a:cubicBezTo>
                <a:cubicBezTo>
                  <a:pt x="1358152" y="418491"/>
                  <a:pt x="1403722" y="395096"/>
                  <a:pt x="1439055" y="359764"/>
                </a:cubicBezTo>
                <a:cubicBezTo>
                  <a:pt x="1541102" y="257721"/>
                  <a:pt x="1385571" y="417166"/>
                  <a:pt x="1499016" y="284814"/>
                </a:cubicBezTo>
                <a:cubicBezTo>
                  <a:pt x="1517411" y="263353"/>
                  <a:pt x="1543298" y="248372"/>
                  <a:pt x="1558977" y="224853"/>
                </a:cubicBezTo>
                <a:cubicBezTo>
                  <a:pt x="1578964" y="194873"/>
                  <a:pt x="1593459" y="160390"/>
                  <a:pt x="1618937" y="134912"/>
                </a:cubicBezTo>
                <a:lnTo>
                  <a:pt x="1708878" y="44971"/>
                </a:lnTo>
                <a:cubicBezTo>
                  <a:pt x="1742392" y="11457"/>
                  <a:pt x="1738859" y="29124"/>
                  <a:pt x="1738859"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4"/>
          <p:cNvSpPr/>
          <p:nvPr/>
        </p:nvSpPr>
        <p:spPr>
          <a:xfrm>
            <a:off x="7435121" y="3297836"/>
            <a:ext cx="2038663" cy="314794"/>
          </a:xfrm>
          <a:custGeom>
            <a:avLst/>
            <a:gdLst>
              <a:gd name="connsiteX0" fmla="*/ 2038663 w 2038663"/>
              <a:gd name="connsiteY0" fmla="*/ 29980 h 314794"/>
              <a:gd name="connsiteX1" fmla="*/ 2023672 w 2038663"/>
              <a:gd name="connsiteY1" fmla="*/ 104931 h 314794"/>
              <a:gd name="connsiteX2" fmla="*/ 1993692 w 2038663"/>
              <a:gd name="connsiteY2" fmla="*/ 134912 h 314794"/>
              <a:gd name="connsiteX3" fmla="*/ 1918741 w 2038663"/>
              <a:gd name="connsiteY3" fmla="*/ 209862 h 314794"/>
              <a:gd name="connsiteX4" fmla="*/ 1888761 w 2038663"/>
              <a:gd name="connsiteY4" fmla="*/ 239843 h 314794"/>
              <a:gd name="connsiteX5" fmla="*/ 1828800 w 2038663"/>
              <a:gd name="connsiteY5" fmla="*/ 254833 h 314794"/>
              <a:gd name="connsiteX6" fmla="*/ 1738859 w 2038663"/>
              <a:gd name="connsiteY6" fmla="*/ 284813 h 314794"/>
              <a:gd name="connsiteX7" fmla="*/ 1693889 w 2038663"/>
              <a:gd name="connsiteY7" fmla="*/ 299803 h 314794"/>
              <a:gd name="connsiteX8" fmla="*/ 1603948 w 2038663"/>
              <a:gd name="connsiteY8" fmla="*/ 314794 h 314794"/>
              <a:gd name="connsiteX9" fmla="*/ 1364105 w 2038663"/>
              <a:gd name="connsiteY9" fmla="*/ 299803 h 314794"/>
              <a:gd name="connsiteX10" fmla="*/ 1274164 w 2038663"/>
              <a:gd name="connsiteY10" fmla="*/ 269823 h 314794"/>
              <a:gd name="connsiteX11" fmla="*/ 1214204 w 2038663"/>
              <a:gd name="connsiteY11" fmla="*/ 254833 h 314794"/>
              <a:gd name="connsiteX12" fmla="*/ 1124263 w 2038663"/>
              <a:gd name="connsiteY12" fmla="*/ 224853 h 314794"/>
              <a:gd name="connsiteX13" fmla="*/ 1019331 w 2038663"/>
              <a:gd name="connsiteY13" fmla="*/ 194872 h 314794"/>
              <a:gd name="connsiteX14" fmla="*/ 959371 w 2038663"/>
              <a:gd name="connsiteY14" fmla="*/ 164892 h 314794"/>
              <a:gd name="connsiteX15" fmla="*/ 884420 w 2038663"/>
              <a:gd name="connsiteY15" fmla="*/ 149902 h 314794"/>
              <a:gd name="connsiteX16" fmla="*/ 794479 w 2038663"/>
              <a:gd name="connsiteY16" fmla="*/ 119921 h 314794"/>
              <a:gd name="connsiteX17" fmla="*/ 749509 w 2038663"/>
              <a:gd name="connsiteY17" fmla="*/ 104931 h 314794"/>
              <a:gd name="connsiteX18" fmla="*/ 614597 w 2038663"/>
              <a:gd name="connsiteY18" fmla="*/ 74951 h 314794"/>
              <a:gd name="connsiteX19" fmla="*/ 554636 w 2038663"/>
              <a:gd name="connsiteY19" fmla="*/ 59961 h 314794"/>
              <a:gd name="connsiteX20" fmla="*/ 374754 w 2038663"/>
              <a:gd name="connsiteY20" fmla="*/ 44971 h 314794"/>
              <a:gd name="connsiteX21" fmla="*/ 194872 w 2038663"/>
              <a:gd name="connsiteY21" fmla="*/ 14990 h 314794"/>
              <a:gd name="connsiteX22" fmla="*/ 0 w 2038663"/>
              <a:gd name="connsiteY22" fmla="*/ 0 h 314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38663" h="314794">
                <a:moveTo>
                  <a:pt x="2038663" y="29980"/>
                </a:moveTo>
                <a:cubicBezTo>
                  <a:pt x="2033666" y="54964"/>
                  <a:pt x="2033708" y="81513"/>
                  <a:pt x="2023672" y="104931"/>
                </a:cubicBezTo>
                <a:cubicBezTo>
                  <a:pt x="2018105" y="117921"/>
                  <a:pt x="2002521" y="123876"/>
                  <a:pt x="1993692" y="134912"/>
                </a:cubicBezTo>
                <a:cubicBezTo>
                  <a:pt x="1913745" y="234847"/>
                  <a:pt x="2018676" y="129914"/>
                  <a:pt x="1918741" y="209862"/>
                </a:cubicBezTo>
                <a:cubicBezTo>
                  <a:pt x="1907705" y="218691"/>
                  <a:pt x="1901402" y="233522"/>
                  <a:pt x="1888761" y="239843"/>
                </a:cubicBezTo>
                <a:cubicBezTo>
                  <a:pt x="1870334" y="249057"/>
                  <a:pt x="1848533" y="248913"/>
                  <a:pt x="1828800" y="254833"/>
                </a:cubicBezTo>
                <a:cubicBezTo>
                  <a:pt x="1798531" y="263914"/>
                  <a:pt x="1768839" y="274820"/>
                  <a:pt x="1738859" y="284813"/>
                </a:cubicBezTo>
                <a:cubicBezTo>
                  <a:pt x="1723869" y="289810"/>
                  <a:pt x="1709475" y="297205"/>
                  <a:pt x="1693889" y="299803"/>
                </a:cubicBezTo>
                <a:lnTo>
                  <a:pt x="1603948" y="314794"/>
                </a:lnTo>
                <a:cubicBezTo>
                  <a:pt x="1524000" y="309797"/>
                  <a:pt x="1443474" y="310626"/>
                  <a:pt x="1364105" y="299803"/>
                </a:cubicBezTo>
                <a:cubicBezTo>
                  <a:pt x="1332793" y="295533"/>
                  <a:pt x="1304822" y="277488"/>
                  <a:pt x="1274164" y="269823"/>
                </a:cubicBezTo>
                <a:cubicBezTo>
                  <a:pt x="1254177" y="264826"/>
                  <a:pt x="1233937" y="260753"/>
                  <a:pt x="1214204" y="254833"/>
                </a:cubicBezTo>
                <a:cubicBezTo>
                  <a:pt x="1183935" y="245752"/>
                  <a:pt x="1154921" y="232518"/>
                  <a:pt x="1124263" y="224853"/>
                </a:cubicBezTo>
                <a:cubicBezTo>
                  <a:pt x="1093842" y="217247"/>
                  <a:pt x="1049434" y="207773"/>
                  <a:pt x="1019331" y="194872"/>
                </a:cubicBezTo>
                <a:cubicBezTo>
                  <a:pt x="998792" y="186070"/>
                  <a:pt x="980570" y="171958"/>
                  <a:pt x="959371" y="164892"/>
                </a:cubicBezTo>
                <a:cubicBezTo>
                  <a:pt x="935200" y="156835"/>
                  <a:pt x="909001" y="156606"/>
                  <a:pt x="884420" y="149902"/>
                </a:cubicBezTo>
                <a:cubicBezTo>
                  <a:pt x="853931" y="141587"/>
                  <a:pt x="824459" y="129915"/>
                  <a:pt x="794479" y="119921"/>
                </a:cubicBezTo>
                <a:cubicBezTo>
                  <a:pt x="779489" y="114924"/>
                  <a:pt x="764838" y="108763"/>
                  <a:pt x="749509" y="104931"/>
                </a:cubicBezTo>
                <a:cubicBezTo>
                  <a:pt x="603277" y="68374"/>
                  <a:pt x="785873" y="113012"/>
                  <a:pt x="614597" y="74951"/>
                </a:cubicBezTo>
                <a:cubicBezTo>
                  <a:pt x="594485" y="70482"/>
                  <a:pt x="575079" y="62516"/>
                  <a:pt x="554636" y="59961"/>
                </a:cubicBezTo>
                <a:cubicBezTo>
                  <a:pt x="494932" y="52498"/>
                  <a:pt x="434715" y="49968"/>
                  <a:pt x="374754" y="44971"/>
                </a:cubicBezTo>
                <a:cubicBezTo>
                  <a:pt x="291241" y="17132"/>
                  <a:pt x="332938" y="27541"/>
                  <a:pt x="194872" y="14990"/>
                </a:cubicBezTo>
                <a:cubicBezTo>
                  <a:pt x="129990" y="9092"/>
                  <a:pt x="0" y="0"/>
                  <a:pt x="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21561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813" y="-240495"/>
            <a:ext cx="10260724" cy="1899746"/>
          </a:xfrm>
        </p:spPr>
        <p:txBody>
          <a:bodyPr>
            <a:normAutofit/>
          </a:bodyPr>
          <a:lstStyle/>
          <a:p>
            <a:pPr algn="ctr"/>
            <a:r>
              <a:rPr lang="en-US" altLang="en-US" sz="3600" b="1" cap="none" dirty="0">
                <a:ea typeface="Calibri" panose="020F0502020204030204" pitchFamily="34" charset="0"/>
              </a:rPr>
              <a:t> </a:t>
            </a:r>
            <a:r>
              <a:rPr lang="en-US" altLang="en-US" sz="3600" b="1" cap="none" dirty="0">
                <a:solidFill>
                  <a:srgbClr val="FFC000"/>
                </a:solidFill>
                <a:ea typeface="Calibri" panose="020F0502020204030204" pitchFamily="34" charset="0"/>
              </a:rPr>
              <a:t>5.4.3 Multilayer feed-forward neural networks</a:t>
            </a:r>
            <a:br>
              <a:rPr lang="ar-EG" altLang="en-US" sz="3600" b="1" cap="none" dirty="0">
                <a:solidFill>
                  <a:srgbClr val="FFC000"/>
                </a:solidFill>
                <a:ea typeface="Calibri" panose="020F0502020204030204" pitchFamily="34" charset="0"/>
              </a:rPr>
            </a:br>
            <a:r>
              <a:rPr lang="en-US" sz="3200" b="1" cap="none" dirty="0">
                <a:solidFill>
                  <a:srgbClr val="00B0F0"/>
                </a:solidFill>
              </a:rPr>
              <a:t>Multi-layer Perceptron (MLP) Networks</a:t>
            </a:r>
            <a:r>
              <a:rPr lang="en-US" sz="3600" b="1" dirty="0">
                <a:solidFill>
                  <a:schemeClr val="bg2"/>
                </a:solidFill>
              </a:rPr>
              <a:t>.</a:t>
            </a:r>
            <a:endParaRPr lang="en-US" sz="3600" dirty="0">
              <a:solidFill>
                <a:srgbClr val="FFC000"/>
              </a:solidFill>
            </a:endParaRPr>
          </a:p>
        </p:txBody>
      </p:sp>
      <p:sp>
        <p:nvSpPr>
          <p:cNvPr id="3" name="Content Placeholder 2"/>
          <p:cNvSpPr>
            <a:spLocks noGrp="1"/>
          </p:cNvSpPr>
          <p:nvPr>
            <p:ph idx="1"/>
          </p:nvPr>
        </p:nvSpPr>
        <p:spPr>
          <a:xfrm>
            <a:off x="128606" y="1249464"/>
            <a:ext cx="11971276" cy="4071109"/>
          </a:xfrm>
        </p:spPr>
        <p:txBody>
          <a:bodyPr>
            <a:noAutofit/>
          </a:bodyPr>
          <a:lstStyle/>
          <a:p>
            <a:r>
              <a:rPr lang="en-US" sz="2600" dirty="0"/>
              <a:t>It is an interconnection of perceptrons in which data and calculations flow in a single direction, from the input data to the outputs. The number of layers in a </a:t>
            </a:r>
            <a:r>
              <a:rPr lang="en-US" sz="2600" b="1" dirty="0"/>
              <a:t>neural network</a:t>
            </a:r>
            <a:r>
              <a:rPr lang="en-US" sz="2600" dirty="0"/>
              <a:t> is the number of layers of perceptrons.</a:t>
            </a:r>
          </a:p>
          <a:p>
            <a:r>
              <a:rPr lang="en-US" sz="2600" dirty="0"/>
              <a:t>Consider the simple network which has two input units, two hidden units, and two output unit </a:t>
            </a:r>
            <a:r>
              <a:rPr lang="en-US" sz="2600" b="1" dirty="0">
                <a:solidFill>
                  <a:srgbClr val="FF0000"/>
                </a:solidFill>
              </a:rPr>
              <a:t>(2/2/2). </a:t>
            </a:r>
            <a:r>
              <a:rPr lang="en-US" sz="2600" dirty="0"/>
              <a:t>(In addition, each unit has a dummy input fixed at 1.) Given an input vector </a:t>
            </a:r>
            <a:r>
              <a:rPr lang="en-US" sz="2600" b="1" dirty="0"/>
              <a:t>x</a:t>
            </a:r>
            <a:r>
              <a:rPr lang="en-US" sz="2600" dirty="0"/>
              <a:t>=(x</a:t>
            </a:r>
            <a:r>
              <a:rPr lang="en-US" sz="2600" baseline="-25000" dirty="0"/>
              <a:t>1</a:t>
            </a:r>
            <a:r>
              <a:rPr lang="en-US" sz="2600" dirty="0"/>
              <a:t>, x</a:t>
            </a:r>
            <a:r>
              <a:rPr lang="en-US" sz="2600" baseline="-25000" dirty="0"/>
              <a:t>2</a:t>
            </a:r>
            <a:r>
              <a:rPr lang="en-US" sz="2600" dirty="0"/>
              <a:t>), the activations of the input units are set to (a</a:t>
            </a:r>
            <a:r>
              <a:rPr lang="en-US" sz="2600" baseline="-25000" dirty="0"/>
              <a:t>1</a:t>
            </a:r>
            <a:r>
              <a:rPr lang="en-US" sz="2600" dirty="0"/>
              <a:t>, a</a:t>
            </a:r>
            <a:r>
              <a:rPr lang="en-US" sz="2600" baseline="-25000" dirty="0"/>
              <a:t>2</a:t>
            </a:r>
            <a:r>
              <a:rPr lang="en-US" sz="2600" dirty="0"/>
              <a:t>) = (x</a:t>
            </a:r>
            <a:r>
              <a:rPr lang="en-US" sz="2600" baseline="-25000" dirty="0"/>
              <a:t>1</a:t>
            </a:r>
            <a:r>
              <a:rPr lang="en-US" sz="2600" dirty="0"/>
              <a:t>, x</a:t>
            </a:r>
            <a:r>
              <a:rPr lang="en-US" sz="2600" baseline="-25000" dirty="0"/>
              <a:t>2</a:t>
            </a:r>
            <a:r>
              <a:rPr lang="en-US" sz="2600" dirty="0"/>
              <a:t>). </a:t>
            </a:r>
          </a:p>
          <a:p>
            <a:endParaRPr lang="en-US" sz="2600" dirty="0"/>
          </a:p>
          <a:p>
            <a:pPr marL="0" indent="0">
              <a:buNone/>
            </a:pPr>
            <a:endParaRPr lang="en-US" sz="2600" dirty="0"/>
          </a:p>
          <a:p>
            <a:pPr marL="0" indent="0">
              <a:buNone/>
            </a:pPr>
            <a:r>
              <a:rPr lang="en-US" sz="3600" b="1" dirty="0">
                <a:solidFill>
                  <a:srgbClr val="FFC000"/>
                </a:solidFill>
              </a:rPr>
              <a:t>The output at unit 5 is given by:</a:t>
            </a:r>
          </a:p>
          <a:p>
            <a:endParaRPr lang="en-US" sz="2600" dirty="0"/>
          </a:p>
        </p:txBody>
      </p:sp>
      <p:pic>
        <p:nvPicPr>
          <p:cNvPr id="4" name="Picture 3"/>
          <p:cNvPicPr/>
          <p:nvPr/>
        </p:nvPicPr>
        <p:blipFill rotWithShape="1">
          <a:blip r:embed="rId2"/>
          <a:srcRect l="38169" t="32397" r="34867" b="42718"/>
          <a:stretch/>
        </p:blipFill>
        <p:spPr bwMode="auto">
          <a:xfrm>
            <a:off x="7630510" y="3968783"/>
            <a:ext cx="3875690" cy="2446405"/>
          </a:xfrm>
          <a:prstGeom prst="rect">
            <a:avLst/>
          </a:prstGeom>
          <a:ln>
            <a:solidFill>
              <a:schemeClr val="tx1"/>
            </a:solidFill>
          </a:ln>
          <a:extLst>
            <a:ext uri="{53640926-AAD7-44D8-BBD7-CCE9431645EC}">
              <a14:shadowObscured xmlns:a14="http://schemas.microsoft.com/office/drawing/2010/main"/>
            </a:ext>
          </a:extLst>
        </p:spPr>
      </p:pic>
      <p:pic>
        <p:nvPicPr>
          <p:cNvPr id="5" name="Picture 4"/>
          <p:cNvPicPr>
            <a:picLocks noChangeAspect="1"/>
          </p:cNvPicPr>
          <p:nvPr/>
        </p:nvPicPr>
        <p:blipFill>
          <a:blip r:embed="rId3"/>
          <a:stretch>
            <a:fillRect/>
          </a:stretch>
        </p:blipFill>
        <p:spPr>
          <a:xfrm>
            <a:off x="170484" y="5560423"/>
            <a:ext cx="7259016" cy="985793"/>
          </a:xfrm>
          <a:prstGeom prst="rect">
            <a:avLst/>
          </a:prstGeom>
        </p:spPr>
      </p:pic>
    </p:spTree>
    <p:extLst>
      <p:ext uri="{BB962C8B-B14F-4D97-AF65-F5344CB8AC3E}">
        <p14:creationId xmlns:p14="http://schemas.microsoft.com/office/powerpoint/2010/main" val="18357879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7638" y="0"/>
            <a:ext cx="10438433" cy="1068489"/>
          </a:xfrm>
        </p:spPr>
        <p:txBody>
          <a:bodyPr>
            <a:noAutofit/>
          </a:bodyPr>
          <a:lstStyle/>
          <a:p>
            <a:r>
              <a:rPr lang="en-US" altLang="en-US" sz="4400" b="1" cap="none" dirty="0">
                <a:ea typeface="Calibri" panose="020F0502020204030204" pitchFamily="34" charset="0"/>
              </a:rPr>
              <a:t> </a:t>
            </a:r>
            <a:r>
              <a:rPr lang="en-US" altLang="en-US" sz="4400" b="1" cap="none" dirty="0">
                <a:solidFill>
                  <a:srgbClr val="FFC000"/>
                </a:solidFill>
                <a:ea typeface="Calibri" panose="020F0502020204030204" pitchFamily="34" charset="0"/>
              </a:rPr>
              <a:t>5.4.4 Learning in multilayer networks</a:t>
            </a:r>
            <a:br>
              <a:rPr lang="en-US" altLang="en-US" sz="4400" b="1" cap="none" dirty="0">
                <a:solidFill>
                  <a:srgbClr val="FFC000"/>
                </a:solidFill>
                <a:ea typeface="Calibri" panose="020F0502020204030204" pitchFamily="34" charset="0"/>
              </a:rPr>
            </a:br>
            <a:r>
              <a:rPr lang="en-US" altLang="en-US" sz="4400" b="1" cap="none" dirty="0">
                <a:solidFill>
                  <a:srgbClr val="FFC000"/>
                </a:solidFill>
                <a:ea typeface="Calibri" panose="020F0502020204030204" pitchFamily="34" charset="0"/>
              </a:rPr>
              <a:t>using the </a:t>
            </a:r>
            <a:r>
              <a:rPr lang="en-US" altLang="en-US" sz="4400" b="1" cap="none" dirty="0">
                <a:solidFill>
                  <a:srgbClr val="00B0F0"/>
                </a:solidFill>
                <a:ea typeface="Calibri" panose="020F0502020204030204" pitchFamily="34" charset="0"/>
              </a:rPr>
              <a:t>Backpropagation</a:t>
            </a:r>
            <a:r>
              <a:rPr lang="en-US" altLang="en-US" sz="4400" b="1" cap="none" dirty="0">
                <a:solidFill>
                  <a:srgbClr val="FFC000"/>
                </a:solidFill>
                <a:ea typeface="Calibri" panose="020F0502020204030204" pitchFamily="34" charset="0"/>
              </a:rPr>
              <a:t> Algorithm</a:t>
            </a:r>
            <a:endParaRPr lang="en-US" sz="4400" dirty="0">
              <a:solidFill>
                <a:srgbClr val="FFC000"/>
              </a:solidFill>
            </a:endParaRPr>
          </a:p>
        </p:txBody>
      </p:sp>
      <p:pic>
        <p:nvPicPr>
          <p:cNvPr id="4" name="Content Placeholder 3"/>
          <p:cNvPicPr>
            <a:picLocks noGrp="1" noChangeAspect="1"/>
          </p:cNvPicPr>
          <p:nvPr>
            <p:ph idx="1"/>
          </p:nvPr>
        </p:nvPicPr>
        <p:blipFill>
          <a:blip r:embed="rId2"/>
          <a:stretch>
            <a:fillRect/>
          </a:stretch>
        </p:blipFill>
        <p:spPr>
          <a:xfrm>
            <a:off x="3976256" y="1200150"/>
            <a:ext cx="7649820" cy="5657850"/>
          </a:xfrm>
          <a:prstGeom prst="rect">
            <a:avLst/>
          </a:prstGeom>
        </p:spPr>
      </p:pic>
      <p:sp>
        <p:nvSpPr>
          <p:cNvPr id="3" name="TextBox 2">
            <a:extLst>
              <a:ext uri="{FF2B5EF4-FFF2-40B4-BE49-F238E27FC236}">
                <a16:creationId xmlns:a16="http://schemas.microsoft.com/office/drawing/2014/main" id="{6F0DD038-1339-4B60-BBFD-20D073368546}"/>
              </a:ext>
            </a:extLst>
          </p:cNvPr>
          <p:cNvSpPr txBox="1"/>
          <p:nvPr/>
        </p:nvSpPr>
        <p:spPr>
          <a:xfrm>
            <a:off x="288832" y="3871354"/>
            <a:ext cx="3515071" cy="2308324"/>
          </a:xfrm>
          <a:prstGeom prst="rect">
            <a:avLst/>
          </a:prstGeom>
          <a:noFill/>
        </p:spPr>
        <p:txBody>
          <a:bodyPr wrap="square" rtlCol="0">
            <a:spAutoFit/>
          </a:bodyPr>
          <a:lstStyle/>
          <a:p>
            <a:r>
              <a:rPr lang="en-US" sz="2400" dirty="0"/>
              <a:t> For derivation of the algorithm part 2, Visit:</a:t>
            </a:r>
          </a:p>
          <a:p>
            <a:r>
              <a:rPr lang="en-US" sz="2400" dirty="0">
                <a:hlinkClick r:id="rId3" action="ppaction://hlinkfile"/>
              </a:rPr>
              <a:t>Neural network tutorial_ The back-propagation algorithm (Part 2).mp4</a:t>
            </a:r>
            <a:endParaRPr lang="en-US" sz="2400" dirty="0"/>
          </a:p>
        </p:txBody>
      </p:sp>
      <p:sp>
        <p:nvSpPr>
          <p:cNvPr id="5" name="TextBox 4">
            <a:extLst>
              <a:ext uri="{FF2B5EF4-FFF2-40B4-BE49-F238E27FC236}">
                <a16:creationId xmlns:a16="http://schemas.microsoft.com/office/drawing/2014/main" id="{7104D966-5D35-4DFB-A609-2ADDC894CE68}"/>
              </a:ext>
            </a:extLst>
          </p:cNvPr>
          <p:cNvSpPr txBox="1"/>
          <p:nvPr/>
        </p:nvSpPr>
        <p:spPr>
          <a:xfrm>
            <a:off x="288834" y="1315760"/>
            <a:ext cx="3313348" cy="1938992"/>
          </a:xfrm>
          <a:prstGeom prst="rect">
            <a:avLst/>
          </a:prstGeom>
          <a:noFill/>
        </p:spPr>
        <p:txBody>
          <a:bodyPr wrap="square" rtlCol="0">
            <a:spAutoFit/>
          </a:bodyPr>
          <a:lstStyle/>
          <a:p>
            <a:r>
              <a:rPr lang="en-US" sz="2400" dirty="0"/>
              <a:t> For derivation of the algorithm part 1, Visit:</a:t>
            </a:r>
          </a:p>
          <a:p>
            <a:r>
              <a:rPr lang="en-US" sz="2400" dirty="0" err="1">
                <a:hlinkClick r:id="rId4" action="ppaction://hlinkfile"/>
              </a:rPr>
              <a:t>videoplaybackpropagation</a:t>
            </a:r>
            <a:r>
              <a:rPr lang="en-US" sz="2400" dirty="0">
                <a:hlinkClick r:id="rId4" action="ppaction://hlinkfile"/>
              </a:rPr>
              <a:t> part 1.mp4</a:t>
            </a:r>
            <a:endParaRPr lang="en-US" sz="2400" dirty="0"/>
          </a:p>
        </p:txBody>
      </p:sp>
    </p:spTree>
    <p:extLst>
      <p:ext uri="{BB962C8B-B14F-4D97-AF65-F5344CB8AC3E}">
        <p14:creationId xmlns:p14="http://schemas.microsoft.com/office/powerpoint/2010/main" val="5120013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C609F-D43E-4DB8-A058-7AAAED07F759}"/>
              </a:ext>
            </a:extLst>
          </p:cNvPr>
          <p:cNvSpPr>
            <a:spLocks noGrp="1"/>
          </p:cNvSpPr>
          <p:nvPr>
            <p:ph type="title"/>
          </p:nvPr>
        </p:nvSpPr>
        <p:spPr>
          <a:xfrm>
            <a:off x="789709" y="-110836"/>
            <a:ext cx="9784340" cy="1274618"/>
          </a:xfrm>
        </p:spPr>
        <p:txBody>
          <a:bodyPr>
            <a:normAutofit fontScale="90000"/>
          </a:bodyPr>
          <a:lstStyle/>
          <a:p>
            <a:r>
              <a:rPr lang="en-US" sz="4400" b="1" cap="none" dirty="0">
                <a:solidFill>
                  <a:srgbClr val="FFC000"/>
                </a:solidFill>
              </a:rPr>
              <a:t>Most Popular Neural Networks Algorithms</a:t>
            </a:r>
          </a:p>
        </p:txBody>
      </p:sp>
      <p:pic>
        <p:nvPicPr>
          <p:cNvPr id="4" name="Content Placeholder 3">
            <a:extLst>
              <a:ext uri="{FF2B5EF4-FFF2-40B4-BE49-F238E27FC236}">
                <a16:creationId xmlns:a16="http://schemas.microsoft.com/office/drawing/2014/main" id="{21251F8C-2E57-4330-86D9-7ECD4AF404DD}"/>
              </a:ext>
            </a:extLst>
          </p:cNvPr>
          <p:cNvPicPr>
            <a:picLocks noGrp="1" noChangeAspect="1"/>
          </p:cNvPicPr>
          <p:nvPr>
            <p:ph idx="1"/>
          </p:nvPr>
        </p:nvPicPr>
        <p:blipFill>
          <a:blip r:embed="rId2"/>
          <a:stretch>
            <a:fillRect/>
          </a:stretch>
        </p:blipFill>
        <p:spPr>
          <a:xfrm>
            <a:off x="1925121" y="1163782"/>
            <a:ext cx="4896807" cy="5310622"/>
          </a:xfrm>
          <a:prstGeom prst="rect">
            <a:avLst/>
          </a:prstGeom>
        </p:spPr>
      </p:pic>
      <p:sp>
        <p:nvSpPr>
          <p:cNvPr id="3" name="TextBox 2">
            <a:extLst>
              <a:ext uri="{FF2B5EF4-FFF2-40B4-BE49-F238E27FC236}">
                <a16:creationId xmlns:a16="http://schemas.microsoft.com/office/drawing/2014/main" id="{4239C808-39D5-4511-ABBC-FD6632DBEF41}"/>
              </a:ext>
            </a:extLst>
          </p:cNvPr>
          <p:cNvSpPr txBox="1"/>
          <p:nvPr/>
        </p:nvSpPr>
        <p:spPr>
          <a:xfrm>
            <a:off x="8069943" y="1915887"/>
            <a:ext cx="3178628" cy="3539430"/>
          </a:xfrm>
          <a:prstGeom prst="rect">
            <a:avLst/>
          </a:prstGeom>
          <a:noFill/>
        </p:spPr>
        <p:txBody>
          <a:bodyPr wrap="square" rtlCol="0">
            <a:spAutoFit/>
          </a:bodyPr>
          <a:lstStyle/>
          <a:p>
            <a:r>
              <a:rPr lang="en-US" sz="3200" dirty="0"/>
              <a:t>Visit :</a:t>
            </a:r>
            <a:endParaRPr lang="en-US" sz="3200" dirty="0">
              <a:hlinkClick r:id="rId3"/>
            </a:endParaRPr>
          </a:p>
          <a:p>
            <a:r>
              <a:rPr lang="en-US" sz="3200" dirty="0">
                <a:hlinkClick r:id="rId4" action="ppaction://hlinkfile"/>
              </a:rPr>
              <a:t>https://www.upgrad.com/blog/types-of-neural-networks/</a:t>
            </a:r>
            <a:endParaRPr lang="en-US" sz="3200" dirty="0"/>
          </a:p>
          <a:p>
            <a:endParaRPr lang="en-US" sz="3200" dirty="0"/>
          </a:p>
        </p:txBody>
      </p:sp>
    </p:spTree>
    <p:extLst>
      <p:ext uri="{BB962C8B-B14F-4D97-AF65-F5344CB8AC3E}">
        <p14:creationId xmlns:p14="http://schemas.microsoft.com/office/powerpoint/2010/main" val="12118841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8165" y="-371433"/>
            <a:ext cx="9150178" cy="1372558"/>
          </a:xfrm>
        </p:spPr>
        <p:txBody>
          <a:bodyPr/>
          <a:lstStyle/>
          <a:p>
            <a:r>
              <a:rPr lang="en-US" altLang="en-US" b="1" cap="none" dirty="0">
                <a:solidFill>
                  <a:srgbClr val="00B0F0"/>
                </a:solidFill>
                <a:ea typeface="Calibri" panose="020F0502020204030204" pitchFamily="34" charset="0"/>
              </a:rPr>
              <a:t>5.5</a:t>
            </a:r>
            <a:r>
              <a:rPr lang="en-US" altLang="en-US" b="1" cap="none" dirty="0">
                <a:solidFill>
                  <a:srgbClr val="FFC000"/>
                </a:solidFill>
                <a:ea typeface="Calibri" panose="020F0502020204030204" pitchFamily="34" charset="0"/>
              </a:rPr>
              <a:t> Support Vector Machines (SVM)</a:t>
            </a:r>
            <a:endParaRPr lang="en-US" dirty="0"/>
          </a:p>
        </p:txBody>
      </p:sp>
      <p:sp>
        <p:nvSpPr>
          <p:cNvPr id="3" name="Content Placeholder 2"/>
          <p:cNvSpPr>
            <a:spLocks noGrp="1"/>
          </p:cNvSpPr>
          <p:nvPr>
            <p:ph idx="1"/>
          </p:nvPr>
        </p:nvSpPr>
        <p:spPr>
          <a:xfrm>
            <a:off x="250862" y="653653"/>
            <a:ext cx="11690273" cy="5856875"/>
          </a:xfrm>
        </p:spPr>
        <p:txBody>
          <a:bodyPr>
            <a:noAutofit/>
          </a:bodyPr>
          <a:lstStyle/>
          <a:p>
            <a:pPr algn="just">
              <a:buFont typeface="Wingdings" panose="05000000000000000000" pitchFamily="2" charset="2"/>
              <a:buChar char="§"/>
            </a:pPr>
            <a:r>
              <a:rPr lang="en-US" sz="2400" dirty="0"/>
              <a:t>It is </a:t>
            </a:r>
            <a:r>
              <a:rPr lang="en-US" sz="2400" dirty="0">
                <a:solidFill>
                  <a:srgbClr val="00B0F0"/>
                </a:solidFill>
              </a:rPr>
              <a:t>supervised learning models with associated learning algorithms</a:t>
            </a:r>
          </a:p>
          <a:p>
            <a:pPr algn="just">
              <a:buFont typeface="Wingdings" panose="05000000000000000000" pitchFamily="2" charset="2"/>
              <a:buChar char="§"/>
            </a:pPr>
            <a:r>
              <a:rPr lang="en-US" sz="2400" dirty="0"/>
              <a:t>SVMs are used in applications like handwriting recognition, intrusion detection, face detection, email classification, gene classification, and in web pages. </a:t>
            </a:r>
          </a:p>
          <a:p>
            <a:pPr algn="just">
              <a:buFont typeface="Wingdings" panose="05000000000000000000" pitchFamily="2" charset="2"/>
              <a:buChar char="§"/>
            </a:pPr>
            <a:r>
              <a:rPr lang="en-US" sz="2400" dirty="0"/>
              <a:t>A support vector machine (SVM) is used to solve complex classification, regression, and outlier detection problems by performing optimal data transformations that </a:t>
            </a:r>
            <a:r>
              <a:rPr lang="en-US" sz="2400" dirty="0">
                <a:solidFill>
                  <a:srgbClr val="00B0F0"/>
                </a:solidFill>
              </a:rPr>
              <a:t>determine boundaries between data points based on predefined classes, labels, or outputs.</a:t>
            </a:r>
          </a:p>
          <a:p>
            <a:pPr algn="just">
              <a:buFont typeface="Wingdings" panose="05000000000000000000" pitchFamily="2" charset="2"/>
              <a:buChar char="§"/>
            </a:pPr>
            <a:r>
              <a:rPr lang="en-US" sz="2800" dirty="0"/>
              <a:t>It can handle both classification and regression on linear and non-linear data.</a:t>
            </a:r>
          </a:p>
          <a:p>
            <a:pPr algn="just">
              <a:buFont typeface="Wingdings" panose="05000000000000000000" pitchFamily="2" charset="2"/>
              <a:buChar char="§"/>
            </a:pPr>
            <a:endParaRPr lang="en-US" sz="2800" dirty="0"/>
          </a:p>
          <a:p>
            <a:pPr algn="just"/>
            <a:endParaRPr lang="en-US" sz="2800" dirty="0"/>
          </a:p>
        </p:txBody>
      </p:sp>
      <p:pic>
        <p:nvPicPr>
          <p:cNvPr id="4" name="Picture 3">
            <a:extLst>
              <a:ext uri="{FF2B5EF4-FFF2-40B4-BE49-F238E27FC236}">
                <a16:creationId xmlns:a16="http://schemas.microsoft.com/office/drawing/2014/main" id="{92A30FE7-ECE0-4801-B54E-A4CF1E555284}"/>
              </a:ext>
            </a:extLst>
          </p:cNvPr>
          <p:cNvPicPr>
            <a:picLocks noChangeAspect="1"/>
          </p:cNvPicPr>
          <p:nvPr/>
        </p:nvPicPr>
        <p:blipFill>
          <a:blip r:embed="rId2"/>
          <a:stretch>
            <a:fillRect/>
          </a:stretch>
        </p:blipFill>
        <p:spPr>
          <a:xfrm>
            <a:off x="3761474" y="3582090"/>
            <a:ext cx="4669047" cy="3112698"/>
          </a:xfrm>
          <a:prstGeom prst="rect">
            <a:avLst/>
          </a:prstGeom>
        </p:spPr>
      </p:pic>
    </p:spTree>
    <p:extLst>
      <p:ext uri="{BB962C8B-B14F-4D97-AF65-F5344CB8AC3E}">
        <p14:creationId xmlns:p14="http://schemas.microsoft.com/office/powerpoint/2010/main" val="28751450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17855-4109-4993-A08F-F35CA11816E3}"/>
              </a:ext>
            </a:extLst>
          </p:cNvPr>
          <p:cNvSpPr>
            <a:spLocks noGrp="1"/>
          </p:cNvSpPr>
          <p:nvPr>
            <p:ph type="title"/>
          </p:nvPr>
        </p:nvSpPr>
        <p:spPr>
          <a:xfrm>
            <a:off x="13716" y="68664"/>
            <a:ext cx="11268456" cy="1064427"/>
          </a:xfrm>
        </p:spPr>
        <p:txBody>
          <a:bodyPr/>
          <a:lstStyle/>
          <a:p>
            <a:r>
              <a:rPr lang="en-US" altLang="en-US" b="1" cap="none" dirty="0">
                <a:solidFill>
                  <a:srgbClr val="FFC000"/>
                </a:solidFill>
                <a:ea typeface="Calibri" panose="020F0502020204030204" pitchFamily="34" charset="0"/>
              </a:rPr>
              <a:t>Support Vector Machines (SVM) </a:t>
            </a:r>
            <a:r>
              <a:rPr lang="en-US" altLang="en-US" b="1" cap="none" dirty="0">
                <a:solidFill>
                  <a:srgbClr val="00B0F0"/>
                </a:solidFill>
                <a:ea typeface="Calibri" panose="020F0502020204030204" pitchFamily="34" charset="0"/>
              </a:rPr>
              <a:t>Fundamentals</a:t>
            </a:r>
            <a:endParaRPr lang="en-US" dirty="0">
              <a:solidFill>
                <a:srgbClr val="00B0F0"/>
              </a:solidFill>
            </a:endParaRPr>
          </a:p>
        </p:txBody>
      </p:sp>
      <p:sp>
        <p:nvSpPr>
          <p:cNvPr id="3" name="Content Placeholder 2">
            <a:extLst>
              <a:ext uri="{FF2B5EF4-FFF2-40B4-BE49-F238E27FC236}">
                <a16:creationId xmlns:a16="http://schemas.microsoft.com/office/drawing/2014/main" id="{C18DE98A-7501-4F45-BA98-087642B97449}"/>
              </a:ext>
            </a:extLst>
          </p:cNvPr>
          <p:cNvSpPr>
            <a:spLocks noGrp="1"/>
          </p:cNvSpPr>
          <p:nvPr>
            <p:ph idx="1"/>
          </p:nvPr>
        </p:nvSpPr>
        <p:spPr>
          <a:xfrm>
            <a:off x="461772" y="1288921"/>
            <a:ext cx="11268456" cy="5569079"/>
          </a:xfrm>
        </p:spPr>
        <p:txBody>
          <a:bodyPr>
            <a:normAutofit lnSpcReduction="10000"/>
          </a:bodyPr>
          <a:lstStyle/>
          <a:p>
            <a:pPr marL="0" indent="0">
              <a:buNone/>
            </a:pPr>
            <a:r>
              <a:rPr lang="en-US" sz="3200" u="sng" dirty="0"/>
              <a:t>SVMs are helpful in:</a:t>
            </a:r>
          </a:p>
          <a:p>
            <a:pPr marL="514350" indent="-514350">
              <a:buFont typeface="+mj-lt"/>
              <a:buAutoNum type="arabicPeriod"/>
            </a:pPr>
            <a:r>
              <a:rPr lang="en-US" sz="3200" b="1" dirty="0">
                <a:solidFill>
                  <a:srgbClr val="FF0000"/>
                </a:solidFill>
              </a:rPr>
              <a:t>text and hypertext categorization</a:t>
            </a:r>
            <a:r>
              <a:rPr lang="en-US" sz="3200" dirty="0"/>
              <a:t>, as their application can significantly reduce the need for labeled training instances. </a:t>
            </a:r>
          </a:p>
          <a:p>
            <a:pPr marL="514350" indent="-514350">
              <a:buFont typeface="+mj-lt"/>
              <a:buAutoNum type="arabicPeriod"/>
            </a:pPr>
            <a:r>
              <a:rPr lang="en-US" sz="3200" b="1" dirty="0">
                <a:solidFill>
                  <a:srgbClr val="FF0000"/>
                </a:solidFill>
              </a:rPr>
              <a:t>Classification of images</a:t>
            </a:r>
            <a:r>
              <a:rPr lang="en-US" sz="3200" dirty="0"/>
              <a:t> can also be performed using SVMs. </a:t>
            </a:r>
          </a:p>
          <a:p>
            <a:pPr marL="514350" indent="-514350">
              <a:buFont typeface="+mj-lt"/>
              <a:buAutoNum type="arabicPeriod"/>
            </a:pPr>
            <a:r>
              <a:rPr lang="en-US" sz="3200" b="1" dirty="0">
                <a:solidFill>
                  <a:srgbClr val="FF0000"/>
                </a:solidFill>
              </a:rPr>
              <a:t>Classification of satellite data </a:t>
            </a:r>
            <a:r>
              <a:rPr lang="en-US" sz="3200" dirty="0"/>
              <a:t>like SAR data using supervised SVM.</a:t>
            </a:r>
          </a:p>
          <a:p>
            <a:pPr marL="514350" indent="-514350">
              <a:buFont typeface="+mj-lt"/>
              <a:buAutoNum type="arabicPeriod"/>
            </a:pPr>
            <a:r>
              <a:rPr lang="en-US" sz="3200" b="1" dirty="0">
                <a:solidFill>
                  <a:srgbClr val="FF0000"/>
                </a:solidFill>
              </a:rPr>
              <a:t>Hand-written characters </a:t>
            </a:r>
            <a:r>
              <a:rPr lang="en-US" sz="3200" dirty="0"/>
              <a:t>can be recognized using SVM.</a:t>
            </a:r>
          </a:p>
          <a:p>
            <a:pPr marL="514350" indent="-514350">
              <a:buFont typeface="+mj-lt"/>
              <a:buAutoNum type="arabicPeriod"/>
            </a:pPr>
            <a:r>
              <a:rPr lang="en-US" sz="3200" b="1" dirty="0">
                <a:solidFill>
                  <a:srgbClr val="FF0000"/>
                </a:solidFill>
              </a:rPr>
              <a:t>biological and other sciences</a:t>
            </a:r>
            <a:r>
              <a:rPr lang="en-US" sz="3200" dirty="0"/>
              <a:t>. They have been used to classify proteins with up to 90% of the compounds classified correctly.</a:t>
            </a:r>
          </a:p>
          <a:p>
            <a:r>
              <a:rPr lang="en-US" sz="3200" dirty="0"/>
              <a:t>Visit:</a:t>
            </a:r>
          </a:p>
          <a:p>
            <a:pPr marL="0" indent="0">
              <a:buNone/>
            </a:pPr>
            <a:r>
              <a:rPr lang="en-US" sz="3200" dirty="0">
                <a:hlinkClick r:id="rId2" action="ppaction://hlinkfile"/>
              </a:rPr>
              <a:t>Support Vector Machines (SVMs)_ A friendly introduction.mp4</a:t>
            </a:r>
            <a:endParaRPr lang="en-US" sz="3200" dirty="0"/>
          </a:p>
        </p:txBody>
      </p:sp>
    </p:spTree>
    <p:extLst>
      <p:ext uri="{BB962C8B-B14F-4D97-AF65-F5344CB8AC3E}">
        <p14:creationId xmlns:p14="http://schemas.microsoft.com/office/powerpoint/2010/main" val="27021600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6465" y="176008"/>
            <a:ext cx="8610600" cy="1293028"/>
          </a:xfrm>
        </p:spPr>
        <p:txBody>
          <a:bodyPr>
            <a:normAutofit fontScale="90000"/>
          </a:bodyPr>
          <a:lstStyle/>
          <a:p>
            <a:pPr algn="ctr"/>
            <a:r>
              <a:rPr lang="en-US" altLang="en-US" b="1" cap="none" dirty="0">
                <a:solidFill>
                  <a:srgbClr val="00B0F0"/>
                </a:solidFill>
                <a:ea typeface="Calibri" panose="020F0502020204030204" pitchFamily="34" charset="0"/>
              </a:rPr>
              <a:t>5.6</a:t>
            </a:r>
            <a:r>
              <a:rPr lang="en-US" altLang="en-US" b="1" cap="none" dirty="0">
                <a:solidFill>
                  <a:srgbClr val="FFC000"/>
                </a:solidFill>
                <a:ea typeface="Calibri" panose="020F0502020204030204" pitchFamily="34" charset="0"/>
              </a:rPr>
              <a:t> Deep Learning</a:t>
            </a:r>
            <a:br>
              <a:rPr lang="en-US" altLang="en-US" b="1" cap="none" dirty="0">
                <a:solidFill>
                  <a:srgbClr val="FFC000"/>
                </a:solidFill>
                <a:ea typeface="Calibri" panose="020F0502020204030204" pitchFamily="34" charset="0"/>
              </a:rPr>
            </a:br>
            <a:r>
              <a:rPr lang="en-US" altLang="en-US" b="1" cap="none" dirty="0">
                <a:solidFill>
                  <a:srgbClr val="00B0F0"/>
                </a:solidFill>
                <a:ea typeface="Calibri" panose="020F0502020204030204" pitchFamily="34" charset="0"/>
              </a:rPr>
              <a:t>(Neural Networks Based)</a:t>
            </a:r>
            <a:br>
              <a:rPr lang="en-US" altLang="en-US" cap="none" dirty="0">
                <a:solidFill>
                  <a:srgbClr val="00B0F0"/>
                </a:solidFill>
              </a:rPr>
            </a:br>
            <a:endParaRPr lang="en-US" dirty="0">
              <a:solidFill>
                <a:srgbClr val="00B0F0"/>
              </a:solidFill>
            </a:endParaRPr>
          </a:p>
        </p:txBody>
      </p:sp>
      <p:sp>
        <p:nvSpPr>
          <p:cNvPr id="3" name="Content Placeholder 2"/>
          <p:cNvSpPr>
            <a:spLocks noGrp="1"/>
          </p:cNvSpPr>
          <p:nvPr>
            <p:ph idx="1"/>
          </p:nvPr>
        </p:nvSpPr>
        <p:spPr>
          <a:xfrm>
            <a:off x="278523" y="1469036"/>
            <a:ext cx="11666483" cy="4250432"/>
          </a:xfrm>
        </p:spPr>
        <p:txBody>
          <a:bodyPr>
            <a:normAutofit/>
          </a:bodyPr>
          <a:lstStyle/>
          <a:p>
            <a:pPr algn="just"/>
            <a:r>
              <a:rPr lang="en-US" sz="2800" dirty="0"/>
              <a:t>Deep learning is a class of machine learning algorithms that uses multiple layers to progressively </a:t>
            </a:r>
            <a:r>
              <a:rPr lang="en-US" sz="2800" b="1" dirty="0">
                <a:solidFill>
                  <a:srgbClr val="FF0000"/>
                </a:solidFill>
              </a:rPr>
              <a:t>extract higher-level features from the raw input</a:t>
            </a:r>
            <a:r>
              <a:rPr lang="en-US" sz="2800" dirty="0"/>
              <a:t>. For example, in image processing, </a:t>
            </a:r>
            <a:r>
              <a:rPr lang="en-US" sz="2800" b="1" dirty="0">
                <a:solidFill>
                  <a:srgbClr val="00B0F0"/>
                </a:solidFill>
              </a:rPr>
              <a:t>lower layers </a:t>
            </a:r>
            <a:r>
              <a:rPr lang="en-US" sz="2800" dirty="0"/>
              <a:t>may </a:t>
            </a:r>
            <a:r>
              <a:rPr lang="en-US" sz="2800" b="1" dirty="0">
                <a:solidFill>
                  <a:srgbClr val="FFC000"/>
                </a:solidFill>
              </a:rPr>
              <a:t>identify edges</a:t>
            </a:r>
            <a:r>
              <a:rPr lang="en-US" sz="2800" dirty="0"/>
              <a:t>, while </a:t>
            </a:r>
            <a:r>
              <a:rPr lang="en-US" sz="2800" b="1" dirty="0">
                <a:solidFill>
                  <a:srgbClr val="00B0F0"/>
                </a:solidFill>
              </a:rPr>
              <a:t>higher layers </a:t>
            </a:r>
            <a:r>
              <a:rPr lang="en-US" sz="2800" dirty="0"/>
              <a:t>may identify the concepts relevant to a human such as </a:t>
            </a:r>
            <a:r>
              <a:rPr lang="en-US" sz="2800" b="1" dirty="0">
                <a:solidFill>
                  <a:srgbClr val="FFC000"/>
                </a:solidFill>
              </a:rPr>
              <a:t>digits or letters or faces</a:t>
            </a:r>
            <a:r>
              <a:rPr lang="en-US" sz="2800" dirty="0"/>
              <a:t>.</a:t>
            </a:r>
          </a:p>
          <a:p>
            <a:pPr marL="0" indent="0" algn="just">
              <a:buNone/>
            </a:pPr>
            <a:endParaRPr lang="en-US" sz="3200" dirty="0"/>
          </a:p>
          <a:p>
            <a:endParaRPr lang="en-US" sz="3200" dirty="0"/>
          </a:p>
        </p:txBody>
      </p:sp>
      <p:pic>
        <p:nvPicPr>
          <p:cNvPr id="4" name="Picture 3"/>
          <p:cNvPicPr>
            <a:picLocks noChangeAspect="1"/>
          </p:cNvPicPr>
          <p:nvPr/>
        </p:nvPicPr>
        <p:blipFill>
          <a:blip r:embed="rId2"/>
          <a:stretch>
            <a:fillRect/>
          </a:stretch>
        </p:blipFill>
        <p:spPr>
          <a:xfrm>
            <a:off x="7253629" y="3492708"/>
            <a:ext cx="3849965" cy="3143799"/>
          </a:xfrm>
          <a:prstGeom prst="rect">
            <a:avLst/>
          </a:prstGeom>
        </p:spPr>
      </p:pic>
      <p:pic>
        <p:nvPicPr>
          <p:cNvPr id="5" name="Picture 4"/>
          <p:cNvPicPr/>
          <p:nvPr/>
        </p:nvPicPr>
        <p:blipFill rotWithShape="1">
          <a:blip r:embed="rId3"/>
          <a:srcRect l="20109" t="40338" r="37681" b="10628"/>
          <a:stretch/>
        </p:blipFill>
        <p:spPr bwMode="auto">
          <a:xfrm>
            <a:off x="2008682" y="3477718"/>
            <a:ext cx="3867462" cy="3252866"/>
          </a:xfrm>
          <a:prstGeom prst="rect">
            <a:avLst/>
          </a:prstGeom>
          <a:ln>
            <a:solidFill>
              <a:schemeClr val="tx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754875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26883" y="221225"/>
            <a:ext cx="10037097" cy="6268065"/>
          </a:xfrm>
          <a:prstGeom prst="rect">
            <a:avLst/>
          </a:prstGeom>
        </p:spPr>
      </p:pic>
    </p:spTree>
    <p:extLst>
      <p:ext uri="{BB962C8B-B14F-4D97-AF65-F5344CB8AC3E}">
        <p14:creationId xmlns:p14="http://schemas.microsoft.com/office/powerpoint/2010/main" val="2982966464"/>
      </p:ext>
    </p:extLst>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BA6A4-B0BF-4312-AE52-BD249FB59B4E}"/>
              </a:ext>
            </a:extLst>
          </p:cNvPr>
          <p:cNvSpPr>
            <a:spLocks noGrp="1"/>
          </p:cNvSpPr>
          <p:nvPr>
            <p:ph type="title"/>
          </p:nvPr>
        </p:nvSpPr>
        <p:spPr>
          <a:xfrm>
            <a:off x="1427018" y="-138550"/>
            <a:ext cx="8610600" cy="1293028"/>
          </a:xfrm>
        </p:spPr>
        <p:txBody>
          <a:bodyPr/>
          <a:lstStyle/>
          <a:p>
            <a:pPr algn="ctr"/>
            <a:r>
              <a:rPr lang="en-US" b="1" dirty="0">
                <a:solidFill>
                  <a:srgbClr val="FFC000"/>
                </a:solidFill>
              </a:rPr>
              <a:t>deep learning </a:t>
            </a:r>
            <a:r>
              <a:rPr lang="en-US" b="1" dirty="0">
                <a:solidFill>
                  <a:srgbClr val="00B0F0"/>
                </a:solidFill>
              </a:rPr>
              <a:t>tools</a:t>
            </a:r>
          </a:p>
        </p:txBody>
      </p:sp>
      <p:pic>
        <p:nvPicPr>
          <p:cNvPr id="5" name="Content Placeholder 4">
            <a:extLst>
              <a:ext uri="{FF2B5EF4-FFF2-40B4-BE49-F238E27FC236}">
                <a16:creationId xmlns:a16="http://schemas.microsoft.com/office/drawing/2014/main" id="{7F531A9C-EC08-48E7-9614-4EEEFC7BFA53}"/>
              </a:ext>
            </a:extLst>
          </p:cNvPr>
          <p:cNvPicPr>
            <a:picLocks noGrp="1" noChangeAspect="1"/>
          </p:cNvPicPr>
          <p:nvPr>
            <p:ph idx="1"/>
          </p:nvPr>
        </p:nvPicPr>
        <p:blipFill>
          <a:blip r:embed="rId2"/>
          <a:stretch>
            <a:fillRect/>
          </a:stretch>
        </p:blipFill>
        <p:spPr>
          <a:xfrm>
            <a:off x="1302328" y="1213179"/>
            <a:ext cx="9609542" cy="5449983"/>
          </a:xfrm>
          <a:prstGeom prst="rect">
            <a:avLst/>
          </a:prstGeom>
        </p:spPr>
      </p:pic>
    </p:spTree>
    <p:extLst>
      <p:ext uri="{BB962C8B-B14F-4D97-AF65-F5344CB8AC3E}">
        <p14:creationId xmlns:p14="http://schemas.microsoft.com/office/powerpoint/2010/main" val="33475552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2044262" y="-228854"/>
            <a:ext cx="8610600" cy="1293028"/>
          </a:xfrm>
        </p:spPr>
        <p:txBody>
          <a:bodyPr/>
          <a:lstStyle/>
          <a:p>
            <a:pPr algn="ctr"/>
            <a:r>
              <a:rPr lang="en-US" b="1" dirty="0">
                <a:solidFill>
                  <a:srgbClr val="FFC000"/>
                </a:solidFill>
              </a:rPr>
              <a:t>What is Deep?</a:t>
            </a:r>
          </a:p>
        </p:txBody>
      </p:sp>
      <p:sp>
        <p:nvSpPr>
          <p:cNvPr id="3" name="Content Placeholder 2"/>
          <p:cNvSpPr>
            <a:spLocks noGrp="1"/>
          </p:cNvSpPr>
          <p:nvPr>
            <p:ph idx="1"/>
          </p:nvPr>
        </p:nvSpPr>
        <p:spPr>
          <a:xfrm>
            <a:off x="180961" y="1064174"/>
            <a:ext cx="11506200" cy="4303176"/>
          </a:xfrm>
        </p:spPr>
        <p:txBody>
          <a:bodyPr>
            <a:noAutofit/>
          </a:bodyPr>
          <a:lstStyle/>
          <a:p>
            <a:pPr algn="just"/>
            <a:r>
              <a:rPr lang="en-US" sz="2800" dirty="0"/>
              <a:t>The adjective "deep" in deep learning refers to the use of multiple layers in the network. Early work showed that a linear perceptron cannot be a universal classifier, and then that a network with a </a:t>
            </a:r>
            <a:r>
              <a:rPr lang="en-US" sz="2800" dirty="0" err="1"/>
              <a:t>nonpolynomial</a:t>
            </a:r>
            <a:r>
              <a:rPr lang="en-US" sz="2800" dirty="0"/>
              <a:t> activation function with one hidden layer of unbounded width can on the other hand so be. </a:t>
            </a:r>
          </a:p>
          <a:p>
            <a:pPr algn="just"/>
            <a:endParaRPr lang="en-US" sz="1100" dirty="0"/>
          </a:p>
          <a:p>
            <a:pPr algn="just"/>
            <a:r>
              <a:rPr lang="en-US" sz="2800" dirty="0"/>
              <a:t>Deep learning is a modern variation which is concerned with an unbounded number of layers of bounded size, which permits practical application and optimized implementation, while retaining theoretical universality under mild conditions. </a:t>
            </a:r>
          </a:p>
          <a:p>
            <a:pPr algn="just"/>
            <a:endParaRPr lang="en-US" sz="1400" dirty="0"/>
          </a:p>
          <a:p>
            <a:pPr algn="just"/>
            <a:r>
              <a:rPr lang="en-US" sz="2800" dirty="0"/>
              <a:t>In deep learning the layers are also permitted to be heterogeneous and to deviate widely from biologically informed connectionist models, for the sake of efficiency, trainability and understandability, whence the "structured" part.</a:t>
            </a:r>
          </a:p>
          <a:p>
            <a:pPr algn="just"/>
            <a:endParaRPr lang="en-US" sz="2800" dirty="0"/>
          </a:p>
        </p:txBody>
      </p:sp>
    </p:spTree>
    <p:extLst>
      <p:ext uri="{BB962C8B-B14F-4D97-AF65-F5344CB8AC3E}">
        <p14:creationId xmlns:p14="http://schemas.microsoft.com/office/powerpoint/2010/main" val="29169185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70387" y="-252248"/>
            <a:ext cx="8610600" cy="1293028"/>
          </a:xfrm>
        </p:spPr>
        <p:txBody>
          <a:bodyPr>
            <a:normAutofit/>
          </a:bodyPr>
          <a:lstStyle/>
          <a:p>
            <a:pPr algn="ctr"/>
            <a:r>
              <a:rPr lang="en-US" altLang="en-US" sz="4800" b="1" cap="none" dirty="0">
                <a:solidFill>
                  <a:srgbClr val="FFC000"/>
                </a:solidFill>
                <a:ea typeface="Calibri" panose="020F0502020204030204" pitchFamily="34" charset="0"/>
              </a:rPr>
              <a:t>Deep Learning </a:t>
            </a:r>
            <a:r>
              <a:rPr lang="en-US" altLang="en-US" sz="4800" b="1" cap="none" dirty="0">
                <a:solidFill>
                  <a:srgbClr val="00B0F0"/>
                </a:solidFill>
                <a:ea typeface="Calibri" panose="020F0502020204030204" pitchFamily="34" charset="0"/>
              </a:rPr>
              <a:t>Applications</a:t>
            </a:r>
            <a:endParaRPr lang="en-US" sz="4800" dirty="0">
              <a:solidFill>
                <a:srgbClr val="00B0F0"/>
              </a:solidFill>
            </a:endParaRPr>
          </a:p>
        </p:txBody>
      </p:sp>
      <p:sp>
        <p:nvSpPr>
          <p:cNvPr id="3" name="Content Placeholder 2"/>
          <p:cNvSpPr>
            <a:spLocks noGrp="1"/>
          </p:cNvSpPr>
          <p:nvPr>
            <p:ph idx="1"/>
          </p:nvPr>
        </p:nvSpPr>
        <p:spPr>
          <a:xfrm>
            <a:off x="331076" y="1040780"/>
            <a:ext cx="11366938" cy="5533697"/>
          </a:xfrm>
        </p:spPr>
        <p:txBody>
          <a:bodyPr>
            <a:noAutofit/>
          </a:bodyPr>
          <a:lstStyle/>
          <a:p>
            <a:r>
              <a:rPr lang="en-US" sz="2000" dirty="0"/>
              <a:t>Deep-learning architectures such as </a:t>
            </a:r>
            <a:r>
              <a:rPr lang="en-US" sz="2000" b="1" dirty="0">
                <a:solidFill>
                  <a:srgbClr val="00B0F0"/>
                </a:solidFill>
              </a:rPr>
              <a:t>deep neural networks</a:t>
            </a:r>
            <a:r>
              <a:rPr lang="en-US" sz="2000" dirty="0"/>
              <a:t>, deep belief networks, recurrent neural networks and convolutional neural networks have been applied to fields including :</a:t>
            </a:r>
          </a:p>
          <a:p>
            <a:pPr marL="520700" indent="-284163">
              <a:buFont typeface="Wingdings" panose="05000000000000000000" pitchFamily="2" charset="2"/>
              <a:buChar char="Ø"/>
            </a:pPr>
            <a:r>
              <a:rPr lang="en-US" sz="2000" dirty="0"/>
              <a:t>computer vision, </a:t>
            </a:r>
          </a:p>
          <a:p>
            <a:pPr marL="520700" indent="-284163">
              <a:buFont typeface="Wingdings" panose="05000000000000000000" pitchFamily="2" charset="2"/>
              <a:buChar char="Ø"/>
            </a:pPr>
            <a:r>
              <a:rPr lang="en-US" sz="2000" dirty="0"/>
              <a:t>machine vision, </a:t>
            </a:r>
          </a:p>
          <a:p>
            <a:pPr marL="520700" indent="-284163">
              <a:buFont typeface="Wingdings" panose="05000000000000000000" pitchFamily="2" charset="2"/>
              <a:buChar char="Ø"/>
            </a:pPr>
            <a:r>
              <a:rPr lang="en-US" sz="2000" dirty="0"/>
              <a:t>speech recognition, </a:t>
            </a:r>
          </a:p>
          <a:p>
            <a:pPr marL="520700" indent="-284163">
              <a:buFont typeface="Wingdings" panose="05000000000000000000" pitchFamily="2" charset="2"/>
              <a:buChar char="Ø"/>
            </a:pPr>
            <a:r>
              <a:rPr lang="en-US" sz="2000" dirty="0"/>
              <a:t>natural language processing, </a:t>
            </a:r>
          </a:p>
          <a:p>
            <a:pPr marL="520700" indent="-284163">
              <a:buFont typeface="Wingdings" panose="05000000000000000000" pitchFamily="2" charset="2"/>
              <a:buChar char="Ø"/>
            </a:pPr>
            <a:r>
              <a:rPr lang="en-US" sz="2000" dirty="0"/>
              <a:t>audio recognition, </a:t>
            </a:r>
          </a:p>
          <a:p>
            <a:pPr marL="520700" indent="-284163">
              <a:buFont typeface="Wingdings" panose="05000000000000000000" pitchFamily="2" charset="2"/>
              <a:buChar char="Ø"/>
            </a:pPr>
            <a:r>
              <a:rPr lang="en-US" sz="2000" dirty="0"/>
              <a:t>social network filtering, </a:t>
            </a:r>
          </a:p>
          <a:p>
            <a:pPr marL="520700" indent="-284163">
              <a:buFont typeface="Wingdings" panose="05000000000000000000" pitchFamily="2" charset="2"/>
              <a:buChar char="Ø"/>
            </a:pPr>
            <a:r>
              <a:rPr lang="en-US" sz="2000" dirty="0"/>
              <a:t>machine translation, </a:t>
            </a:r>
          </a:p>
          <a:p>
            <a:pPr marL="520700" indent="-284163">
              <a:buFont typeface="Wingdings" panose="05000000000000000000" pitchFamily="2" charset="2"/>
              <a:buChar char="Ø"/>
            </a:pPr>
            <a:r>
              <a:rPr lang="en-US" sz="2000" dirty="0"/>
              <a:t>bioinformatics, </a:t>
            </a:r>
          </a:p>
          <a:p>
            <a:pPr marL="520700" indent="-284163">
              <a:buFont typeface="Wingdings" panose="05000000000000000000" pitchFamily="2" charset="2"/>
              <a:buChar char="Ø"/>
            </a:pPr>
            <a:r>
              <a:rPr lang="en-US" sz="2000" dirty="0"/>
              <a:t>drug design, </a:t>
            </a:r>
          </a:p>
          <a:p>
            <a:pPr marL="520700" indent="-284163">
              <a:buFont typeface="Wingdings" panose="05000000000000000000" pitchFamily="2" charset="2"/>
              <a:buChar char="Ø"/>
            </a:pPr>
            <a:r>
              <a:rPr lang="en-US" sz="2000" dirty="0"/>
              <a:t>medical image analysis, </a:t>
            </a:r>
          </a:p>
          <a:p>
            <a:pPr marL="520700" indent="-284163">
              <a:buFont typeface="Wingdings" panose="05000000000000000000" pitchFamily="2" charset="2"/>
              <a:buChar char="Ø"/>
            </a:pPr>
            <a:r>
              <a:rPr lang="en-US" sz="2000" dirty="0"/>
              <a:t>material inspection and board game programs, </a:t>
            </a:r>
          </a:p>
          <a:p>
            <a:pPr marL="0" indent="0">
              <a:buNone/>
            </a:pPr>
            <a:r>
              <a:rPr lang="en-US" sz="2000" dirty="0"/>
              <a:t>     </a:t>
            </a:r>
            <a:r>
              <a:rPr lang="en-US" sz="1800" b="1" u="sng" dirty="0">
                <a:solidFill>
                  <a:srgbClr val="00B0F0"/>
                </a:solidFill>
              </a:rPr>
              <a:t>where they have produced results comparable to and in some cases surpassing human expert performance</a:t>
            </a:r>
            <a:r>
              <a:rPr lang="en-US" sz="2000" dirty="0"/>
              <a:t>.</a:t>
            </a:r>
          </a:p>
          <a:p>
            <a:endParaRPr lang="en-US" sz="2000" dirty="0"/>
          </a:p>
        </p:txBody>
      </p:sp>
    </p:spTree>
    <p:extLst>
      <p:ext uri="{BB962C8B-B14F-4D97-AF65-F5344CB8AC3E}">
        <p14:creationId xmlns:p14="http://schemas.microsoft.com/office/powerpoint/2010/main" val="3297268271"/>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Vapor Trail</Template>
  <TotalTime>6665</TotalTime>
  <Words>2967</Words>
  <Application>Microsoft Office PowerPoint</Application>
  <PresentationFormat>Widescreen</PresentationFormat>
  <Paragraphs>322</Paragraphs>
  <Slides>35</Slides>
  <Notes>3</Notes>
  <HiddenSlides>5</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35</vt:i4>
      </vt:variant>
    </vt:vector>
  </HeadingPairs>
  <TitlesOfParts>
    <vt:vector size="45" baseType="lpstr">
      <vt:lpstr>Arial</vt:lpstr>
      <vt:lpstr>Calibri</vt:lpstr>
      <vt:lpstr>Cambria Math</vt:lpstr>
      <vt:lpstr>Century Gothic</vt:lpstr>
      <vt:lpstr>CMMI10</vt:lpstr>
      <vt:lpstr>Symbol</vt:lpstr>
      <vt:lpstr>Tahoma</vt:lpstr>
      <vt:lpstr>Times New Roman</vt:lpstr>
      <vt:lpstr>Wingdings</vt:lpstr>
      <vt:lpstr>Vapor Trail</vt:lpstr>
      <vt:lpstr>Lecture 5 </vt:lpstr>
      <vt:lpstr>Contents</vt:lpstr>
      <vt:lpstr>5.1 INTRODUCTION</vt:lpstr>
      <vt:lpstr>Ai &amp; Learning</vt:lpstr>
      <vt:lpstr>Factors Affecting Learning</vt:lpstr>
      <vt:lpstr>Forms of Learning </vt:lpstr>
      <vt:lpstr>Components To Be Learned</vt:lpstr>
      <vt:lpstr> 5.2 Machine Learning (Feedback To Learn From ) </vt:lpstr>
      <vt:lpstr>Most Popular m/c learning Tools  visit:   Machine Learning Software Tools In 2024.docx</vt:lpstr>
      <vt:lpstr>Machine Learning Real Examples </vt:lpstr>
      <vt:lpstr>Machine Learning Workflow</vt:lpstr>
      <vt:lpstr>Machine Learning Tasks</vt:lpstr>
      <vt:lpstr>5.3 Learning Decision Trees (Boolean Classification Technique) </vt:lpstr>
      <vt:lpstr>Decision Tree example 1</vt:lpstr>
      <vt:lpstr>PowerPoint Presentation</vt:lpstr>
      <vt:lpstr>Decision Trees Example 2</vt:lpstr>
      <vt:lpstr>Attribute-based representations</vt:lpstr>
      <vt:lpstr>Decision trees</vt:lpstr>
      <vt:lpstr>Decision Trees Example 3</vt:lpstr>
      <vt:lpstr>So, you calculate all these factors for the last ten days and form A lookup table like the one shown.</vt:lpstr>
      <vt:lpstr>PowerPoint Presentation</vt:lpstr>
      <vt:lpstr>Decision Trees Practical Applications </vt:lpstr>
      <vt:lpstr>5.4 Artificial Neural Networks (ANN) </vt:lpstr>
      <vt:lpstr>The basic unit: Neuron</vt:lpstr>
      <vt:lpstr>5.4.2 Single-layer feed-forward neural networks (perceptrons)</vt:lpstr>
      <vt:lpstr> 5.4.3 Multilayer feed-forward neural networks Multi-layer Perceptron (MLP) Networks.</vt:lpstr>
      <vt:lpstr> 5.4.4 Learning in multilayer networks using the Backpropagation Algorithm</vt:lpstr>
      <vt:lpstr>Most Popular Neural Networks Algorithms</vt:lpstr>
      <vt:lpstr>5.5 Support Vector Machines (SVM)</vt:lpstr>
      <vt:lpstr>Support Vector Machines (SVM) Fundamentals</vt:lpstr>
      <vt:lpstr>5.6 Deep Learning (Neural Networks Based) </vt:lpstr>
      <vt:lpstr>PowerPoint Presentation</vt:lpstr>
      <vt:lpstr>deep learning tools</vt:lpstr>
      <vt:lpstr>What is Deep?</vt:lpstr>
      <vt:lpstr>Deep Learning Applications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5 </dc:title>
  <dc:creator>MacBook</dc:creator>
  <cp:lastModifiedBy>drheldeeb</cp:lastModifiedBy>
  <cp:revision>335</cp:revision>
  <dcterms:created xsi:type="dcterms:W3CDTF">2021-05-08T09:32:24Z</dcterms:created>
  <dcterms:modified xsi:type="dcterms:W3CDTF">2024-05-11T08:26:00Z</dcterms:modified>
</cp:coreProperties>
</file>